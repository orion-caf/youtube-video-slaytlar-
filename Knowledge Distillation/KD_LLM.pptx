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9144000" cy="5149850"/>
  <p:notesSz cx="9144000" cy="5149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6453"/>
            <a:ext cx="7772400" cy="10814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CAD4E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10" dirty="0"/>
              <a:t>Knowledge</a:t>
            </a:r>
            <a:r>
              <a:rPr dirty="0"/>
              <a:t> </a:t>
            </a:r>
            <a:r>
              <a:rPr spc="-10" dirty="0"/>
              <a:t>Distillation</a:t>
            </a:r>
            <a:r>
              <a:rPr spc="-5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LLMs</a:t>
            </a:r>
            <a:r>
              <a:rPr spc="170" dirty="0"/>
              <a:t> </a:t>
            </a:r>
            <a:r>
              <a:rPr dirty="0"/>
              <a:t>|</a:t>
            </a:r>
            <a:r>
              <a:rPr spc="180" dirty="0"/>
              <a:t> </a:t>
            </a:r>
            <a:r>
              <a:rPr spc="-10" dirty="0"/>
              <a:t>Manisa</a:t>
            </a:r>
            <a:r>
              <a:rPr spc="-5" dirty="0"/>
              <a:t> </a:t>
            </a:r>
            <a:r>
              <a:rPr dirty="0"/>
              <a:t>Celal </a:t>
            </a:r>
            <a:r>
              <a:rPr spc="-10" dirty="0"/>
              <a:t>Bayar</a:t>
            </a:r>
            <a:r>
              <a:rPr spc="-5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C1C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18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CAD4E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10" dirty="0"/>
              <a:t>Knowledge</a:t>
            </a:r>
            <a:r>
              <a:rPr dirty="0"/>
              <a:t> </a:t>
            </a:r>
            <a:r>
              <a:rPr spc="-10" dirty="0"/>
              <a:t>Distillation</a:t>
            </a:r>
            <a:r>
              <a:rPr spc="-5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LLMs</a:t>
            </a:r>
            <a:r>
              <a:rPr spc="170" dirty="0"/>
              <a:t> </a:t>
            </a:r>
            <a:r>
              <a:rPr dirty="0"/>
              <a:t>|</a:t>
            </a:r>
            <a:r>
              <a:rPr spc="180" dirty="0"/>
              <a:t> </a:t>
            </a:r>
            <a:r>
              <a:rPr spc="-10" dirty="0"/>
              <a:t>Manisa</a:t>
            </a:r>
            <a:r>
              <a:rPr spc="-5" dirty="0"/>
              <a:t> </a:t>
            </a:r>
            <a:r>
              <a:rPr dirty="0"/>
              <a:t>Celal </a:t>
            </a:r>
            <a:r>
              <a:rPr spc="-10" dirty="0"/>
              <a:t>Bayar</a:t>
            </a:r>
            <a:r>
              <a:rPr spc="-5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C1C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18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CAD4E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10" dirty="0"/>
              <a:t>Knowledge</a:t>
            </a:r>
            <a:r>
              <a:rPr dirty="0"/>
              <a:t> </a:t>
            </a:r>
            <a:r>
              <a:rPr spc="-10" dirty="0"/>
              <a:t>Distillation</a:t>
            </a:r>
            <a:r>
              <a:rPr spc="-5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LLMs</a:t>
            </a:r>
            <a:r>
              <a:rPr spc="170" dirty="0"/>
              <a:t> </a:t>
            </a:r>
            <a:r>
              <a:rPr dirty="0"/>
              <a:t>|</a:t>
            </a:r>
            <a:r>
              <a:rPr spc="180" dirty="0"/>
              <a:t> </a:t>
            </a:r>
            <a:r>
              <a:rPr spc="-10" dirty="0"/>
              <a:t>Manisa</a:t>
            </a:r>
            <a:r>
              <a:rPr spc="-5" dirty="0"/>
              <a:t> </a:t>
            </a:r>
            <a:r>
              <a:rPr dirty="0"/>
              <a:t>Celal </a:t>
            </a:r>
            <a:r>
              <a:rPr spc="-10" dirty="0"/>
              <a:t>Bayar</a:t>
            </a:r>
            <a:r>
              <a:rPr spc="-5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C1C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18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CAD4E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10" dirty="0"/>
              <a:t>Knowledge</a:t>
            </a:r>
            <a:r>
              <a:rPr dirty="0"/>
              <a:t> </a:t>
            </a:r>
            <a:r>
              <a:rPr spc="-10" dirty="0"/>
              <a:t>Distillation</a:t>
            </a:r>
            <a:r>
              <a:rPr spc="-5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LLMs</a:t>
            </a:r>
            <a:r>
              <a:rPr spc="170" dirty="0"/>
              <a:t> </a:t>
            </a:r>
            <a:r>
              <a:rPr dirty="0"/>
              <a:t>|</a:t>
            </a:r>
            <a:r>
              <a:rPr spc="180" dirty="0"/>
              <a:t> </a:t>
            </a:r>
            <a:r>
              <a:rPr spc="-10" dirty="0"/>
              <a:t>Manisa</a:t>
            </a:r>
            <a:r>
              <a:rPr spc="-5" dirty="0"/>
              <a:t> </a:t>
            </a:r>
            <a:r>
              <a:rPr dirty="0"/>
              <a:t>Celal </a:t>
            </a:r>
            <a:r>
              <a:rPr spc="-10" dirty="0"/>
              <a:t>Bayar</a:t>
            </a:r>
            <a:r>
              <a:rPr spc="-5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C1C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18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CAD4E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10" dirty="0"/>
              <a:t>Knowledge</a:t>
            </a:r>
            <a:r>
              <a:rPr dirty="0"/>
              <a:t> </a:t>
            </a:r>
            <a:r>
              <a:rPr spc="-10" dirty="0"/>
              <a:t>Distillation</a:t>
            </a:r>
            <a:r>
              <a:rPr spc="-5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LLMs</a:t>
            </a:r>
            <a:r>
              <a:rPr spc="170" dirty="0"/>
              <a:t> </a:t>
            </a:r>
            <a:r>
              <a:rPr dirty="0"/>
              <a:t>|</a:t>
            </a:r>
            <a:r>
              <a:rPr spc="180" dirty="0"/>
              <a:t> </a:t>
            </a:r>
            <a:r>
              <a:rPr spc="-10" dirty="0"/>
              <a:t>Manisa</a:t>
            </a:r>
            <a:r>
              <a:rPr spc="-5" dirty="0"/>
              <a:t> </a:t>
            </a:r>
            <a:r>
              <a:rPr dirty="0"/>
              <a:t>Celal </a:t>
            </a:r>
            <a:r>
              <a:rPr spc="-10" dirty="0"/>
              <a:t>Bayar</a:t>
            </a:r>
            <a:r>
              <a:rPr spc="-5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00C1C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18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EFF3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355" y="2"/>
            <a:ext cx="9144000" cy="658495"/>
          </a:xfrm>
          <a:custGeom>
            <a:avLst/>
            <a:gdLst/>
            <a:ahLst/>
            <a:cxnLst/>
            <a:rect l="l" t="t" r="r" b="b"/>
            <a:pathLst>
              <a:path w="9144000" h="658495">
                <a:moveTo>
                  <a:pt x="9143631" y="0"/>
                </a:moveTo>
                <a:lnTo>
                  <a:pt x="0" y="0"/>
                </a:lnTo>
                <a:lnTo>
                  <a:pt x="0" y="658075"/>
                </a:lnTo>
                <a:lnTo>
                  <a:pt x="4572000" y="658075"/>
                </a:lnTo>
                <a:lnTo>
                  <a:pt x="9143631" y="658075"/>
                </a:lnTo>
                <a:lnTo>
                  <a:pt x="9143631" y="0"/>
                </a:lnTo>
                <a:close/>
              </a:path>
            </a:pathLst>
          </a:custGeom>
          <a:solidFill>
            <a:srgbClr val="1A39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-355" y="2"/>
            <a:ext cx="9144000" cy="658495"/>
          </a:xfrm>
          <a:custGeom>
            <a:avLst/>
            <a:gdLst/>
            <a:ahLst/>
            <a:cxnLst/>
            <a:rect l="l" t="t" r="r" b="b"/>
            <a:pathLst>
              <a:path w="9144000" h="658495">
                <a:moveTo>
                  <a:pt x="4572000" y="658075"/>
                </a:moveTo>
                <a:lnTo>
                  <a:pt x="0" y="658075"/>
                </a:lnTo>
                <a:lnTo>
                  <a:pt x="0" y="0"/>
                </a:lnTo>
                <a:lnTo>
                  <a:pt x="9143631" y="0"/>
                </a:lnTo>
                <a:lnTo>
                  <a:pt x="9143631" y="658075"/>
                </a:lnTo>
                <a:lnTo>
                  <a:pt x="4572000" y="658075"/>
                </a:lnTo>
                <a:close/>
              </a:path>
            </a:pathLst>
          </a:custGeom>
          <a:ln w="12599">
            <a:solidFill>
              <a:srgbClr val="1A39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-355" y="658077"/>
            <a:ext cx="9144000" cy="50165"/>
          </a:xfrm>
          <a:custGeom>
            <a:avLst/>
            <a:gdLst/>
            <a:ahLst/>
            <a:cxnLst/>
            <a:rect l="l" t="t" r="r" b="b"/>
            <a:pathLst>
              <a:path w="9144000" h="50165">
                <a:moveTo>
                  <a:pt x="9143631" y="0"/>
                </a:moveTo>
                <a:lnTo>
                  <a:pt x="0" y="0"/>
                </a:lnTo>
                <a:lnTo>
                  <a:pt x="0" y="50037"/>
                </a:lnTo>
                <a:lnTo>
                  <a:pt x="4572000" y="50037"/>
                </a:lnTo>
                <a:lnTo>
                  <a:pt x="9143631" y="50037"/>
                </a:lnTo>
                <a:lnTo>
                  <a:pt x="9143631" y="0"/>
                </a:lnTo>
                <a:close/>
              </a:path>
            </a:pathLst>
          </a:custGeom>
          <a:solidFill>
            <a:srgbClr val="00C1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-355" y="658077"/>
            <a:ext cx="9144000" cy="50165"/>
          </a:xfrm>
          <a:custGeom>
            <a:avLst/>
            <a:gdLst/>
            <a:ahLst/>
            <a:cxnLst/>
            <a:rect l="l" t="t" r="r" b="b"/>
            <a:pathLst>
              <a:path w="9144000" h="50165">
                <a:moveTo>
                  <a:pt x="4572000" y="50037"/>
                </a:moveTo>
                <a:lnTo>
                  <a:pt x="0" y="50037"/>
                </a:lnTo>
                <a:lnTo>
                  <a:pt x="0" y="0"/>
                </a:lnTo>
                <a:lnTo>
                  <a:pt x="9143631" y="0"/>
                </a:lnTo>
                <a:lnTo>
                  <a:pt x="9143631" y="50037"/>
                </a:lnTo>
                <a:lnTo>
                  <a:pt x="4572000" y="50037"/>
                </a:lnTo>
                <a:close/>
              </a:path>
            </a:pathLst>
          </a:custGeom>
          <a:ln w="12599">
            <a:solidFill>
              <a:srgbClr val="00C1C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6984" y="163336"/>
            <a:ext cx="4622165" cy="4533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1200" y="789306"/>
            <a:ext cx="4340860" cy="1159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1264" y="4919112"/>
            <a:ext cx="2679065" cy="149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CAD4E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10" dirty="0"/>
              <a:t>Knowledge</a:t>
            </a:r>
            <a:r>
              <a:rPr dirty="0"/>
              <a:t> </a:t>
            </a:r>
            <a:r>
              <a:rPr spc="-10" dirty="0"/>
              <a:t>Distillation</a:t>
            </a:r>
            <a:r>
              <a:rPr spc="-5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LLMs</a:t>
            </a:r>
            <a:r>
              <a:rPr spc="170" dirty="0"/>
              <a:t> </a:t>
            </a:r>
            <a:r>
              <a:rPr dirty="0"/>
              <a:t>|</a:t>
            </a:r>
            <a:r>
              <a:rPr spc="180" dirty="0"/>
              <a:t> </a:t>
            </a:r>
            <a:r>
              <a:rPr spc="-10" dirty="0"/>
              <a:t>Manisa</a:t>
            </a:r>
            <a:r>
              <a:rPr spc="-5" dirty="0"/>
              <a:t> </a:t>
            </a:r>
            <a:r>
              <a:rPr dirty="0"/>
              <a:t>Celal </a:t>
            </a:r>
            <a:r>
              <a:rPr spc="-10" dirty="0"/>
              <a:t>Bayar</a:t>
            </a:r>
            <a:r>
              <a:rPr spc="-5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38540" y="4919112"/>
            <a:ext cx="342900" cy="149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00C1C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18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164465" cy="5144135"/>
          </a:xfrm>
          <a:custGeom>
            <a:avLst/>
            <a:gdLst/>
            <a:ahLst/>
            <a:cxnLst/>
            <a:rect l="l" t="t" r="r" b="b"/>
            <a:pathLst>
              <a:path w="164465" h="5144135">
                <a:moveTo>
                  <a:pt x="0" y="5143677"/>
                </a:moveTo>
                <a:lnTo>
                  <a:pt x="164160" y="5143677"/>
                </a:lnTo>
                <a:lnTo>
                  <a:pt x="164160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C1A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8516" y="2"/>
            <a:ext cx="8925560" cy="5144135"/>
          </a:xfrm>
          <a:custGeom>
            <a:avLst/>
            <a:gdLst/>
            <a:ahLst/>
            <a:cxnLst/>
            <a:rect l="l" t="t" r="r" b="b"/>
            <a:pathLst>
              <a:path w="8925560" h="5144135">
                <a:moveTo>
                  <a:pt x="0" y="5143677"/>
                </a:moveTo>
                <a:lnTo>
                  <a:pt x="8925483" y="5143677"/>
                </a:lnTo>
                <a:lnTo>
                  <a:pt x="8925483" y="0"/>
                </a:lnTo>
                <a:lnTo>
                  <a:pt x="0" y="0"/>
                </a:lnTo>
                <a:lnTo>
                  <a:pt x="0" y="5143677"/>
                </a:lnTo>
                <a:close/>
              </a:path>
            </a:pathLst>
          </a:custGeom>
          <a:solidFill>
            <a:srgbClr val="0C1A2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-6705" y="-6703"/>
            <a:ext cx="9156700" cy="5156200"/>
            <a:chOff x="-6705" y="-6703"/>
            <a:chExt cx="9156700" cy="5156200"/>
          </a:xfrm>
        </p:grpSpPr>
        <p:sp>
          <p:nvSpPr>
            <p:cNvPr id="5" name="object 5"/>
            <p:cNvSpPr/>
            <p:nvPr/>
          </p:nvSpPr>
          <p:spPr>
            <a:xfrm>
              <a:off x="0" y="-353"/>
              <a:ext cx="164465" cy="5143500"/>
            </a:xfrm>
            <a:custGeom>
              <a:avLst/>
              <a:gdLst/>
              <a:ahLst/>
              <a:cxnLst/>
              <a:rect l="l" t="t" r="r" b="b"/>
              <a:pathLst>
                <a:path w="164465" h="5143500">
                  <a:moveTo>
                    <a:pt x="164160" y="0"/>
                  </a:moveTo>
                  <a:lnTo>
                    <a:pt x="0" y="0"/>
                  </a:lnTo>
                  <a:lnTo>
                    <a:pt x="0" y="5143309"/>
                  </a:lnTo>
                  <a:lnTo>
                    <a:pt x="82080" y="5143309"/>
                  </a:lnTo>
                  <a:lnTo>
                    <a:pt x="164160" y="5143309"/>
                  </a:lnTo>
                  <a:lnTo>
                    <a:pt x="164160" y="0"/>
                  </a:lnTo>
                  <a:close/>
                </a:path>
              </a:pathLst>
            </a:custGeom>
            <a:solidFill>
              <a:srgbClr val="00C1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-353"/>
              <a:ext cx="164465" cy="5143500"/>
            </a:xfrm>
            <a:custGeom>
              <a:avLst/>
              <a:gdLst/>
              <a:ahLst/>
              <a:cxnLst/>
              <a:rect l="l" t="t" r="r" b="b"/>
              <a:pathLst>
                <a:path w="164465" h="5143500">
                  <a:moveTo>
                    <a:pt x="82080" y="5143309"/>
                  </a:moveTo>
                  <a:lnTo>
                    <a:pt x="0" y="5143309"/>
                  </a:lnTo>
                  <a:lnTo>
                    <a:pt x="0" y="0"/>
                  </a:lnTo>
                  <a:lnTo>
                    <a:pt x="164160" y="0"/>
                  </a:lnTo>
                  <a:lnTo>
                    <a:pt x="164160" y="5143309"/>
                  </a:lnTo>
                  <a:lnTo>
                    <a:pt x="82080" y="5143309"/>
                  </a:lnTo>
                  <a:close/>
                </a:path>
              </a:pathLst>
            </a:custGeom>
            <a:ln w="12599">
              <a:solidFill>
                <a:srgbClr val="00C1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4160" y="-353"/>
              <a:ext cx="54610" cy="5143500"/>
            </a:xfrm>
            <a:custGeom>
              <a:avLst/>
              <a:gdLst/>
              <a:ahLst/>
              <a:cxnLst/>
              <a:rect l="l" t="t" r="r" b="b"/>
              <a:pathLst>
                <a:path w="54610" h="5143500">
                  <a:moveTo>
                    <a:pt x="54355" y="0"/>
                  </a:moveTo>
                  <a:lnTo>
                    <a:pt x="0" y="0"/>
                  </a:lnTo>
                  <a:lnTo>
                    <a:pt x="0" y="5143309"/>
                  </a:lnTo>
                  <a:lnTo>
                    <a:pt x="27355" y="5143309"/>
                  </a:lnTo>
                  <a:lnTo>
                    <a:pt x="54355" y="5143309"/>
                  </a:lnTo>
                  <a:lnTo>
                    <a:pt x="54355" y="0"/>
                  </a:lnTo>
                  <a:close/>
                </a:path>
              </a:pathLst>
            </a:custGeom>
            <a:solidFill>
              <a:srgbClr val="F3A1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4160" y="-353"/>
              <a:ext cx="54610" cy="5143500"/>
            </a:xfrm>
            <a:custGeom>
              <a:avLst/>
              <a:gdLst/>
              <a:ahLst/>
              <a:cxnLst/>
              <a:rect l="l" t="t" r="r" b="b"/>
              <a:pathLst>
                <a:path w="54610" h="5143500">
                  <a:moveTo>
                    <a:pt x="27355" y="5143309"/>
                  </a:moveTo>
                  <a:lnTo>
                    <a:pt x="0" y="5143309"/>
                  </a:lnTo>
                  <a:lnTo>
                    <a:pt x="0" y="0"/>
                  </a:lnTo>
                  <a:lnTo>
                    <a:pt x="54355" y="0"/>
                  </a:lnTo>
                  <a:lnTo>
                    <a:pt x="54355" y="5143309"/>
                  </a:lnTo>
                  <a:lnTo>
                    <a:pt x="27355" y="5143309"/>
                  </a:lnTo>
                  <a:close/>
                </a:path>
              </a:pathLst>
            </a:custGeom>
            <a:ln w="12599">
              <a:solidFill>
                <a:srgbClr val="F3A1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-355" y="4114446"/>
              <a:ext cx="9144000" cy="1028700"/>
            </a:xfrm>
            <a:custGeom>
              <a:avLst/>
              <a:gdLst/>
              <a:ahLst/>
              <a:cxnLst/>
              <a:rect l="l" t="t" r="r" b="b"/>
              <a:pathLst>
                <a:path w="9144000" h="1028700">
                  <a:moveTo>
                    <a:pt x="9143631" y="0"/>
                  </a:moveTo>
                  <a:lnTo>
                    <a:pt x="0" y="0"/>
                  </a:lnTo>
                  <a:lnTo>
                    <a:pt x="0" y="1028509"/>
                  </a:lnTo>
                  <a:lnTo>
                    <a:pt x="4572000" y="1028509"/>
                  </a:lnTo>
                  <a:lnTo>
                    <a:pt x="9143631" y="1028509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1A39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-355" y="4114446"/>
              <a:ext cx="9144000" cy="1028700"/>
            </a:xfrm>
            <a:custGeom>
              <a:avLst/>
              <a:gdLst/>
              <a:ahLst/>
              <a:cxnLst/>
              <a:rect l="l" t="t" r="r" b="b"/>
              <a:pathLst>
                <a:path w="9144000" h="1028700">
                  <a:moveTo>
                    <a:pt x="4572000" y="1028509"/>
                  </a:moveTo>
                  <a:lnTo>
                    <a:pt x="0" y="1028509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1028509"/>
                  </a:lnTo>
                  <a:lnTo>
                    <a:pt x="4572000" y="1028509"/>
                  </a:lnTo>
                  <a:close/>
                </a:path>
              </a:pathLst>
            </a:custGeom>
            <a:ln w="12599">
              <a:solidFill>
                <a:srgbClr val="1A39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02919" y="2413802"/>
              <a:ext cx="7772400" cy="635"/>
            </a:xfrm>
            <a:custGeom>
              <a:avLst/>
              <a:gdLst/>
              <a:ahLst/>
              <a:cxnLst/>
              <a:rect l="l" t="t" r="r" b="b"/>
              <a:pathLst>
                <a:path w="7772400" h="635">
                  <a:moveTo>
                    <a:pt x="0" y="0"/>
                  </a:moveTo>
                  <a:lnTo>
                    <a:pt x="7772400" y="355"/>
                  </a:lnTo>
                </a:path>
              </a:pathLst>
            </a:custGeom>
            <a:ln w="12599">
              <a:solidFill>
                <a:srgbClr val="00C1C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2919" y="2971446"/>
              <a:ext cx="1508760" cy="274320"/>
            </a:xfrm>
            <a:custGeom>
              <a:avLst/>
              <a:gdLst/>
              <a:ahLst/>
              <a:cxnLst/>
              <a:rect l="l" t="t" r="r" b="b"/>
              <a:pathLst>
                <a:path w="1508760" h="274319">
                  <a:moveTo>
                    <a:pt x="1470596" y="0"/>
                  </a:moveTo>
                  <a:lnTo>
                    <a:pt x="37795" y="0"/>
                  </a:lnTo>
                  <a:lnTo>
                    <a:pt x="29883" y="2158"/>
                  </a:lnTo>
                  <a:lnTo>
                    <a:pt x="23037" y="6121"/>
                  </a:lnTo>
                  <a:lnTo>
                    <a:pt x="15836" y="10071"/>
                  </a:lnTo>
                  <a:lnTo>
                    <a:pt x="10083" y="15836"/>
                  </a:lnTo>
                  <a:lnTo>
                    <a:pt x="6121" y="22669"/>
                  </a:lnTo>
                  <a:lnTo>
                    <a:pt x="2159" y="29870"/>
                  </a:lnTo>
                  <a:lnTo>
                    <a:pt x="0" y="37795"/>
                  </a:lnTo>
                  <a:lnTo>
                    <a:pt x="0" y="236512"/>
                  </a:lnTo>
                  <a:lnTo>
                    <a:pt x="2062" y="244081"/>
                  </a:lnTo>
                  <a:lnTo>
                    <a:pt x="2159" y="244436"/>
                  </a:lnTo>
                  <a:lnTo>
                    <a:pt x="6121" y="251269"/>
                  </a:lnTo>
                  <a:lnTo>
                    <a:pt x="10083" y="258470"/>
                  </a:lnTo>
                  <a:lnTo>
                    <a:pt x="15836" y="264236"/>
                  </a:lnTo>
                  <a:lnTo>
                    <a:pt x="22682" y="268198"/>
                  </a:lnTo>
                  <a:lnTo>
                    <a:pt x="29883" y="272161"/>
                  </a:lnTo>
                  <a:lnTo>
                    <a:pt x="37795" y="274319"/>
                  </a:lnTo>
                  <a:lnTo>
                    <a:pt x="1470964" y="273951"/>
                  </a:lnTo>
                  <a:lnTo>
                    <a:pt x="1478876" y="271792"/>
                  </a:lnTo>
                  <a:lnTo>
                    <a:pt x="1485722" y="267830"/>
                  </a:lnTo>
                  <a:lnTo>
                    <a:pt x="1492923" y="263880"/>
                  </a:lnTo>
                  <a:lnTo>
                    <a:pt x="1508760" y="228231"/>
                  </a:lnTo>
                  <a:lnTo>
                    <a:pt x="1508404" y="45719"/>
                  </a:lnTo>
                  <a:lnTo>
                    <a:pt x="1508404" y="37795"/>
                  </a:lnTo>
                  <a:lnTo>
                    <a:pt x="1506245" y="29870"/>
                  </a:lnTo>
                  <a:lnTo>
                    <a:pt x="1502283" y="23037"/>
                  </a:lnTo>
                  <a:lnTo>
                    <a:pt x="1498320" y="15836"/>
                  </a:lnTo>
                  <a:lnTo>
                    <a:pt x="1492554" y="10071"/>
                  </a:lnTo>
                  <a:lnTo>
                    <a:pt x="1485722" y="6121"/>
                  </a:lnTo>
                  <a:lnTo>
                    <a:pt x="1478521" y="2158"/>
                  </a:lnTo>
                  <a:lnTo>
                    <a:pt x="1470596" y="0"/>
                  </a:lnTo>
                  <a:close/>
                </a:path>
              </a:pathLst>
            </a:custGeom>
            <a:solidFill>
              <a:srgbClr val="1D5E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2919" y="2971446"/>
              <a:ext cx="1508760" cy="274320"/>
            </a:xfrm>
            <a:custGeom>
              <a:avLst/>
              <a:gdLst/>
              <a:ahLst/>
              <a:cxnLst/>
              <a:rect l="l" t="t" r="r" b="b"/>
              <a:pathLst>
                <a:path w="1508760" h="274319">
                  <a:moveTo>
                    <a:pt x="0" y="45719"/>
                  </a:moveTo>
                  <a:lnTo>
                    <a:pt x="0" y="37795"/>
                  </a:lnTo>
                  <a:lnTo>
                    <a:pt x="2159" y="29870"/>
                  </a:lnTo>
                  <a:lnTo>
                    <a:pt x="6121" y="22669"/>
                  </a:lnTo>
                  <a:lnTo>
                    <a:pt x="10083" y="15836"/>
                  </a:lnTo>
                  <a:lnTo>
                    <a:pt x="15836" y="10071"/>
                  </a:lnTo>
                  <a:lnTo>
                    <a:pt x="23037" y="6121"/>
                  </a:lnTo>
                  <a:lnTo>
                    <a:pt x="29883" y="2158"/>
                  </a:lnTo>
                  <a:lnTo>
                    <a:pt x="37795" y="0"/>
                  </a:lnTo>
                  <a:lnTo>
                    <a:pt x="45720" y="0"/>
                  </a:lnTo>
                  <a:lnTo>
                    <a:pt x="1462684" y="0"/>
                  </a:lnTo>
                  <a:lnTo>
                    <a:pt x="1470596" y="0"/>
                  </a:lnTo>
                  <a:lnTo>
                    <a:pt x="1478521" y="2158"/>
                  </a:lnTo>
                  <a:lnTo>
                    <a:pt x="1485722" y="6121"/>
                  </a:lnTo>
                  <a:lnTo>
                    <a:pt x="1492554" y="10071"/>
                  </a:lnTo>
                  <a:lnTo>
                    <a:pt x="1498320" y="15836"/>
                  </a:lnTo>
                  <a:lnTo>
                    <a:pt x="1502283" y="23037"/>
                  </a:lnTo>
                  <a:lnTo>
                    <a:pt x="1506245" y="29870"/>
                  </a:lnTo>
                  <a:lnTo>
                    <a:pt x="1508404" y="37795"/>
                  </a:lnTo>
                  <a:lnTo>
                    <a:pt x="1508404" y="45719"/>
                  </a:lnTo>
                  <a:lnTo>
                    <a:pt x="1508760" y="228231"/>
                  </a:lnTo>
                  <a:lnTo>
                    <a:pt x="1508760" y="236156"/>
                  </a:lnTo>
                  <a:lnTo>
                    <a:pt x="1506601" y="244081"/>
                  </a:lnTo>
                  <a:lnTo>
                    <a:pt x="1502638" y="251269"/>
                  </a:lnTo>
                  <a:lnTo>
                    <a:pt x="1498676" y="258114"/>
                  </a:lnTo>
                  <a:lnTo>
                    <a:pt x="1492923" y="263880"/>
                  </a:lnTo>
                  <a:lnTo>
                    <a:pt x="1485722" y="267830"/>
                  </a:lnTo>
                  <a:lnTo>
                    <a:pt x="1478876" y="271792"/>
                  </a:lnTo>
                  <a:lnTo>
                    <a:pt x="1470964" y="273951"/>
                  </a:lnTo>
                  <a:lnTo>
                    <a:pt x="1463040" y="273951"/>
                  </a:lnTo>
                  <a:lnTo>
                    <a:pt x="45720" y="274319"/>
                  </a:lnTo>
                  <a:lnTo>
                    <a:pt x="37795" y="274319"/>
                  </a:lnTo>
                  <a:lnTo>
                    <a:pt x="29883" y="272161"/>
                  </a:lnTo>
                  <a:lnTo>
                    <a:pt x="22682" y="268198"/>
                  </a:lnTo>
                  <a:lnTo>
                    <a:pt x="15836" y="264236"/>
                  </a:lnTo>
                  <a:lnTo>
                    <a:pt x="10083" y="258470"/>
                  </a:lnTo>
                  <a:lnTo>
                    <a:pt x="6121" y="251269"/>
                  </a:lnTo>
                  <a:lnTo>
                    <a:pt x="2159" y="244436"/>
                  </a:lnTo>
                  <a:lnTo>
                    <a:pt x="0" y="236512"/>
                  </a:lnTo>
                  <a:lnTo>
                    <a:pt x="0" y="228600"/>
                  </a:lnTo>
                  <a:lnTo>
                    <a:pt x="0" y="45719"/>
                  </a:lnTo>
                  <a:close/>
                </a:path>
              </a:pathLst>
            </a:custGeom>
            <a:ln w="8999">
              <a:solidFill>
                <a:srgbClr val="00C1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489864" y="544783"/>
            <a:ext cx="4841875" cy="1150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3000"/>
              </a:lnSpc>
              <a:spcBef>
                <a:spcPts val="100"/>
              </a:spcBef>
            </a:pPr>
            <a:r>
              <a:rPr sz="3000" spc="160" dirty="0"/>
              <a:t>KNOWLEDGE</a:t>
            </a:r>
            <a:r>
              <a:rPr sz="3000" spc="415" dirty="0"/>
              <a:t> </a:t>
            </a:r>
            <a:r>
              <a:rPr sz="3000" spc="140" dirty="0"/>
              <a:t>DISTILLATION </a:t>
            </a:r>
            <a:r>
              <a:rPr sz="3000" spc="160" dirty="0">
                <a:solidFill>
                  <a:srgbClr val="00C1CA"/>
                </a:solidFill>
              </a:rPr>
              <a:t>TECHNIQUES</a:t>
            </a:r>
            <a:r>
              <a:rPr sz="3000" spc="395" dirty="0">
                <a:solidFill>
                  <a:srgbClr val="00C1CA"/>
                </a:solidFill>
              </a:rPr>
              <a:t> </a:t>
            </a:r>
            <a:r>
              <a:rPr sz="3000" spc="125" dirty="0">
                <a:solidFill>
                  <a:srgbClr val="00C1CA"/>
                </a:solidFill>
              </a:rPr>
              <a:t>FOR</a:t>
            </a:r>
            <a:r>
              <a:rPr sz="3000" spc="390" dirty="0">
                <a:solidFill>
                  <a:srgbClr val="00C1CA"/>
                </a:solidFill>
              </a:rPr>
              <a:t> </a:t>
            </a:r>
            <a:r>
              <a:rPr sz="3000" spc="114" dirty="0">
                <a:solidFill>
                  <a:srgbClr val="00C1CA"/>
                </a:solidFill>
              </a:rPr>
              <a:t>LLMs</a:t>
            </a:r>
            <a:endParaRPr sz="3000"/>
          </a:p>
        </p:txBody>
      </p:sp>
      <p:sp>
        <p:nvSpPr>
          <p:cNvPr id="15" name="object 15"/>
          <p:cNvSpPr txBox="1"/>
          <p:nvPr/>
        </p:nvSpPr>
        <p:spPr>
          <a:xfrm>
            <a:off x="489864" y="1975931"/>
            <a:ext cx="58883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45" dirty="0">
                <a:solidFill>
                  <a:srgbClr val="CAD4E0"/>
                </a:solidFill>
                <a:latin typeface="Arial"/>
                <a:cs typeface="Arial"/>
              </a:rPr>
              <a:t>Maximizing</a:t>
            </a:r>
            <a:r>
              <a:rPr sz="1200" i="1" spc="-35" dirty="0">
                <a:solidFill>
                  <a:srgbClr val="CAD4E0"/>
                </a:solidFill>
                <a:latin typeface="Arial"/>
                <a:cs typeface="Arial"/>
              </a:rPr>
              <a:t> </a:t>
            </a:r>
            <a:r>
              <a:rPr sz="1200" i="1" spc="-60" dirty="0">
                <a:solidFill>
                  <a:srgbClr val="CAD4E0"/>
                </a:solidFill>
                <a:latin typeface="Arial"/>
                <a:cs typeface="Arial"/>
              </a:rPr>
              <a:t>Student</a:t>
            </a:r>
            <a:r>
              <a:rPr sz="1200" i="1" spc="-35" dirty="0">
                <a:solidFill>
                  <a:srgbClr val="CAD4E0"/>
                </a:solidFill>
                <a:latin typeface="Arial"/>
                <a:cs typeface="Arial"/>
              </a:rPr>
              <a:t> Model</a:t>
            </a:r>
            <a:r>
              <a:rPr sz="1200" i="1" spc="-30" dirty="0">
                <a:solidFill>
                  <a:srgbClr val="CAD4E0"/>
                </a:solidFill>
                <a:latin typeface="Arial"/>
                <a:cs typeface="Arial"/>
              </a:rPr>
              <a:t> </a:t>
            </a:r>
            <a:r>
              <a:rPr sz="1200" i="1" spc="-70" dirty="0">
                <a:solidFill>
                  <a:srgbClr val="CAD4E0"/>
                </a:solidFill>
                <a:latin typeface="Arial"/>
                <a:cs typeface="Arial"/>
              </a:rPr>
              <a:t>Performance</a:t>
            </a:r>
            <a:r>
              <a:rPr sz="1200" i="1" spc="-30" dirty="0">
                <a:solidFill>
                  <a:srgbClr val="CAD4E0"/>
                </a:solidFill>
                <a:latin typeface="Arial"/>
                <a:cs typeface="Arial"/>
              </a:rPr>
              <a:t> </a:t>
            </a:r>
            <a:r>
              <a:rPr sz="1200" i="1" spc="-60" dirty="0">
                <a:solidFill>
                  <a:srgbClr val="CAD4E0"/>
                </a:solidFill>
                <a:latin typeface="Arial"/>
                <a:cs typeface="Arial"/>
              </a:rPr>
              <a:t>by</a:t>
            </a:r>
            <a:r>
              <a:rPr sz="1200" i="1" spc="-40" dirty="0">
                <a:solidFill>
                  <a:srgbClr val="CAD4E0"/>
                </a:solidFill>
                <a:latin typeface="Arial"/>
                <a:cs typeface="Arial"/>
              </a:rPr>
              <a:t> </a:t>
            </a:r>
            <a:r>
              <a:rPr sz="1200" i="1" spc="-50" dirty="0">
                <a:solidFill>
                  <a:srgbClr val="CAD4E0"/>
                </a:solidFill>
                <a:latin typeface="Arial"/>
                <a:cs typeface="Arial"/>
              </a:rPr>
              <a:t>Capturing</a:t>
            </a:r>
            <a:r>
              <a:rPr sz="1200" i="1" spc="-35" dirty="0">
                <a:solidFill>
                  <a:srgbClr val="CAD4E0"/>
                </a:solidFill>
                <a:latin typeface="Arial"/>
                <a:cs typeface="Arial"/>
              </a:rPr>
              <a:t> </a:t>
            </a:r>
            <a:r>
              <a:rPr sz="1200" i="1" spc="-90" dirty="0">
                <a:solidFill>
                  <a:srgbClr val="CAD4E0"/>
                </a:solidFill>
                <a:latin typeface="Arial"/>
                <a:cs typeface="Arial"/>
              </a:rPr>
              <a:t>Complex</a:t>
            </a:r>
            <a:r>
              <a:rPr sz="1200" i="1" spc="-35" dirty="0">
                <a:solidFill>
                  <a:srgbClr val="CAD4E0"/>
                </a:solidFill>
                <a:latin typeface="Arial"/>
                <a:cs typeface="Arial"/>
              </a:rPr>
              <a:t> </a:t>
            </a:r>
            <a:r>
              <a:rPr sz="1200" i="1" spc="-85" dirty="0">
                <a:solidFill>
                  <a:srgbClr val="CAD4E0"/>
                </a:solidFill>
                <a:latin typeface="Arial"/>
                <a:cs typeface="Arial"/>
              </a:rPr>
              <a:t>Reasoning</a:t>
            </a:r>
            <a:r>
              <a:rPr sz="1200" i="1" spc="-35" dirty="0">
                <a:solidFill>
                  <a:srgbClr val="CAD4E0"/>
                </a:solidFill>
                <a:latin typeface="Arial"/>
                <a:cs typeface="Arial"/>
              </a:rPr>
              <a:t> </a:t>
            </a:r>
            <a:r>
              <a:rPr sz="1200" i="1" spc="-25" dirty="0">
                <a:solidFill>
                  <a:srgbClr val="CAD4E0"/>
                </a:solidFill>
                <a:latin typeface="Arial"/>
                <a:cs typeface="Arial"/>
              </a:rPr>
              <a:t>from</a:t>
            </a:r>
            <a:r>
              <a:rPr sz="1200" i="1" spc="-30" dirty="0">
                <a:solidFill>
                  <a:srgbClr val="CAD4E0"/>
                </a:solidFill>
                <a:latin typeface="Arial"/>
                <a:cs typeface="Arial"/>
              </a:rPr>
              <a:t> </a:t>
            </a:r>
            <a:r>
              <a:rPr sz="1200" i="1" spc="-95" dirty="0">
                <a:solidFill>
                  <a:srgbClr val="CAD4E0"/>
                </a:solidFill>
                <a:latin typeface="Arial"/>
                <a:cs typeface="Arial"/>
              </a:rPr>
              <a:t>Teacher</a:t>
            </a:r>
            <a:r>
              <a:rPr sz="1200" i="1" spc="-35" dirty="0">
                <a:solidFill>
                  <a:srgbClr val="CAD4E0"/>
                </a:solidFill>
                <a:latin typeface="Arial"/>
                <a:cs typeface="Arial"/>
              </a:rPr>
              <a:t> </a:t>
            </a:r>
            <a:r>
              <a:rPr sz="1200" i="1" spc="-10" dirty="0">
                <a:solidFill>
                  <a:srgbClr val="CAD4E0"/>
                </a:solidFill>
                <a:latin typeface="Arial"/>
                <a:cs typeface="Arial"/>
              </a:rPr>
              <a:t>Models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9864" y="2621421"/>
            <a:ext cx="440817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CAD4E0"/>
                </a:solidFill>
                <a:latin typeface="Calibri"/>
                <a:cs typeface="Calibri"/>
              </a:rPr>
              <a:t>Department</a:t>
            </a:r>
            <a:r>
              <a:rPr sz="950" spc="-2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AD4E0"/>
                </a:solidFill>
                <a:latin typeface="Calibri"/>
                <a:cs typeface="Calibri"/>
              </a:rPr>
              <a:t>of</a:t>
            </a:r>
            <a:r>
              <a:rPr sz="95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alibri"/>
                <a:cs typeface="Calibri"/>
              </a:rPr>
              <a:t>Computer</a:t>
            </a:r>
            <a:r>
              <a:rPr sz="95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AD4E0"/>
                </a:solidFill>
                <a:latin typeface="Calibri"/>
                <a:cs typeface="Calibri"/>
              </a:rPr>
              <a:t>Engineering</a:t>
            </a:r>
            <a:r>
              <a:rPr sz="950" spc="18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AD4E0"/>
                </a:solidFill>
                <a:latin typeface="Calibri"/>
                <a:cs typeface="Calibri"/>
              </a:rPr>
              <a:t>|</a:t>
            </a:r>
            <a:r>
              <a:rPr sz="950" spc="19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alibri"/>
                <a:cs typeface="Calibri"/>
              </a:rPr>
              <a:t>Graduate</a:t>
            </a:r>
            <a:r>
              <a:rPr sz="95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AD4E0"/>
                </a:solidFill>
                <a:latin typeface="Calibri"/>
                <a:cs typeface="Calibri"/>
              </a:rPr>
              <a:t>School</a:t>
            </a:r>
            <a:r>
              <a:rPr sz="95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AD4E0"/>
                </a:solidFill>
                <a:latin typeface="Calibri"/>
                <a:cs typeface="Calibri"/>
              </a:rPr>
              <a:t>of</a:t>
            </a:r>
            <a:r>
              <a:rPr sz="95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CAD4E0"/>
                </a:solidFill>
                <a:latin typeface="Calibri"/>
                <a:cs typeface="Calibri"/>
              </a:rPr>
              <a:t>Natural</a:t>
            </a:r>
            <a:r>
              <a:rPr sz="95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AD4E0"/>
                </a:solidFill>
                <a:latin typeface="Calibri"/>
                <a:cs typeface="Calibri"/>
              </a:rPr>
              <a:t>and</a:t>
            </a:r>
            <a:r>
              <a:rPr sz="95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CAD4E0"/>
                </a:solidFill>
                <a:latin typeface="Calibri"/>
                <a:cs typeface="Calibri"/>
              </a:rPr>
              <a:t>Applied</a:t>
            </a:r>
            <a:r>
              <a:rPr sz="950" spc="-10" dirty="0">
                <a:solidFill>
                  <a:srgbClr val="CAD4E0"/>
                </a:solidFill>
                <a:latin typeface="Calibri"/>
                <a:cs typeface="Calibri"/>
              </a:rPr>
              <a:t> Sciences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3465" y="3038654"/>
            <a:ext cx="80645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7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Compression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162441" y="2966683"/>
            <a:ext cx="1518285" cy="283845"/>
            <a:chOff x="2162441" y="2966683"/>
            <a:chExt cx="1518285" cy="283845"/>
          </a:xfrm>
        </p:grpSpPr>
        <p:sp>
          <p:nvSpPr>
            <p:cNvPr id="19" name="object 19"/>
            <p:cNvSpPr/>
            <p:nvPr/>
          </p:nvSpPr>
          <p:spPr>
            <a:xfrm>
              <a:off x="2167204" y="2971446"/>
              <a:ext cx="1508760" cy="274320"/>
            </a:xfrm>
            <a:custGeom>
              <a:avLst/>
              <a:gdLst/>
              <a:ahLst/>
              <a:cxnLst/>
              <a:rect l="l" t="t" r="r" b="b"/>
              <a:pathLst>
                <a:path w="1508760" h="274319">
                  <a:moveTo>
                    <a:pt x="1470596" y="0"/>
                  </a:moveTo>
                  <a:lnTo>
                    <a:pt x="37795" y="0"/>
                  </a:lnTo>
                  <a:lnTo>
                    <a:pt x="29870" y="2158"/>
                  </a:lnTo>
                  <a:lnTo>
                    <a:pt x="23037" y="6121"/>
                  </a:lnTo>
                  <a:lnTo>
                    <a:pt x="15836" y="10071"/>
                  </a:lnTo>
                  <a:lnTo>
                    <a:pt x="10071" y="15836"/>
                  </a:lnTo>
                  <a:lnTo>
                    <a:pt x="6121" y="22669"/>
                  </a:lnTo>
                  <a:lnTo>
                    <a:pt x="2159" y="29870"/>
                  </a:lnTo>
                  <a:lnTo>
                    <a:pt x="0" y="37795"/>
                  </a:lnTo>
                  <a:lnTo>
                    <a:pt x="0" y="236512"/>
                  </a:lnTo>
                  <a:lnTo>
                    <a:pt x="2062" y="244081"/>
                  </a:lnTo>
                  <a:lnTo>
                    <a:pt x="2159" y="244436"/>
                  </a:lnTo>
                  <a:lnTo>
                    <a:pt x="6121" y="251269"/>
                  </a:lnTo>
                  <a:lnTo>
                    <a:pt x="10071" y="258470"/>
                  </a:lnTo>
                  <a:lnTo>
                    <a:pt x="15836" y="264236"/>
                  </a:lnTo>
                  <a:lnTo>
                    <a:pt x="22669" y="268198"/>
                  </a:lnTo>
                  <a:lnTo>
                    <a:pt x="29870" y="272161"/>
                  </a:lnTo>
                  <a:lnTo>
                    <a:pt x="37795" y="274319"/>
                  </a:lnTo>
                  <a:lnTo>
                    <a:pt x="1470952" y="273951"/>
                  </a:lnTo>
                  <a:lnTo>
                    <a:pt x="1478876" y="271792"/>
                  </a:lnTo>
                  <a:lnTo>
                    <a:pt x="1485709" y="267830"/>
                  </a:lnTo>
                  <a:lnTo>
                    <a:pt x="1492910" y="263880"/>
                  </a:lnTo>
                  <a:lnTo>
                    <a:pt x="1508760" y="228231"/>
                  </a:lnTo>
                  <a:lnTo>
                    <a:pt x="1508391" y="45719"/>
                  </a:lnTo>
                  <a:lnTo>
                    <a:pt x="1508391" y="37795"/>
                  </a:lnTo>
                  <a:lnTo>
                    <a:pt x="1506232" y="29870"/>
                  </a:lnTo>
                  <a:lnTo>
                    <a:pt x="1502270" y="23037"/>
                  </a:lnTo>
                  <a:lnTo>
                    <a:pt x="1498320" y="15836"/>
                  </a:lnTo>
                  <a:lnTo>
                    <a:pt x="1492554" y="10071"/>
                  </a:lnTo>
                  <a:lnTo>
                    <a:pt x="1485709" y="6121"/>
                  </a:lnTo>
                  <a:lnTo>
                    <a:pt x="1478521" y="2158"/>
                  </a:lnTo>
                  <a:lnTo>
                    <a:pt x="1470596" y="0"/>
                  </a:lnTo>
                  <a:close/>
                </a:path>
              </a:pathLst>
            </a:custGeom>
            <a:solidFill>
              <a:srgbClr val="1D5E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167204" y="2971446"/>
              <a:ext cx="1508760" cy="274320"/>
            </a:xfrm>
            <a:custGeom>
              <a:avLst/>
              <a:gdLst/>
              <a:ahLst/>
              <a:cxnLst/>
              <a:rect l="l" t="t" r="r" b="b"/>
              <a:pathLst>
                <a:path w="1508760" h="274319">
                  <a:moveTo>
                    <a:pt x="0" y="45719"/>
                  </a:moveTo>
                  <a:lnTo>
                    <a:pt x="0" y="37795"/>
                  </a:lnTo>
                  <a:lnTo>
                    <a:pt x="2159" y="29870"/>
                  </a:lnTo>
                  <a:lnTo>
                    <a:pt x="6121" y="22669"/>
                  </a:lnTo>
                  <a:lnTo>
                    <a:pt x="10071" y="15836"/>
                  </a:lnTo>
                  <a:lnTo>
                    <a:pt x="15836" y="10071"/>
                  </a:lnTo>
                  <a:lnTo>
                    <a:pt x="23037" y="6121"/>
                  </a:lnTo>
                  <a:lnTo>
                    <a:pt x="29870" y="2158"/>
                  </a:lnTo>
                  <a:lnTo>
                    <a:pt x="37795" y="0"/>
                  </a:lnTo>
                  <a:lnTo>
                    <a:pt x="45720" y="0"/>
                  </a:lnTo>
                  <a:lnTo>
                    <a:pt x="1462671" y="0"/>
                  </a:lnTo>
                  <a:lnTo>
                    <a:pt x="1470596" y="0"/>
                  </a:lnTo>
                  <a:lnTo>
                    <a:pt x="1478521" y="2158"/>
                  </a:lnTo>
                  <a:lnTo>
                    <a:pt x="1485709" y="6121"/>
                  </a:lnTo>
                  <a:lnTo>
                    <a:pt x="1492554" y="10071"/>
                  </a:lnTo>
                  <a:lnTo>
                    <a:pt x="1498320" y="15836"/>
                  </a:lnTo>
                  <a:lnTo>
                    <a:pt x="1502270" y="23037"/>
                  </a:lnTo>
                  <a:lnTo>
                    <a:pt x="1506232" y="29870"/>
                  </a:lnTo>
                  <a:lnTo>
                    <a:pt x="1508391" y="37795"/>
                  </a:lnTo>
                  <a:lnTo>
                    <a:pt x="1508391" y="45719"/>
                  </a:lnTo>
                  <a:lnTo>
                    <a:pt x="1508760" y="228231"/>
                  </a:lnTo>
                  <a:lnTo>
                    <a:pt x="1508760" y="236156"/>
                  </a:lnTo>
                  <a:lnTo>
                    <a:pt x="1506601" y="244081"/>
                  </a:lnTo>
                  <a:lnTo>
                    <a:pt x="1502638" y="251269"/>
                  </a:lnTo>
                  <a:lnTo>
                    <a:pt x="1498676" y="258114"/>
                  </a:lnTo>
                  <a:lnTo>
                    <a:pt x="1492910" y="263880"/>
                  </a:lnTo>
                  <a:lnTo>
                    <a:pt x="1485709" y="267830"/>
                  </a:lnTo>
                  <a:lnTo>
                    <a:pt x="1478876" y="271792"/>
                  </a:lnTo>
                  <a:lnTo>
                    <a:pt x="1470952" y="273951"/>
                  </a:lnTo>
                  <a:lnTo>
                    <a:pt x="1463040" y="273951"/>
                  </a:lnTo>
                  <a:lnTo>
                    <a:pt x="45720" y="274319"/>
                  </a:lnTo>
                  <a:lnTo>
                    <a:pt x="37795" y="274319"/>
                  </a:lnTo>
                  <a:lnTo>
                    <a:pt x="29870" y="272161"/>
                  </a:lnTo>
                  <a:lnTo>
                    <a:pt x="22669" y="268198"/>
                  </a:lnTo>
                  <a:lnTo>
                    <a:pt x="15836" y="264236"/>
                  </a:lnTo>
                  <a:lnTo>
                    <a:pt x="10071" y="258470"/>
                  </a:lnTo>
                  <a:lnTo>
                    <a:pt x="6121" y="251269"/>
                  </a:lnTo>
                  <a:lnTo>
                    <a:pt x="2159" y="244436"/>
                  </a:lnTo>
                  <a:lnTo>
                    <a:pt x="0" y="236512"/>
                  </a:lnTo>
                  <a:lnTo>
                    <a:pt x="0" y="228600"/>
                  </a:lnTo>
                  <a:lnTo>
                    <a:pt x="0" y="45719"/>
                  </a:lnTo>
                  <a:close/>
                </a:path>
              </a:pathLst>
            </a:custGeom>
            <a:ln w="8999">
              <a:solidFill>
                <a:srgbClr val="00C1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590101" y="3038654"/>
            <a:ext cx="6629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0" dirty="0">
                <a:solidFill>
                  <a:srgbClr val="FFFFFF"/>
                </a:solidFill>
                <a:latin typeface="Calibri"/>
                <a:cs typeface="Calibri"/>
              </a:rPr>
              <a:t>Teacher-</a:t>
            </a: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Student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826713" y="2966683"/>
            <a:ext cx="1518285" cy="283845"/>
            <a:chOff x="3826713" y="2966683"/>
            <a:chExt cx="1518285" cy="283845"/>
          </a:xfrm>
        </p:grpSpPr>
        <p:sp>
          <p:nvSpPr>
            <p:cNvPr id="23" name="object 23"/>
            <p:cNvSpPr/>
            <p:nvPr/>
          </p:nvSpPr>
          <p:spPr>
            <a:xfrm>
              <a:off x="3831475" y="2971446"/>
              <a:ext cx="1508760" cy="274320"/>
            </a:xfrm>
            <a:custGeom>
              <a:avLst/>
              <a:gdLst/>
              <a:ahLst/>
              <a:cxnLst/>
              <a:rect l="l" t="t" r="r" b="b"/>
              <a:pathLst>
                <a:path w="1508760" h="274319">
                  <a:moveTo>
                    <a:pt x="1470609" y="0"/>
                  </a:moveTo>
                  <a:lnTo>
                    <a:pt x="37807" y="0"/>
                  </a:lnTo>
                  <a:lnTo>
                    <a:pt x="29883" y="2158"/>
                  </a:lnTo>
                  <a:lnTo>
                    <a:pt x="23050" y="6121"/>
                  </a:lnTo>
                  <a:lnTo>
                    <a:pt x="15849" y="10071"/>
                  </a:lnTo>
                  <a:lnTo>
                    <a:pt x="10083" y="15836"/>
                  </a:lnTo>
                  <a:lnTo>
                    <a:pt x="6121" y="22669"/>
                  </a:lnTo>
                  <a:lnTo>
                    <a:pt x="2159" y="29870"/>
                  </a:lnTo>
                  <a:lnTo>
                    <a:pt x="0" y="37795"/>
                  </a:lnTo>
                  <a:lnTo>
                    <a:pt x="0" y="236512"/>
                  </a:lnTo>
                  <a:lnTo>
                    <a:pt x="2062" y="244081"/>
                  </a:lnTo>
                  <a:lnTo>
                    <a:pt x="2159" y="244436"/>
                  </a:lnTo>
                  <a:lnTo>
                    <a:pt x="6121" y="251269"/>
                  </a:lnTo>
                  <a:lnTo>
                    <a:pt x="10083" y="258470"/>
                  </a:lnTo>
                  <a:lnTo>
                    <a:pt x="15849" y="264236"/>
                  </a:lnTo>
                  <a:lnTo>
                    <a:pt x="22682" y="268198"/>
                  </a:lnTo>
                  <a:lnTo>
                    <a:pt x="29883" y="272161"/>
                  </a:lnTo>
                  <a:lnTo>
                    <a:pt x="37807" y="274319"/>
                  </a:lnTo>
                  <a:lnTo>
                    <a:pt x="1470964" y="273951"/>
                  </a:lnTo>
                  <a:lnTo>
                    <a:pt x="1478889" y="271792"/>
                  </a:lnTo>
                  <a:lnTo>
                    <a:pt x="1485722" y="267830"/>
                  </a:lnTo>
                  <a:lnTo>
                    <a:pt x="1492923" y="263880"/>
                  </a:lnTo>
                  <a:lnTo>
                    <a:pt x="1508760" y="228231"/>
                  </a:lnTo>
                  <a:lnTo>
                    <a:pt x="1508404" y="45719"/>
                  </a:lnTo>
                  <a:lnTo>
                    <a:pt x="1508404" y="37795"/>
                  </a:lnTo>
                  <a:lnTo>
                    <a:pt x="1506245" y="29870"/>
                  </a:lnTo>
                  <a:lnTo>
                    <a:pt x="1502283" y="23037"/>
                  </a:lnTo>
                  <a:lnTo>
                    <a:pt x="1498320" y="15836"/>
                  </a:lnTo>
                  <a:lnTo>
                    <a:pt x="1492567" y="10071"/>
                  </a:lnTo>
                  <a:lnTo>
                    <a:pt x="1485722" y="6121"/>
                  </a:lnTo>
                  <a:lnTo>
                    <a:pt x="1478521" y="2158"/>
                  </a:lnTo>
                  <a:lnTo>
                    <a:pt x="1470609" y="0"/>
                  </a:lnTo>
                  <a:close/>
                </a:path>
              </a:pathLst>
            </a:custGeom>
            <a:solidFill>
              <a:srgbClr val="1D5E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31475" y="2971446"/>
              <a:ext cx="1508760" cy="274320"/>
            </a:xfrm>
            <a:custGeom>
              <a:avLst/>
              <a:gdLst/>
              <a:ahLst/>
              <a:cxnLst/>
              <a:rect l="l" t="t" r="r" b="b"/>
              <a:pathLst>
                <a:path w="1508760" h="274319">
                  <a:moveTo>
                    <a:pt x="0" y="45719"/>
                  </a:moveTo>
                  <a:lnTo>
                    <a:pt x="0" y="37795"/>
                  </a:lnTo>
                  <a:lnTo>
                    <a:pt x="2159" y="29870"/>
                  </a:lnTo>
                  <a:lnTo>
                    <a:pt x="6121" y="22669"/>
                  </a:lnTo>
                  <a:lnTo>
                    <a:pt x="10083" y="15836"/>
                  </a:lnTo>
                  <a:lnTo>
                    <a:pt x="15849" y="10071"/>
                  </a:lnTo>
                  <a:lnTo>
                    <a:pt x="23050" y="6121"/>
                  </a:lnTo>
                  <a:lnTo>
                    <a:pt x="29883" y="2158"/>
                  </a:lnTo>
                  <a:lnTo>
                    <a:pt x="37807" y="0"/>
                  </a:lnTo>
                  <a:lnTo>
                    <a:pt x="45720" y="0"/>
                  </a:lnTo>
                  <a:lnTo>
                    <a:pt x="1462684" y="0"/>
                  </a:lnTo>
                  <a:lnTo>
                    <a:pt x="1470609" y="0"/>
                  </a:lnTo>
                  <a:lnTo>
                    <a:pt x="1478521" y="2158"/>
                  </a:lnTo>
                  <a:lnTo>
                    <a:pt x="1485722" y="6121"/>
                  </a:lnTo>
                  <a:lnTo>
                    <a:pt x="1492567" y="10071"/>
                  </a:lnTo>
                  <a:lnTo>
                    <a:pt x="1498320" y="15836"/>
                  </a:lnTo>
                  <a:lnTo>
                    <a:pt x="1502283" y="23037"/>
                  </a:lnTo>
                  <a:lnTo>
                    <a:pt x="1506245" y="29870"/>
                  </a:lnTo>
                  <a:lnTo>
                    <a:pt x="1508404" y="37795"/>
                  </a:lnTo>
                  <a:lnTo>
                    <a:pt x="1508404" y="45719"/>
                  </a:lnTo>
                  <a:lnTo>
                    <a:pt x="1508760" y="228231"/>
                  </a:lnTo>
                  <a:lnTo>
                    <a:pt x="1508760" y="236156"/>
                  </a:lnTo>
                  <a:lnTo>
                    <a:pt x="1506601" y="244081"/>
                  </a:lnTo>
                  <a:lnTo>
                    <a:pt x="1502638" y="251269"/>
                  </a:lnTo>
                  <a:lnTo>
                    <a:pt x="1498688" y="258114"/>
                  </a:lnTo>
                  <a:lnTo>
                    <a:pt x="1492923" y="263880"/>
                  </a:lnTo>
                  <a:lnTo>
                    <a:pt x="1485722" y="267830"/>
                  </a:lnTo>
                  <a:lnTo>
                    <a:pt x="1478889" y="271792"/>
                  </a:lnTo>
                  <a:lnTo>
                    <a:pt x="1470964" y="273951"/>
                  </a:lnTo>
                  <a:lnTo>
                    <a:pt x="1463040" y="273951"/>
                  </a:lnTo>
                  <a:lnTo>
                    <a:pt x="45720" y="274319"/>
                  </a:lnTo>
                  <a:lnTo>
                    <a:pt x="37807" y="274319"/>
                  </a:lnTo>
                  <a:lnTo>
                    <a:pt x="29883" y="272161"/>
                  </a:lnTo>
                  <a:lnTo>
                    <a:pt x="22682" y="268198"/>
                  </a:lnTo>
                  <a:lnTo>
                    <a:pt x="15849" y="264236"/>
                  </a:lnTo>
                  <a:lnTo>
                    <a:pt x="10083" y="258470"/>
                  </a:lnTo>
                  <a:lnTo>
                    <a:pt x="6121" y="251269"/>
                  </a:lnTo>
                  <a:lnTo>
                    <a:pt x="2159" y="244436"/>
                  </a:lnTo>
                  <a:lnTo>
                    <a:pt x="0" y="236512"/>
                  </a:lnTo>
                  <a:lnTo>
                    <a:pt x="0" y="228600"/>
                  </a:lnTo>
                  <a:lnTo>
                    <a:pt x="0" y="45719"/>
                  </a:lnTo>
                  <a:close/>
                </a:path>
              </a:pathLst>
            </a:custGeom>
            <a:ln w="8999">
              <a:solidFill>
                <a:srgbClr val="00C1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232414" y="3038654"/>
            <a:ext cx="70675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Chain-of-Thought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490641" y="2966683"/>
            <a:ext cx="1518285" cy="283845"/>
            <a:chOff x="5490641" y="2966683"/>
            <a:chExt cx="1518285" cy="283845"/>
          </a:xfrm>
        </p:grpSpPr>
        <p:sp>
          <p:nvSpPr>
            <p:cNvPr id="27" name="object 27"/>
            <p:cNvSpPr/>
            <p:nvPr/>
          </p:nvSpPr>
          <p:spPr>
            <a:xfrm>
              <a:off x="5495404" y="2971446"/>
              <a:ext cx="1508760" cy="274320"/>
            </a:xfrm>
            <a:custGeom>
              <a:avLst/>
              <a:gdLst/>
              <a:ahLst/>
              <a:cxnLst/>
              <a:rect l="l" t="t" r="r" b="b"/>
              <a:pathLst>
                <a:path w="1508759" h="274319">
                  <a:moveTo>
                    <a:pt x="1470596" y="0"/>
                  </a:moveTo>
                  <a:lnTo>
                    <a:pt x="37795" y="0"/>
                  </a:lnTo>
                  <a:lnTo>
                    <a:pt x="29870" y="2158"/>
                  </a:lnTo>
                  <a:lnTo>
                    <a:pt x="23037" y="6121"/>
                  </a:lnTo>
                  <a:lnTo>
                    <a:pt x="15836" y="10071"/>
                  </a:lnTo>
                  <a:lnTo>
                    <a:pt x="10071" y="15836"/>
                  </a:lnTo>
                  <a:lnTo>
                    <a:pt x="6121" y="22669"/>
                  </a:lnTo>
                  <a:lnTo>
                    <a:pt x="2159" y="29870"/>
                  </a:lnTo>
                  <a:lnTo>
                    <a:pt x="0" y="37795"/>
                  </a:lnTo>
                  <a:lnTo>
                    <a:pt x="0" y="236512"/>
                  </a:lnTo>
                  <a:lnTo>
                    <a:pt x="2062" y="244081"/>
                  </a:lnTo>
                  <a:lnTo>
                    <a:pt x="2159" y="244436"/>
                  </a:lnTo>
                  <a:lnTo>
                    <a:pt x="6121" y="251269"/>
                  </a:lnTo>
                  <a:lnTo>
                    <a:pt x="10071" y="258470"/>
                  </a:lnTo>
                  <a:lnTo>
                    <a:pt x="15836" y="264236"/>
                  </a:lnTo>
                  <a:lnTo>
                    <a:pt x="22669" y="268198"/>
                  </a:lnTo>
                  <a:lnTo>
                    <a:pt x="29870" y="272161"/>
                  </a:lnTo>
                  <a:lnTo>
                    <a:pt x="37795" y="274319"/>
                  </a:lnTo>
                  <a:lnTo>
                    <a:pt x="1470952" y="273951"/>
                  </a:lnTo>
                  <a:lnTo>
                    <a:pt x="1478876" y="271792"/>
                  </a:lnTo>
                  <a:lnTo>
                    <a:pt x="1485709" y="267830"/>
                  </a:lnTo>
                  <a:lnTo>
                    <a:pt x="1492910" y="263880"/>
                  </a:lnTo>
                  <a:lnTo>
                    <a:pt x="1508760" y="228231"/>
                  </a:lnTo>
                  <a:lnTo>
                    <a:pt x="1508391" y="45719"/>
                  </a:lnTo>
                  <a:lnTo>
                    <a:pt x="1508391" y="37795"/>
                  </a:lnTo>
                  <a:lnTo>
                    <a:pt x="1506232" y="29870"/>
                  </a:lnTo>
                  <a:lnTo>
                    <a:pt x="1502270" y="23037"/>
                  </a:lnTo>
                  <a:lnTo>
                    <a:pt x="1498320" y="15836"/>
                  </a:lnTo>
                  <a:lnTo>
                    <a:pt x="1492554" y="10071"/>
                  </a:lnTo>
                  <a:lnTo>
                    <a:pt x="1485709" y="6121"/>
                  </a:lnTo>
                  <a:lnTo>
                    <a:pt x="1478521" y="2158"/>
                  </a:lnTo>
                  <a:lnTo>
                    <a:pt x="1470596" y="0"/>
                  </a:lnTo>
                  <a:close/>
                </a:path>
              </a:pathLst>
            </a:custGeom>
            <a:solidFill>
              <a:srgbClr val="1D5E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495404" y="2971446"/>
              <a:ext cx="1508760" cy="274320"/>
            </a:xfrm>
            <a:custGeom>
              <a:avLst/>
              <a:gdLst/>
              <a:ahLst/>
              <a:cxnLst/>
              <a:rect l="l" t="t" r="r" b="b"/>
              <a:pathLst>
                <a:path w="1508759" h="274319">
                  <a:moveTo>
                    <a:pt x="0" y="45719"/>
                  </a:moveTo>
                  <a:lnTo>
                    <a:pt x="0" y="37795"/>
                  </a:lnTo>
                  <a:lnTo>
                    <a:pt x="2159" y="29870"/>
                  </a:lnTo>
                  <a:lnTo>
                    <a:pt x="6121" y="22669"/>
                  </a:lnTo>
                  <a:lnTo>
                    <a:pt x="10071" y="15836"/>
                  </a:lnTo>
                  <a:lnTo>
                    <a:pt x="15836" y="10071"/>
                  </a:lnTo>
                  <a:lnTo>
                    <a:pt x="23037" y="6121"/>
                  </a:lnTo>
                  <a:lnTo>
                    <a:pt x="29870" y="2158"/>
                  </a:lnTo>
                  <a:lnTo>
                    <a:pt x="37795" y="0"/>
                  </a:lnTo>
                  <a:lnTo>
                    <a:pt x="45720" y="0"/>
                  </a:lnTo>
                  <a:lnTo>
                    <a:pt x="1462671" y="0"/>
                  </a:lnTo>
                  <a:lnTo>
                    <a:pt x="1470596" y="0"/>
                  </a:lnTo>
                  <a:lnTo>
                    <a:pt x="1478521" y="2158"/>
                  </a:lnTo>
                  <a:lnTo>
                    <a:pt x="1485709" y="6121"/>
                  </a:lnTo>
                  <a:lnTo>
                    <a:pt x="1492554" y="10071"/>
                  </a:lnTo>
                  <a:lnTo>
                    <a:pt x="1498320" y="15836"/>
                  </a:lnTo>
                  <a:lnTo>
                    <a:pt x="1502270" y="23037"/>
                  </a:lnTo>
                  <a:lnTo>
                    <a:pt x="1506232" y="29870"/>
                  </a:lnTo>
                  <a:lnTo>
                    <a:pt x="1508391" y="37795"/>
                  </a:lnTo>
                  <a:lnTo>
                    <a:pt x="1508391" y="45719"/>
                  </a:lnTo>
                  <a:lnTo>
                    <a:pt x="1508760" y="228231"/>
                  </a:lnTo>
                  <a:lnTo>
                    <a:pt x="1508760" y="236156"/>
                  </a:lnTo>
                  <a:lnTo>
                    <a:pt x="1506601" y="244081"/>
                  </a:lnTo>
                  <a:lnTo>
                    <a:pt x="1502638" y="251269"/>
                  </a:lnTo>
                  <a:lnTo>
                    <a:pt x="1498676" y="258114"/>
                  </a:lnTo>
                  <a:lnTo>
                    <a:pt x="1492910" y="263880"/>
                  </a:lnTo>
                  <a:lnTo>
                    <a:pt x="1485709" y="267830"/>
                  </a:lnTo>
                  <a:lnTo>
                    <a:pt x="1478876" y="271792"/>
                  </a:lnTo>
                  <a:lnTo>
                    <a:pt x="1470952" y="273951"/>
                  </a:lnTo>
                  <a:lnTo>
                    <a:pt x="1463039" y="273951"/>
                  </a:lnTo>
                  <a:lnTo>
                    <a:pt x="45720" y="274319"/>
                  </a:lnTo>
                  <a:lnTo>
                    <a:pt x="37795" y="274319"/>
                  </a:lnTo>
                  <a:lnTo>
                    <a:pt x="29870" y="272161"/>
                  </a:lnTo>
                  <a:lnTo>
                    <a:pt x="22669" y="268198"/>
                  </a:lnTo>
                  <a:lnTo>
                    <a:pt x="15836" y="264236"/>
                  </a:lnTo>
                  <a:lnTo>
                    <a:pt x="10071" y="258470"/>
                  </a:lnTo>
                  <a:lnTo>
                    <a:pt x="6121" y="251269"/>
                  </a:lnTo>
                  <a:lnTo>
                    <a:pt x="2159" y="244436"/>
                  </a:lnTo>
                  <a:lnTo>
                    <a:pt x="0" y="236512"/>
                  </a:lnTo>
                  <a:lnTo>
                    <a:pt x="0" y="228600"/>
                  </a:lnTo>
                  <a:lnTo>
                    <a:pt x="0" y="45719"/>
                  </a:lnTo>
                  <a:close/>
                </a:path>
              </a:pathLst>
            </a:custGeom>
            <a:ln w="8999">
              <a:solidFill>
                <a:srgbClr val="00C1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961862" y="3038654"/>
            <a:ext cx="57531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FFFFFF"/>
                </a:solidFill>
                <a:latin typeface="Calibri"/>
                <a:cs typeface="Calibri"/>
              </a:rPr>
              <a:t>LLM</a:t>
            </a:r>
            <a:r>
              <a:rPr sz="75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Efficiency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155175" y="2966946"/>
            <a:ext cx="1518285" cy="283845"/>
            <a:chOff x="7155175" y="2966946"/>
            <a:chExt cx="1518285" cy="283845"/>
          </a:xfrm>
        </p:grpSpPr>
        <p:sp>
          <p:nvSpPr>
            <p:cNvPr id="31" name="object 31"/>
            <p:cNvSpPr/>
            <p:nvPr/>
          </p:nvSpPr>
          <p:spPr>
            <a:xfrm>
              <a:off x="7159675" y="2971446"/>
              <a:ext cx="1508760" cy="274320"/>
            </a:xfrm>
            <a:custGeom>
              <a:avLst/>
              <a:gdLst/>
              <a:ahLst/>
              <a:cxnLst/>
              <a:rect l="l" t="t" r="r" b="b"/>
              <a:pathLst>
                <a:path w="1508759" h="274319">
                  <a:moveTo>
                    <a:pt x="1470609" y="0"/>
                  </a:moveTo>
                  <a:lnTo>
                    <a:pt x="37807" y="0"/>
                  </a:lnTo>
                  <a:lnTo>
                    <a:pt x="29883" y="2158"/>
                  </a:lnTo>
                  <a:lnTo>
                    <a:pt x="23050" y="6121"/>
                  </a:lnTo>
                  <a:lnTo>
                    <a:pt x="15849" y="10071"/>
                  </a:lnTo>
                  <a:lnTo>
                    <a:pt x="10083" y="15836"/>
                  </a:lnTo>
                  <a:lnTo>
                    <a:pt x="6121" y="22669"/>
                  </a:lnTo>
                  <a:lnTo>
                    <a:pt x="2158" y="29870"/>
                  </a:lnTo>
                  <a:lnTo>
                    <a:pt x="0" y="37795"/>
                  </a:lnTo>
                  <a:lnTo>
                    <a:pt x="0" y="236512"/>
                  </a:lnTo>
                  <a:lnTo>
                    <a:pt x="2062" y="244081"/>
                  </a:lnTo>
                  <a:lnTo>
                    <a:pt x="2158" y="244436"/>
                  </a:lnTo>
                  <a:lnTo>
                    <a:pt x="6121" y="251269"/>
                  </a:lnTo>
                  <a:lnTo>
                    <a:pt x="10083" y="258470"/>
                  </a:lnTo>
                  <a:lnTo>
                    <a:pt x="15849" y="264236"/>
                  </a:lnTo>
                  <a:lnTo>
                    <a:pt x="22682" y="268198"/>
                  </a:lnTo>
                  <a:lnTo>
                    <a:pt x="29883" y="272161"/>
                  </a:lnTo>
                  <a:lnTo>
                    <a:pt x="37807" y="274319"/>
                  </a:lnTo>
                  <a:lnTo>
                    <a:pt x="1470964" y="273951"/>
                  </a:lnTo>
                  <a:lnTo>
                    <a:pt x="1478889" y="271792"/>
                  </a:lnTo>
                  <a:lnTo>
                    <a:pt x="1485722" y="267830"/>
                  </a:lnTo>
                  <a:lnTo>
                    <a:pt x="1492923" y="263880"/>
                  </a:lnTo>
                  <a:lnTo>
                    <a:pt x="1508759" y="228231"/>
                  </a:lnTo>
                  <a:lnTo>
                    <a:pt x="1508404" y="45719"/>
                  </a:lnTo>
                  <a:lnTo>
                    <a:pt x="1508404" y="37795"/>
                  </a:lnTo>
                  <a:lnTo>
                    <a:pt x="1506245" y="29870"/>
                  </a:lnTo>
                  <a:lnTo>
                    <a:pt x="1502282" y="23037"/>
                  </a:lnTo>
                  <a:lnTo>
                    <a:pt x="1498320" y="15836"/>
                  </a:lnTo>
                  <a:lnTo>
                    <a:pt x="1492567" y="10071"/>
                  </a:lnTo>
                  <a:lnTo>
                    <a:pt x="1485722" y="6121"/>
                  </a:lnTo>
                  <a:lnTo>
                    <a:pt x="1478521" y="2158"/>
                  </a:lnTo>
                  <a:lnTo>
                    <a:pt x="1470609" y="0"/>
                  </a:lnTo>
                  <a:close/>
                </a:path>
              </a:pathLst>
            </a:custGeom>
            <a:solidFill>
              <a:srgbClr val="1D5E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159675" y="2971446"/>
              <a:ext cx="1508760" cy="274320"/>
            </a:xfrm>
            <a:custGeom>
              <a:avLst/>
              <a:gdLst/>
              <a:ahLst/>
              <a:cxnLst/>
              <a:rect l="l" t="t" r="r" b="b"/>
              <a:pathLst>
                <a:path w="1508759" h="274319">
                  <a:moveTo>
                    <a:pt x="0" y="45719"/>
                  </a:moveTo>
                  <a:lnTo>
                    <a:pt x="0" y="37795"/>
                  </a:lnTo>
                  <a:lnTo>
                    <a:pt x="2158" y="29870"/>
                  </a:lnTo>
                  <a:lnTo>
                    <a:pt x="6121" y="22669"/>
                  </a:lnTo>
                  <a:lnTo>
                    <a:pt x="10083" y="15836"/>
                  </a:lnTo>
                  <a:lnTo>
                    <a:pt x="15849" y="10071"/>
                  </a:lnTo>
                  <a:lnTo>
                    <a:pt x="23050" y="6121"/>
                  </a:lnTo>
                  <a:lnTo>
                    <a:pt x="29883" y="2158"/>
                  </a:lnTo>
                  <a:lnTo>
                    <a:pt x="37807" y="0"/>
                  </a:lnTo>
                  <a:lnTo>
                    <a:pt x="45720" y="0"/>
                  </a:lnTo>
                  <a:lnTo>
                    <a:pt x="1462684" y="0"/>
                  </a:lnTo>
                  <a:lnTo>
                    <a:pt x="1470609" y="0"/>
                  </a:lnTo>
                  <a:lnTo>
                    <a:pt x="1478521" y="2158"/>
                  </a:lnTo>
                  <a:lnTo>
                    <a:pt x="1485722" y="6121"/>
                  </a:lnTo>
                  <a:lnTo>
                    <a:pt x="1492567" y="10071"/>
                  </a:lnTo>
                  <a:lnTo>
                    <a:pt x="1498320" y="15836"/>
                  </a:lnTo>
                  <a:lnTo>
                    <a:pt x="1502282" y="23037"/>
                  </a:lnTo>
                  <a:lnTo>
                    <a:pt x="1506245" y="29870"/>
                  </a:lnTo>
                  <a:lnTo>
                    <a:pt x="1508404" y="37795"/>
                  </a:lnTo>
                  <a:lnTo>
                    <a:pt x="1508404" y="45719"/>
                  </a:lnTo>
                  <a:lnTo>
                    <a:pt x="1508759" y="228231"/>
                  </a:lnTo>
                  <a:lnTo>
                    <a:pt x="1508759" y="236156"/>
                  </a:lnTo>
                  <a:lnTo>
                    <a:pt x="1506601" y="244081"/>
                  </a:lnTo>
                  <a:lnTo>
                    <a:pt x="1502638" y="251269"/>
                  </a:lnTo>
                  <a:lnTo>
                    <a:pt x="1498688" y="258114"/>
                  </a:lnTo>
                  <a:lnTo>
                    <a:pt x="1492923" y="263880"/>
                  </a:lnTo>
                  <a:lnTo>
                    <a:pt x="1485722" y="267830"/>
                  </a:lnTo>
                  <a:lnTo>
                    <a:pt x="1478889" y="271792"/>
                  </a:lnTo>
                  <a:lnTo>
                    <a:pt x="1470964" y="273951"/>
                  </a:lnTo>
                  <a:lnTo>
                    <a:pt x="1463039" y="273951"/>
                  </a:lnTo>
                  <a:lnTo>
                    <a:pt x="45720" y="274319"/>
                  </a:lnTo>
                  <a:lnTo>
                    <a:pt x="37807" y="274319"/>
                  </a:lnTo>
                  <a:lnTo>
                    <a:pt x="29883" y="272161"/>
                  </a:lnTo>
                  <a:lnTo>
                    <a:pt x="22682" y="268198"/>
                  </a:lnTo>
                  <a:lnTo>
                    <a:pt x="15849" y="264236"/>
                  </a:lnTo>
                  <a:lnTo>
                    <a:pt x="10083" y="258470"/>
                  </a:lnTo>
                  <a:lnTo>
                    <a:pt x="6121" y="251269"/>
                  </a:lnTo>
                  <a:lnTo>
                    <a:pt x="2158" y="244436"/>
                  </a:lnTo>
                  <a:lnTo>
                    <a:pt x="0" y="236512"/>
                  </a:lnTo>
                  <a:lnTo>
                    <a:pt x="0" y="228600"/>
                  </a:lnTo>
                  <a:lnTo>
                    <a:pt x="0" y="45719"/>
                  </a:lnTo>
                  <a:close/>
                </a:path>
              </a:pathLst>
            </a:custGeom>
            <a:ln w="8999">
              <a:solidFill>
                <a:srgbClr val="00C1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644142" y="3038654"/>
            <a:ext cx="53911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DeepSeek-</a:t>
            </a:r>
            <a:r>
              <a:rPr sz="750" spc="-25" dirty="0">
                <a:solidFill>
                  <a:srgbClr val="FFFFFF"/>
                </a:solidFill>
                <a:latin typeface="Calibri"/>
                <a:cs typeface="Calibri"/>
              </a:rPr>
              <a:t>R1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9864" y="4270948"/>
            <a:ext cx="177927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Manisa</a:t>
            </a:r>
            <a:r>
              <a:rPr sz="900" spc="-2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Celal</a:t>
            </a:r>
            <a:r>
              <a:rPr sz="900" spc="-3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Bayar</a:t>
            </a:r>
            <a:r>
              <a:rPr sz="900" spc="-3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University</a:t>
            </a:r>
            <a:r>
              <a:rPr sz="900" spc="15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|</a:t>
            </a:r>
            <a:r>
              <a:rPr sz="900" spc="14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CAD4E0"/>
                </a:solidFill>
                <a:latin typeface="Calibri"/>
                <a:cs typeface="Calibri"/>
              </a:rPr>
              <a:t>2025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/>
              <a:t>Table</a:t>
            </a:r>
            <a:r>
              <a:rPr sz="2000" spc="-45" dirty="0"/>
              <a:t> </a:t>
            </a:r>
            <a:r>
              <a:rPr sz="2000" dirty="0"/>
              <a:t>of</a:t>
            </a:r>
            <a:r>
              <a:rPr sz="2000" spc="-25" dirty="0"/>
              <a:t> </a:t>
            </a:r>
            <a:r>
              <a:rPr sz="2000" spc="-10" dirty="0"/>
              <a:t>Contents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7517053" y="232107"/>
            <a:ext cx="13182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spc="-55" dirty="0">
                <a:solidFill>
                  <a:srgbClr val="00C1CA"/>
                </a:solidFill>
                <a:latin typeface="Arial"/>
                <a:cs typeface="Arial"/>
              </a:rPr>
              <a:t>Presentation</a:t>
            </a:r>
            <a:r>
              <a:rPr sz="1100" i="1" spc="20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60" dirty="0">
                <a:solidFill>
                  <a:srgbClr val="00C1CA"/>
                </a:solidFill>
                <a:latin typeface="Arial"/>
                <a:cs typeface="Arial"/>
              </a:rPr>
              <a:t>Roadmap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6655" y="4885742"/>
            <a:ext cx="9156700" cy="264160"/>
            <a:chOff x="-6655" y="4885742"/>
            <a:chExt cx="9156700" cy="264160"/>
          </a:xfrm>
        </p:grpSpPr>
        <p:sp>
          <p:nvSpPr>
            <p:cNvPr id="5" name="object 5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631" y="0"/>
                  </a:moveTo>
                  <a:lnTo>
                    <a:pt x="0" y="0"/>
                  </a:lnTo>
                  <a:lnTo>
                    <a:pt x="0" y="251282"/>
                  </a:lnTo>
                  <a:lnTo>
                    <a:pt x="4572000" y="251282"/>
                  </a:lnTo>
                  <a:lnTo>
                    <a:pt x="9143631" y="251282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4572000" y="251282"/>
                  </a:moveTo>
                  <a:lnTo>
                    <a:pt x="0" y="251282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251282"/>
                  </a:lnTo>
                  <a:lnTo>
                    <a:pt x="4572000" y="251282"/>
                  </a:lnTo>
                  <a:close/>
                </a:path>
              </a:pathLst>
            </a:custGeom>
            <a:ln w="12599">
              <a:solidFill>
                <a:srgbClr val="0C1A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62" y="787300"/>
            <a:ext cx="4375797" cy="103790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320040" y="868326"/>
            <a:ext cx="4160520" cy="822960"/>
            <a:chOff x="320040" y="868326"/>
            <a:chExt cx="4160520" cy="822960"/>
          </a:xfrm>
        </p:grpSpPr>
        <p:sp>
          <p:nvSpPr>
            <p:cNvPr id="9" name="object 9"/>
            <p:cNvSpPr/>
            <p:nvPr/>
          </p:nvSpPr>
          <p:spPr>
            <a:xfrm>
              <a:off x="320040" y="868326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4160164" y="0"/>
                  </a:moveTo>
                  <a:lnTo>
                    <a:pt x="0" y="0"/>
                  </a:lnTo>
                  <a:lnTo>
                    <a:pt x="0" y="822591"/>
                  </a:lnTo>
                  <a:lnTo>
                    <a:pt x="2080082" y="822591"/>
                  </a:lnTo>
                  <a:lnTo>
                    <a:pt x="4160164" y="822591"/>
                  </a:lnTo>
                  <a:lnTo>
                    <a:pt x="41601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0040" y="868326"/>
              <a:ext cx="411480" cy="822960"/>
            </a:xfrm>
            <a:custGeom>
              <a:avLst/>
              <a:gdLst/>
              <a:ahLst/>
              <a:cxnLst/>
              <a:rect l="l" t="t" r="r" b="b"/>
              <a:pathLst>
                <a:path w="411480" h="822960">
                  <a:moveTo>
                    <a:pt x="411124" y="0"/>
                  </a:moveTo>
                  <a:lnTo>
                    <a:pt x="0" y="0"/>
                  </a:lnTo>
                  <a:lnTo>
                    <a:pt x="0" y="822591"/>
                  </a:lnTo>
                  <a:lnTo>
                    <a:pt x="205562" y="822591"/>
                  </a:lnTo>
                  <a:lnTo>
                    <a:pt x="411124" y="822591"/>
                  </a:lnTo>
                  <a:lnTo>
                    <a:pt x="411124" y="0"/>
                  </a:lnTo>
                  <a:close/>
                </a:path>
              </a:pathLst>
            </a:custGeom>
            <a:solidFill>
              <a:srgbClr val="00C1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13740" y="862026"/>
          <a:ext cx="4159885" cy="822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14935">
                        <a:lnSpc>
                          <a:spcPct val="100000"/>
                        </a:lnSpc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00C1CA"/>
                      </a:solidFill>
                      <a:prstDash val="solid"/>
                    </a:lnL>
                    <a:lnR w="12700">
                      <a:solidFill>
                        <a:srgbClr val="00C1CA"/>
                      </a:solidFill>
                      <a:prstDash val="solid"/>
                    </a:lnR>
                    <a:lnT w="12700">
                      <a:solidFill>
                        <a:srgbClr val="00C1CA"/>
                      </a:solidFill>
                      <a:prstDash val="solid"/>
                    </a:lnT>
                    <a:lnB w="12700">
                      <a:solidFill>
                        <a:srgbClr val="00C1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050" b="1" spc="-1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Introduction</a:t>
                      </a:r>
                      <a:r>
                        <a:rPr sz="1050" b="1" spc="-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&amp; </a:t>
                      </a:r>
                      <a:r>
                        <a:rPr sz="1050" b="1" spc="-1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Motivation</a:t>
                      </a:r>
                      <a:endParaRPr sz="10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850" i="1" spc="-80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850" i="1" spc="-20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i="1" spc="-114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KD</a:t>
                      </a:r>
                      <a:r>
                        <a:rPr sz="850" i="1" spc="-1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i="1" spc="-40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problem:</a:t>
                      </a:r>
                      <a:r>
                        <a:rPr sz="850" i="1" spc="-1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i="1" spc="-50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cost,</a:t>
                      </a:r>
                      <a:r>
                        <a:rPr sz="850" i="1" spc="-1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i="1" spc="-4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latency,</a:t>
                      </a:r>
                      <a:r>
                        <a:rPr sz="850" i="1" spc="-2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i="1" spc="-10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privacy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139065" marB="0">
                    <a:lnL w="12700">
                      <a:solidFill>
                        <a:srgbClr val="00C1CA"/>
                      </a:solidFill>
                      <a:prstDash val="solid"/>
                    </a:lnL>
                    <a:lnR w="12700">
                      <a:solidFill>
                        <a:srgbClr val="00C1CA"/>
                      </a:solidFill>
                      <a:prstDash val="solid"/>
                    </a:lnR>
                    <a:lnT w="12700">
                      <a:solidFill>
                        <a:srgbClr val="00C1CA"/>
                      </a:solidFill>
                      <a:prstDash val="solid"/>
                    </a:lnT>
                    <a:lnB w="12700">
                      <a:solidFill>
                        <a:srgbClr val="00C1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62" y="1765784"/>
            <a:ext cx="4375797" cy="1037894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320040" y="1846797"/>
            <a:ext cx="4160520" cy="822960"/>
            <a:chOff x="320040" y="1846797"/>
            <a:chExt cx="4160520" cy="822960"/>
          </a:xfrm>
        </p:grpSpPr>
        <p:sp>
          <p:nvSpPr>
            <p:cNvPr id="14" name="object 14"/>
            <p:cNvSpPr/>
            <p:nvPr/>
          </p:nvSpPr>
          <p:spPr>
            <a:xfrm>
              <a:off x="320040" y="1846797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4160164" y="0"/>
                  </a:moveTo>
                  <a:lnTo>
                    <a:pt x="0" y="0"/>
                  </a:lnTo>
                  <a:lnTo>
                    <a:pt x="0" y="822604"/>
                  </a:lnTo>
                  <a:lnTo>
                    <a:pt x="2080082" y="822604"/>
                  </a:lnTo>
                  <a:lnTo>
                    <a:pt x="4160164" y="822604"/>
                  </a:lnTo>
                  <a:lnTo>
                    <a:pt x="41601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0040" y="1846797"/>
              <a:ext cx="411480" cy="822960"/>
            </a:xfrm>
            <a:custGeom>
              <a:avLst/>
              <a:gdLst/>
              <a:ahLst/>
              <a:cxnLst/>
              <a:rect l="l" t="t" r="r" b="b"/>
              <a:pathLst>
                <a:path w="411480" h="822960">
                  <a:moveTo>
                    <a:pt x="411124" y="0"/>
                  </a:moveTo>
                  <a:lnTo>
                    <a:pt x="0" y="0"/>
                  </a:lnTo>
                  <a:lnTo>
                    <a:pt x="0" y="822604"/>
                  </a:lnTo>
                  <a:lnTo>
                    <a:pt x="205562" y="822604"/>
                  </a:lnTo>
                  <a:lnTo>
                    <a:pt x="411124" y="822604"/>
                  </a:lnTo>
                  <a:lnTo>
                    <a:pt x="411124" y="0"/>
                  </a:lnTo>
                  <a:close/>
                </a:path>
              </a:pathLst>
            </a:custGeom>
            <a:solidFill>
              <a:srgbClr val="F3A1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313740" y="1840498"/>
          <a:ext cx="4159885" cy="822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14935">
                        <a:lnSpc>
                          <a:spcPct val="100000"/>
                        </a:lnSpc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F3A160"/>
                      </a:solidFill>
                      <a:prstDash val="solid"/>
                    </a:lnL>
                    <a:lnR w="12700">
                      <a:solidFill>
                        <a:srgbClr val="F3A160"/>
                      </a:solidFill>
                      <a:prstDash val="solid"/>
                    </a:lnR>
                    <a:lnT w="12700">
                      <a:solidFill>
                        <a:srgbClr val="F3A160"/>
                      </a:solidFill>
                      <a:prstDash val="solid"/>
                    </a:lnT>
                    <a:lnB w="12700">
                      <a:solidFill>
                        <a:srgbClr val="F3A1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050" b="1" spc="-1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Theoretical Framework</a:t>
                      </a:r>
                      <a:endParaRPr sz="10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850" i="1" spc="-7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Teacher-</a:t>
                      </a:r>
                      <a:r>
                        <a:rPr sz="850" i="1" spc="-50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Student</a:t>
                      </a:r>
                      <a:r>
                        <a:rPr sz="850" i="1" spc="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i="1" spc="-4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model,</a:t>
                      </a:r>
                      <a:r>
                        <a:rPr sz="850" i="1" spc="10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i="1" spc="-6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loss</a:t>
                      </a:r>
                      <a:r>
                        <a:rPr sz="850" i="1" spc="10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i="1" spc="-10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functions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139065" marB="0">
                    <a:lnL w="12700">
                      <a:solidFill>
                        <a:srgbClr val="F3A160"/>
                      </a:solidFill>
                      <a:prstDash val="solid"/>
                    </a:lnL>
                    <a:lnR w="12700">
                      <a:solidFill>
                        <a:srgbClr val="F3A160"/>
                      </a:solidFill>
                      <a:prstDash val="solid"/>
                    </a:lnR>
                    <a:lnT w="12700">
                      <a:solidFill>
                        <a:srgbClr val="F3A160"/>
                      </a:solidFill>
                      <a:prstDash val="solid"/>
                    </a:lnT>
                    <a:lnB w="12700">
                      <a:solidFill>
                        <a:srgbClr val="F3A1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62" y="2744268"/>
            <a:ext cx="4375797" cy="1037894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320040" y="2825282"/>
            <a:ext cx="4160520" cy="822960"/>
            <a:chOff x="320040" y="2825282"/>
            <a:chExt cx="4160520" cy="822960"/>
          </a:xfrm>
        </p:grpSpPr>
        <p:sp>
          <p:nvSpPr>
            <p:cNvPr id="19" name="object 19"/>
            <p:cNvSpPr/>
            <p:nvPr/>
          </p:nvSpPr>
          <p:spPr>
            <a:xfrm>
              <a:off x="320040" y="2825282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4160164" y="0"/>
                  </a:moveTo>
                  <a:lnTo>
                    <a:pt x="0" y="0"/>
                  </a:lnTo>
                  <a:lnTo>
                    <a:pt x="0" y="822604"/>
                  </a:lnTo>
                  <a:lnTo>
                    <a:pt x="2080082" y="822604"/>
                  </a:lnTo>
                  <a:lnTo>
                    <a:pt x="4160164" y="822604"/>
                  </a:lnTo>
                  <a:lnTo>
                    <a:pt x="41601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0040" y="2825282"/>
              <a:ext cx="411480" cy="822960"/>
            </a:xfrm>
            <a:custGeom>
              <a:avLst/>
              <a:gdLst/>
              <a:ahLst/>
              <a:cxnLst/>
              <a:rect l="l" t="t" r="r" b="b"/>
              <a:pathLst>
                <a:path w="411480" h="822960">
                  <a:moveTo>
                    <a:pt x="411124" y="0"/>
                  </a:moveTo>
                  <a:lnTo>
                    <a:pt x="0" y="0"/>
                  </a:lnTo>
                  <a:lnTo>
                    <a:pt x="0" y="822604"/>
                  </a:lnTo>
                  <a:lnTo>
                    <a:pt x="205562" y="822604"/>
                  </a:lnTo>
                  <a:lnTo>
                    <a:pt x="411124" y="822604"/>
                  </a:lnTo>
                  <a:lnTo>
                    <a:pt x="411124" y="0"/>
                  </a:lnTo>
                  <a:close/>
                </a:path>
              </a:pathLst>
            </a:custGeom>
            <a:solidFill>
              <a:srgbClr val="1D5E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313740" y="2818982"/>
          <a:ext cx="4159885" cy="822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149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1D5EAC"/>
                      </a:solidFill>
                      <a:prstDash val="solid"/>
                    </a:lnL>
                    <a:lnR w="12700">
                      <a:solidFill>
                        <a:srgbClr val="1D5EAC"/>
                      </a:solidFill>
                      <a:prstDash val="solid"/>
                    </a:lnR>
                    <a:lnT w="12700">
                      <a:solidFill>
                        <a:srgbClr val="1D5EAC"/>
                      </a:solidFill>
                      <a:prstDash val="solid"/>
                    </a:lnT>
                    <a:lnB w="12700">
                      <a:solidFill>
                        <a:srgbClr val="1D5EA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050" b="1" spc="-1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Types</a:t>
                      </a:r>
                      <a:r>
                        <a:rPr sz="1050" b="1" spc="-3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050" b="1" spc="-3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Knowledge</a:t>
                      </a:r>
                      <a:r>
                        <a:rPr sz="1050" b="1" spc="-2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Distillation</a:t>
                      </a:r>
                      <a:endParaRPr sz="10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850" i="1" spc="-80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Response,</a:t>
                      </a:r>
                      <a:r>
                        <a:rPr sz="850" i="1" spc="3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i="1" spc="-50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Feature,</a:t>
                      </a:r>
                      <a:r>
                        <a:rPr sz="850" i="1" spc="20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i="1" spc="-4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Relation-</a:t>
                      </a:r>
                      <a:r>
                        <a:rPr sz="850" i="1" spc="-20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based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139065" marB="0">
                    <a:lnL w="12700">
                      <a:solidFill>
                        <a:srgbClr val="1D5EAC"/>
                      </a:solidFill>
                      <a:prstDash val="solid"/>
                    </a:lnL>
                    <a:lnR w="12700">
                      <a:solidFill>
                        <a:srgbClr val="1D5EAC"/>
                      </a:solidFill>
                      <a:prstDash val="solid"/>
                    </a:lnR>
                    <a:lnT w="12700">
                      <a:solidFill>
                        <a:srgbClr val="1D5EAC"/>
                      </a:solidFill>
                      <a:prstDash val="solid"/>
                    </a:lnT>
                    <a:lnB w="12700">
                      <a:solidFill>
                        <a:srgbClr val="1D5EA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62" y="3722384"/>
            <a:ext cx="4375797" cy="1037894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320040" y="3803398"/>
            <a:ext cx="4160520" cy="822960"/>
            <a:chOff x="320040" y="3803398"/>
            <a:chExt cx="4160520" cy="822960"/>
          </a:xfrm>
        </p:grpSpPr>
        <p:sp>
          <p:nvSpPr>
            <p:cNvPr id="24" name="object 24"/>
            <p:cNvSpPr/>
            <p:nvPr/>
          </p:nvSpPr>
          <p:spPr>
            <a:xfrm>
              <a:off x="320040" y="3803398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4160164" y="0"/>
                  </a:moveTo>
                  <a:lnTo>
                    <a:pt x="0" y="0"/>
                  </a:lnTo>
                  <a:lnTo>
                    <a:pt x="0" y="822604"/>
                  </a:lnTo>
                  <a:lnTo>
                    <a:pt x="2080082" y="822604"/>
                  </a:lnTo>
                  <a:lnTo>
                    <a:pt x="4160164" y="822604"/>
                  </a:lnTo>
                  <a:lnTo>
                    <a:pt x="41601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0040" y="3803398"/>
              <a:ext cx="411480" cy="822960"/>
            </a:xfrm>
            <a:custGeom>
              <a:avLst/>
              <a:gdLst/>
              <a:ahLst/>
              <a:cxnLst/>
              <a:rect l="l" t="t" r="r" b="b"/>
              <a:pathLst>
                <a:path w="411480" h="822960">
                  <a:moveTo>
                    <a:pt x="411124" y="0"/>
                  </a:moveTo>
                  <a:lnTo>
                    <a:pt x="0" y="0"/>
                  </a:lnTo>
                  <a:lnTo>
                    <a:pt x="0" y="822604"/>
                  </a:lnTo>
                  <a:lnTo>
                    <a:pt x="205562" y="822604"/>
                  </a:lnTo>
                  <a:lnTo>
                    <a:pt x="411124" y="822604"/>
                  </a:lnTo>
                  <a:lnTo>
                    <a:pt x="411124" y="0"/>
                  </a:lnTo>
                  <a:close/>
                </a:path>
              </a:pathLst>
            </a:custGeom>
            <a:solidFill>
              <a:srgbClr val="8A5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313740" y="3797098"/>
          <a:ext cx="4159885" cy="822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14935">
                        <a:lnSpc>
                          <a:spcPct val="100000"/>
                        </a:lnSpc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8A5BF5"/>
                      </a:solidFill>
                      <a:prstDash val="solid"/>
                    </a:lnL>
                    <a:lnR w="12700">
                      <a:solidFill>
                        <a:srgbClr val="8A5BF5"/>
                      </a:solidFill>
                      <a:prstDash val="solid"/>
                    </a:lnR>
                    <a:lnT w="12700">
                      <a:solidFill>
                        <a:srgbClr val="8A5BF5"/>
                      </a:solidFill>
                      <a:prstDash val="solid"/>
                    </a:lnT>
                    <a:lnB w="12700">
                      <a:solidFill>
                        <a:srgbClr val="8A5B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050" b="1" spc="-2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LLM-</a:t>
                      </a:r>
                      <a:r>
                        <a:rPr sz="1050" b="1" spc="-1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Specific</a:t>
                      </a:r>
                      <a:r>
                        <a:rPr sz="1050" b="1" spc="2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Techniques</a:t>
                      </a:r>
                      <a:endParaRPr sz="10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850" i="1" spc="-114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CoT</a:t>
                      </a:r>
                      <a:r>
                        <a:rPr sz="850" i="1" spc="-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i="1" spc="-2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Distillation,</a:t>
                      </a:r>
                      <a:r>
                        <a:rPr sz="850" i="1" spc="-1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i="1" spc="-114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RLKD,</a:t>
                      </a:r>
                      <a:r>
                        <a:rPr sz="850" i="1" spc="-10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i="1" spc="-8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Spec.</a:t>
                      </a:r>
                      <a:r>
                        <a:rPr sz="850" i="1" spc="-10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 Decoding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139700" marB="0">
                    <a:lnL w="12700">
                      <a:solidFill>
                        <a:srgbClr val="8A5BF5"/>
                      </a:solidFill>
                      <a:prstDash val="solid"/>
                    </a:lnL>
                    <a:lnR w="12700">
                      <a:solidFill>
                        <a:srgbClr val="8A5BF5"/>
                      </a:solidFill>
                      <a:prstDash val="solid"/>
                    </a:lnR>
                    <a:lnT w="12700">
                      <a:solidFill>
                        <a:srgbClr val="8A5BF5"/>
                      </a:solidFill>
                      <a:prstDash val="solid"/>
                    </a:lnT>
                    <a:lnB w="12700">
                      <a:solidFill>
                        <a:srgbClr val="8A5BF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0602" y="787300"/>
            <a:ext cx="4375797" cy="1037907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4754879" y="868326"/>
            <a:ext cx="4160520" cy="822960"/>
            <a:chOff x="4754879" y="868326"/>
            <a:chExt cx="4160520" cy="822960"/>
          </a:xfrm>
        </p:grpSpPr>
        <p:sp>
          <p:nvSpPr>
            <p:cNvPr id="29" name="object 29"/>
            <p:cNvSpPr/>
            <p:nvPr/>
          </p:nvSpPr>
          <p:spPr>
            <a:xfrm>
              <a:off x="4754879" y="868326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4160164" y="0"/>
                  </a:moveTo>
                  <a:lnTo>
                    <a:pt x="0" y="0"/>
                  </a:lnTo>
                  <a:lnTo>
                    <a:pt x="0" y="822591"/>
                  </a:lnTo>
                  <a:lnTo>
                    <a:pt x="2080082" y="822591"/>
                  </a:lnTo>
                  <a:lnTo>
                    <a:pt x="4160164" y="822591"/>
                  </a:lnTo>
                  <a:lnTo>
                    <a:pt x="41601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754879" y="868326"/>
              <a:ext cx="411480" cy="822960"/>
            </a:xfrm>
            <a:custGeom>
              <a:avLst/>
              <a:gdLst/>
              <a:ahLst/>
              <a:cxnLst/>
              <a:rect l="l" t="t" r="r" b="b"/>
              <a:pathLst>
                <a:path w="411479" h="822960">
                  <a:moveTo>
                    <a:pt x="411124" y="0"/>
                  </a:moveTo>
                  <a:lnTo>
                    <a:pt x="0" y="0"/>
                  </a:lnTo>
                  <a:lnTo>
                    <a:pt x="0" y="822591"/>
                  </a:lnTo>
                  <a:lnTo>
                    <a:pt x="205562" y="822591"/>
                  </a:lnTo>
                  <a:lnTo>
                    <a:pt x="411124" y="822591"/>
                  </a:lnTo>
                  <a:lnTo>
                    <a:pt x="411124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4748579" y="862026"/>
          <a:ext cx="4159885" cy="822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14935">
                        <a:lnSpc>
                          <a:spcPct val="100000"/>
                        </a:lnSpc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21C45D"/>
                      </a:solidFill>
                      <a:prstDash val="solid"/>
                    </a:lnL>
                    <a:lnR w="12700">
                      <a:solidFill>
                        <a:srgbClr val="21C45D"/>
                      </a:solidFill>
                      <a:prstDash val="solid"/>
                    </a:lnR>
                    <a:lnT w="12700">
                      <a:solidFill>
                        <a:srgbClr val="21C45D"/>
                      </a:solidFill>
                      <a:prstDash val="solid"/>
                    </a:lnT>
                    <a:lnB w="12700">
                      <a:solidFill>
                        <a:srgbClr val="21C45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050" b="1" spc="-1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Scaling</a:t>
                      </a:r>
                      <a:r>
                        <a:rPr sz="1050" b="1" spc="-3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Laws</a:t>
                      </a:r>
                      <a:r>
                        <a:rPr sz="1050" b="1" spc="-2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050" b="1" spc="-4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Capacity</a:t>
                      </a:r>
                      <a:r>
                        <a:rPr sz="1050" b="1" spc="-3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2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Gap</a:t>
                      </a:r>
                      <a:endParaRPr sz="10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850" i="1" spc="-3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Optimal</a:t>
                      </a:r>
                      <a:r>
                        <a:rPr sz="850" i="1" spc="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i="1" spc="-3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temperature,</a:t>
                      </a:r>
                      <a:r>
                        <a:rPr sz="850" i="1" spc="-1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i="1" spc="-2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sz="850" i="1" spc="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i="1" spc="-4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volume,</a:t>
                      </a:r>
                      <a:r>
                        <a:rPr sz="850" i="1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i="1" spc="-10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ratios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139065" marB="0">
                    <a:lnL w="12700">
                      <a:solidFill>
                        <a:srgbClr val="21C45D"/>
                      </a:solidFill>
                      <a:prstDash val="solid"/>
                    </a:lnL>
                    <a:lnR w="12700">
                      <a:solidFill>
                        <a:srgbClr val="21C45D"/>
                      </a:solidFill>
                      <a:prstDash val="solid"/>
                    </a:lnR>
                    <a:lnT w="12700">
                      <a:solidFill>
                        <a:srgbClr val="21C45D"/>
                      </a:solidFill>
                      <a:prstDash val="solid"/>
                    </a:lnT>
                    <a:lnB w="12700">
                      <a:solidFill>
                        <a:srgbClr val="21C45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2" name="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0602" y="1765784"/>
            <a:ext cx="4375797" cy="1037894"/>
          </a:xfrm>
          <a:prstGeom prst="rect">
            <a:avLst/>
          </a:prstGeom>
        </p:spPr>
      </p:pic>
      <p:grpSp>
        <p:nvGrpSpPr>
          <p:cNvPr id="33" name="object 33"/>
          <p:cNvGrpSpPr/>
          <p:nvPr/>
        </p:nvGrpSpPr>
        <p:grpSpPr>
          <a:xfrm>
            <a:off x="4754879" y="1846797"/>
            <a:ext cx="4160520" cy="822960"/>
            <a:chOff x="4754879" y="1846797"/>
            <a:chExt cx="4160520" cy="822960"/>
          </a:xfrm>
        </p:grpSpPr>
        <p:sp>
          <p:nvSpPr>
            <p:cNvPr id="34" name="object 34"/>
            <p:cNvSpPr/>
            <p:nvPr/>
          </p:nvSpPr>
          <p:spPr>
            <a:xfrm>
              <a:off x="4754879" y="1846797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4160164" y="0"/>
                  </a:moveTo>
                  <a:lnTo>
                    <a:pt x="0" y="0"/>
                  </a:lnTo>
                  <a:lnTo>
                    <a:pt x="0" y="822604"/>
                  </a:lnTo>
                  <a:lnTo>
                    <a:pt x="2080082" y="822604"/>
                  </a:lnTo>
                  <a:lnTo>
                    <a:pt x="4160164" y="822604"/>
                  </a:lnTo>
                  <a:lnTo>
                    <a:pt x="41601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754879" y="1846797"/>
              <a:ext cx="411480" cy="822960"/>
            </a:xfrm>
            <a:custGeom>
              <a:avLst/>
              <a:gdLst/>
              <a:ahLst/>
              <a:cxnLst/>
              <a:rect l="l" t="t" r="r" b="b"/>
              <a:pathLst>
                <a:path w="411479" h="822960">
                  <a:moveTo>
                    <a:pt x="411124" y="0"/>
                  </a:moveTo>
                  <a:lnTo>
                    <a:pt x="0" y="0"/>
                  </a:lnTo>
                  <a:lnTo>
                    <a:pt x="0" y="822604"/>
                  </a:lnTo>
                  <a:lnTo>
                    <a:pt x="205562" y="822604"/>
                  </a:lnTo>
                  <a:lnTo>
                    <a:pt x="411124" y="822604"/>
                  </a:lnTo>
                  <a:lnTo>
                    <a:pt x="411124" y="0"/>
                  </a:lnTo>
                  <a:close/>
                </a:path>
              </a:pathLst>
            </a:custGeom>
            <a:solidFill>
              <a:srgbClr val="EE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4748579" y="1840498"/>
          <a:ext cx="4159885" cy="822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14935">
                        <a:lnSpc>
                          <a:spcPct val="100000"/>
                        </a:lnSpc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EE4343"/>
                      </a:solidFill>
                      <a:prstDash val="solid"/>
                    </a:lnL>
                    <a:lnR w="12700">
                      <a:solidFill>
                        <a:srgbClr val="EE4343"/>
                      </a:solidFill>
                      <a:prstDash val="solid"/>
                    </a:lnR>
                    <a:lnT w="12700">
                      <a:solidFill>
                        <a:srgbClr val="EE4343"/>
                      </a:solidFill>
                      <a:prstDash val="solid"/>
                    </a:lnT>
                    <a:lnB w="12700">
                      <a:solidFill>
                        <a:srgbClr val="EE434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050" b="1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Case</a:t>
                      </a:r>
                      <a:r>
                        <a:rPr sz="1050" b="1" spc="-2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Studies</a:t>
                      </a:r>
                      <a:endParaRPr sz="10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850" i="1" spc="-8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DeepSeek-R1,</a:t>
                      </a:r>
                      <a:r>
                        <a:rPr sz="850" i="1" spc="30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i="1" spc="-10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TinyBERT,</a:t>
                      </a:r>
                      <a:r>
                        <a:rPr sz="850" i="1" spc="1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i="1" spc="-80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DistilBERT,</a:t>
                      </a:r>
                      <a:r>
                        <a:rPr sz="850" i="1" spc="1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i="1" spc="-20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Orca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139065" marB="0">
                    <a:lnL w="12700">
                      <a:solidFill>
                        <a:srgbClr val="EE4343"/>
                      </a:solidFill>
                      <a:prstDash val="solid"/>
                    </a:lnL>
                    <a:lnR w="12700">
                      <a:solidFill>
                        <a:srgbClr val="EE4343"/>
                      </a:solidFill>
                      <a:prstDash val="solid"/>
                    </a:lnR>
                    <a:lnT w="12700">
                      <a:solidFill>
                        <a:srgbClr val="EE4343"/>
                      </a:solidFill>
                      <a:prstDash val="solid"/>
                    </a:lnT>
                    <a:lnB w="12700">
                      <a:solidFill>
                        <a:srgbClr val="EE434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7" name="object 3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0602" y="2744268"/>
            <a:ext cx="4375797" cy="1037894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4754879" y="2825282"/>
            <a:ext cx="4160520" cy="822960"/>
            <a:chOff x="4754879" y="2825282"/>
            <a:chExt cx="4160520" cy="822960"/>
          </a:xfrm>
        </p:grpSpPr>
        <p:sp>
          <p:nvSpPr>
            <p:cNvPr id="39" name="object 39"/>
            <p:cNvSpPr/>
            <p:nvPr/>
          </p:nvSpPr>
          <p:spPr>
            <a:xfrm>
              <a:off x="4754879" y="2825282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4160164" y="0"/>
                  </a:moveTo>
                  <a:lnTo>
                    <a:pt x="0" y="0"/>
                  </a:lnTo>
                  <a:lnTo>
                    <a:pt x="0" y="822604"/>
                  </a:lnTo>
                  <a:lnTo>
                    <a:pt x="2080082" y="822604"/>
                  </a:lnTo>
                  <a:lnTo>
                    <a:pt x="4160164" y="822604"/>
                  </a:lnTo>
                  <a:lnTo>
                    <a:pt x="41601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754879" y="2825282"/>
              <a:ext cx="411480" cy="822960"/>
            </a:xfrm>
            <a:custGeom>
              <a:avLst/>
              <a:gdLst/>
              <a:ahLst/>
              <a:cxnLst/>
              <a:rect l="l" t="t" r="r" b="b"/>
              <a:pathLst>
                <a:path w="411479" h="822960">
                  <a:moveTo>
                    <a:pt x="411124" y="0"/>
                  </a:moveTo>
                  <a:lnTo>
                    <a:pt x="0" y="0"/>
                  </a:lnTo>
                  <a:lnTo>
                    <a:pt x="0" y="822604"/>
                  </a:lnTo>
                  <a:lnTo>
                    <a:pt x="205562" y="822604"/>
                  </a:lnTo>
                  <a:lnTo>
                    <a:pt x="411124" y="822604"/>
                  </a:lnTo>
                  <a:lnTo>
                    <a:pt x="411124" y="0"/>
                  </a:lnTo>
                  <a:close/>
                </a:path>
              </a:pathLst>
            </a:custGeom>
            <a:solidFill>
              <a:srgbClr val="00C1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1" name="object 41"/>
          <p:cNvGraphicFramePr>
            <a:graphicFrameLocks noGrp="1"/>
          </p:cNvGraphicFramePr>
          <p:nvPr/>
        </p:nvGraphicFramePr>
        <p:xfrm>
          <a:off x="4748579" y="2818982"/>
          <a:ext cx="4159885" cy="822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149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00C1CA"/>
                      </a:solidFill>
                      <a:prstDash val="solid"/>
                    </a:lnL>
                    <a:lnR w="12700">
                      <a:solidFill>
                        <a:srgbClr val="00C1CA"/>
                      </a:solidFill>
                      <a:prstDash val="solid"/>
                    </a:lnR>
                    <a:lnT w="12700">
                      <a:solidFill>
                        <a:srgbClr val="00C1CA"/>
                      </a:solidFill>
                      <a:prstDash val="solid"/>
                    </a:lnT>
                    <a:lnB w="12700">
                      <a:solidFill>
                        <a:srgbClr val="00C1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050" b="1" spc="-1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Benefits,</a:t>
                      </a:r>
                      <a:r>
                        <a:rPr sz="1050" b="1" spc="-1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Challenges </a:t>
                      </a:r>
                      <a:r>
                        <a:rPr sz="1050" b="1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050" b="1" spc="-1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 Future</a:t>
                      </a:r>
                      <a:endParaRPr sz="10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850" i="1" spc="-3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Hallucination,</a:t>
                      </a:r>
                      <a:r>
                        <a:rPr sz="850" i="1" spc="-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i="1" spc="-30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alignment,</a:t>
                      </a:r>
                      <a:r>
                        <a:rPr sz="850" i="1" spc="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i="1" spc="-30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legal</a:t>
                      </a:r>
                      <a:r>
                        <a:rPr sz="850" i="1" spc="20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i="1" spc="-10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constraints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139065" marB="0">
                    <a:lnL w="12700">
                      <a:solidFill>
                        <a:srgbClr val="00C1CA"/>
                      </a:solidFill>
                      <a:prstDash val="solid"/>
                    </a:lnL>
                    <a:lnR w="12700">
                      <a:solidFill>
                        <a:srgbClr val="00C1CA"/>
                      </a:solidFill>
                      <a:prstDash val="solid"/>
                    </a:lnR>
                    <a:lnT w="12700">
                      <a:solidFill>
                        <a:srgbClr val="00C1CA"/>
                      </a:solidFill>
                      <a:prstDash val="solid"/>
                    </a:lnT>
                    <a:lnB w="12700">
                      <a:solidFill>
                        <a:srgbClr val="00C1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2" name="object 4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0602" y="3722384"/>
            <a:ext cx="4375797" cy="1037894"/>
          </a:xfrm>
          <a:prstGeom prst="rect">
            <a:avLst/>
          </a:prstGeom>
        </p:spPr>
      </p:pic>
      <p:grpSp>
        <p:nvGrpSpPr>
          <p:cNvPr id="43" name="object 43"/>
          <p:cNvGrpSpPr/>
          <p:nvPr/>
        </p:nvGrpSpPr>
        <p:grpSpPr>
          <a:xfrm>
            <a:off x="4754879" y="3803398"/>
            <a:ext cx="4160520" cy="822960"/>
            <a:chOff x="4754879" y="3803398"/>
            <a:chExt cx="4160520" cy="822960"/>
          </a:xfrm>
        </p:grpSpPr>
        <p:sp>
          <p:nvSpPr>
            <p:cNvPr id="44" name="object 44"/>
            <p:cNvSpPr/>
            <p:nvPr/>
          </p:nvSpPr>
          <p:spPr>
            <a:xfrm>
              <a:off x="4754879" y="3803398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4160164" y="0"/>
                  </a:moveTo>
                  <a:lnTo>
                    <a:pt x="0" y="0"/>
                  </a:lnTo>
                  <a:lnTo>
                    <a:pt x="0" y="822604"/>
                  </a:lnTo>
                  <a:lnTo>
                    <a:pt x="2080082" y="822604"/>
                  </a:lnTo>
                  <a:lnTo>
                    <a:pt x="4160164" y="822604"/>
                  </a:lnTo>
                  <a:lnTo>
                    <a:pt x="41601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754879" y="3803398"/>
              <a:ext cx="411480" cy="822960"/>
            </a:xfrm>
            <a:custGeom>
              <a:avLst/>
              <a:gdLst/>
              <a:ahLst/>
              <a:cxnLst/>
              <a:rect l="l" t="t" r="r" b="b"/>
              <a:pathLst>
                <a:path w="411479" h="822960">
                  <a:moveTo>
                    <a:pt x="411124" y="0"/>
                  </a:moveTo>
                  <a:lnTo>
                    <a:pt x="0" y="0"/>
                  </a:lnTo>
                  <a:lnTo>
                    <a:pt x="0" y="822604"/>
                  </a:lnTo>
                  <a:lnTo>
                    <a:pt x="205562" y="822604"/>
                  </a:lnTo>
                  <a:lnTo>
                    <a:pt x="411124" y="822604"/>
                  </a:lnTo>
                  <a:lnTo>
                    <a:pt x="411124" y="0"/>
                  </a:lnTo>
                  <a:close/>
                </a:path>
              </a:pathLst>
            </a:custGeom>
            <a:solidFill>
              <a:srgbClr val="F3A1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6" name="object 46"/>
          <p:cNvGraphicFramePr>
            <a:graphicFrameLocks noGrp="1"/>
          </p:cNvGraphicFramePr>
          <p:nvPr/>
        </p:nvGraphicFramePr>
        <p:xfrm>
          <a:off x="4748579" y="3797098"/>
          <a:ext cx="4159885" cy="822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14935">
                        <a:lnSpc>
                          <a:spcPct val="100000"/>
                        </a:lnSpc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F3A160"/>
                      </a:solidFill>
                      <a:prstDash val="solid"/>
                    </a:lnL>
                    <a:lnR w="12700">
                      <a:solidFill>
                        <a:srgbClr val="F3A160"/>
                      </a:solidFill>
                      <a:prstDash val="solid"/>
                    </a:lnR>
                    <a:lnT w="12700">
                      <a:solidFill>
                        <a:srgbClr val="F3A160"/>
                      </a:solidFill>
                      <a:prstDash val="solid"/>
                    </a:lnT>
                    <a:lnB w="12700">
                      <a:solidFill>
                        <a:srgbClr val="F3A1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050" b="1" spc="-1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Conclusion</a:t>
                      </a:r>
                      <a:endParaRPr sz="10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850" i="1" spc="-9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Key</a:t>
                      </a:r>
                      <a:r>
                        <a:rPr sz="850" i="1" spc="-20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i="1" spc="-50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takeaways</a:t>
                      </a:r>
                      <a:r>
                        <a:rPr sz="850" i="1" spc="-1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i="1" spc="-45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850" i="1" spc="-20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i="1" spc="-10" dirty="0">
                          <a:solidFill>
                            <a:srgbClr val="63738A"/>
                          </a:solidFill>
                          <a:latin typeface="Arial"/>
                          <a:cs typeface="Arial"/>
                        </a:rPr>
                        <a:t>outlook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139700" marB="0">
                    <a:lnL w="12700">
                      <a:solidFill>
                        <a:srgbClr val="F3A160"/>
                      </a:solidFill>
                      <a:prstDash val="solid"/>
                    </a:lnL>
                    <a:lnR w="12700">
                      <a:solidFill>
                        <a:srgbClr val="F3A160"/>
                      </a:solidFill>
                      <a:prstDash val="solid"/>
                    </a:lnR>
                    <a:lnT w="12700">
                      <a:solidFill>
                        <a:srgbClr val="F3A160"/>
                      </a:solidFill>
                      <a:prstDash val="solid"/>
                    </a:lnT>
                    <a:lnB w="12700">
                      <a:solidFill>
                        <a:srgbClr val="F3A1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10" dirty="0"/>
              <a:t>Knowledge</a:t>
            </a:r>
            <a:r>
              <a:rPr dirty="0"/>
              <a:t> </a:t>
            </a:r>
            <a:r>
              <a:rPr spc="-10" dirty="0"/>
              <a:t>Distillation</a:t>
            </a:r>
            <a:r>
              <a:rPr spc="-5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LLMs</a:t>
            </a:r>
            <a:r>
              <a:rPr spc="170" dirty="0"/>
              <a:t> </a:t>
            </a:r>
            <a:r>
              <a:rPr dirty="0"/>
              <a:t>|</a:t>
            </a:r>
            <a:r>
              <a:rPr spc="180" dirty="0"/>
              <a:t> </a:t>
            </a:r>
            <a:r>
              <a:rPr spc="-10" dirty="0"/>
              <a:t>Manisa</a:t>
            </a:r>
            <a:r>
              <a:rPr spc="-5" dirty="0"/>
              <a:t> </a:t>
            </a:r>
            <a:r>
              <a:rPr dirty="0"/>
              <a:t>Celal </a:t>
            </a:r>
            <a:r>
              <a:rPr spc="-10" dirty="0"/>
              <a:t>Bayar</a:t>
            </a:r>
            <a:r>
              <a:rPr spc="-5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/>
              <a:t>Introduction</a:t>
            </a:r>
            <a:r>
              <a:rPr sz="2000" spc="-30" dirty="0"/>
              <a:t> </a:t>
            </a:r>
            <a:r>
              <a:rPr sz="2000" dirty="0"/>
              <a:t>&amp;</a:t>
            </a:r>
            <a:r>
              <a:rPr sz="2000" spc="-10" dirty="0"/>
              <a:t> Motivation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6943941" y="232107"/>
            <a:ext cx="18903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spc="-65" dirty="0">
                <a:solidFill>
                  <a:srgbClr val="00C1CA"/>
                </a:solidFill>
                <a:latin typeface="Arial"/>
                <a:cs typeface="Arial"/>
              </a:rPr>
              <a:t>01</a:t>
            </a:r>
            <a:r>
              <a:rPr sz="1100" i="1" spc="-3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30" dirty="0">
                <a:solidFill>
                  <a:srgbClr val="00C1CA"/>
                </a:solidFill>
                <a:latin typeface="Arial"/>
                <a:cs typeface="Arial"/>
              </a:rPr>
              <a:t>-</a:t>
            </a:r>
            <a:r>
              <a:rPr sz="1100" i="1" spc="-4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70" dirty="0">
                <a:solidFill>
                  <a:srgbClr val="00C1CA"/>
                </a:solidFill>
                <a:latin typeface="Arial"/>
                <a:cs typeface="Arial"/>
              </a:rPr>
              <a:t>Why</a:t>
            </a:r>
            <a:r>
              <a:rPr sz="1100" i="1" spc="-40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70" dirty="0">
                <a:solidFill>
                  <a:srgbClr val="00C1CA"/>
                </a:solidFill>
                <a:latin typeface="Arial"/>
                <a:cs typeface="Arial"/>
              </a:rPr>
              <a:t>Knowledge</a:t>
            </a:r>
            <a:r>
              <a:rPr sz="1100" i="1" spc="-50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25" dirty="0">
                <a:solidFill>
                  <a:srgbClr val="00C1CA"/>
                </a:solidFill>
                <a:latin typeface="Arial"/>
                <a:cs typeface="Arial"/>
              </a:rPr>
              <a:t>Distillation?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6655" y="4885742"/>
            <a:ext cx="9156700" cy="264160"/>
            <a:chOff x="-6655" y="4885742"/>
            <a:chExt cx="9156700" cy="264160"/>
          </a:xfrm>
        </p:grpSpPr>
        <p:sp>
          <p:nvSpPr>
            <p:cNvPr id="5" name="object 5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631" y="0"/>
                  </a:moveTo>
                  <a:lnTo>
                    <a:pt x="0" y="0"/>
                  </a:lnTo>
                  <a:lnTo>
                    <a:pt x="0" y="251282"/>
                  </a:lnTo>
                  <a:lnTo>
                    <a:pt x="4572000" y="251282"/>
                  </a:lnTo>
                  <a:lnTo>
                    <a:pt x="9143631" y="251282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4572000" y="251282"/>
                  </a:moveTo>
                  <a:lnTo>
                    <a:pt x="0" y="251282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251282"/>
                  </a:lnTo>
                  <a:lnTo>
                    <a:pt x="4572000" y="251282"/>
                  </a:lnTo>
                  <a:close/>
                </a:path>
              </a:pathLst>
            </a:custGeom>
            <a:ln w="12599">
              <a:solidFill>
                <a:srgbClr val="0C1A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85394" y="714224"/>
            <a:ext cx="8719820" cy="763905"/>
            <a:chOff x="185394" y="714224"/>
            <a:chExt cx="8719820" cy="76390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394" y="714224"/>
              <a:ext cx="8719197" cy="76357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19684" y="795237"/>
              <a:ext cx="8503920" cy="548640"/>
            </a:xfrm>
            <a:custGeom>
              <a:avLst/>
              <a:gdLst/>
              <a:ahLst/>
              <a:cxnLst/>
              <a:rect l="l" t="t" r="r" b="b"/>
              <a:pathLst>
                <a:path w="8503920" h="548640">
                  <a:moveTo>
                    <a:pt x="8503551" y="0"/>
                  </a:moveTo>
                  <a:lnTo>
                    <a:pt x="0" y="0"/>
                  </a:lnTo>
                  <a:lnTo>
                    <a:pt x="0" y="548284"/>
                  </a:lnTo>
                  <a:lnTo>
                    <a:pt x="4251959" y="548284"/>
                  </a:lnTo>
                  <a:lnTo>
                    <a:pt x="8503551" y="548284"/>
                  </a:lnTo>
                  <a:lnTo>
                    <a:pt x="8503551" y="0"/>
                  </a:lnTo>
                  <a:close/>
                </a:path>
              </a:pathLst>
            </a:custGeom>
            <a:solidFill>
              <a:srgbClr val="1A39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19684" y="795237"/>
            <a:ext cx="8503920" cy="548640"/>
          </a:xfrm>
          <a:prstGeom prst="rect">
            <a:avLst/>
          </a:prstGeom>
          <a:ln w="12599">
            <a:solidFill>
              <a:srgbClr val="1A396A"/>
            </a:solidFill>
          </a:ln>
        </p:spPr>
        <p:txBody>
          <a:bodyPr vert="horz" wrap="square" lIns="0" tIns="129539" rIns="0" bIns="0" rtlCol="0">
            <a:spAutoFit/>
          </a:bodyPr>
          <a:lstStyle/>
          <a:p>
            <a:pPr marL="226695" marR="474345">
              <a:lnSpc>
                <a:spcPct val="100000"/>
              </a:lnSpc>
              <a:spcBef>
                <a:spcPts val="1019"/>
              </a:spcBef>
            </a:pPr>
            <a:r>
              <a:rPr sz="950" i="1" spc="-85" dirty="0">
                <a:solidFill>
                  <a:srgbClr val="FFFFFF"/>
                </a:solidFill>
                <a:latin typeface="Arial"/>
                <a:cs typeface="Arial"/>
              </a:rPr>
              <a:t>Core</a:t>
            </a:r>
            <a:r>
              <a:rPr sz="950" i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50" i="1" spc="-50" dirty="0">
                <a:solidFill>
                  <a:srgbClr val="FFFFFF"/>
                </a:solidFill>
                <a:latin typeface="Arial"/>
                <a:cs typeface="Arial"/>
              </a:rPr>
              <a:t>Problem:</a:t>
            </a:r>
            <a:r>
              <a:rPr sz="950" i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50" i="1" spc="-40" dirty="0">
                <a:solidFill>
                  <a:srgbClr val="FFFFFF"/>
                </a:solidFill>
                <a:latin typeface="Arial"/>
                <a:cs typeface="Arial"/>
              </a:rPr>
              <a:t>Frontier</a:t>
            </a:r>
            <a:r>
              <a:rPr sz="950" i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50" i="1" spc="-95" dirty="0">
                <a:solidFill>
                  <a:srgbClr val="FFFFFF"/>
                </a:solidFill>
                <a:latin typeface="Arial"/>
                <a:cs typeface="Arial"/>
              </a:rPr>
              <a:t>LLMs</a:t>
            </a:r>
            <a:r>
              <a:rPr sz="95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50" i="1" spc="-120" dirty="0">
                <a:solidFill>
                  <a:srgbClr val="FFFFFF"/>
                </a:solidFill>
                <a:latin typeface="Arial"/>
                <a:cs typeface="Arial"/>
              </a:rPr>
              <a:t>(GPT-</a:t>
            </a:r>
            <a:r>
              <a:rPr sz="950" i="1" spc="-40" dirty="0">
                <a:solidFill>
                  <a:srgbClr val="FFFFFF"/>
                </a:solidFill>
                <a:latin typeface="Arial"/>
                <a:cs typeface="Arial"/>
              </a:rPr>
              <a:t>4,</a:t>
            </a:r>
            <a:r>
              <a:rPr sz="950" i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50" i="1" spc="-70" dirty="0">
                <a:solidFill>
                  <a:srgbClr val="FFFFFF"/>
                </a:solidFill>
                <a:latin typeface="Arial"/>
                <a:cs typeface="Arial"/>
              </a:rPr>
              <a:t>LLaMA,</a:t>
            </a:r>
            <a:r>
              <a:rPr sz="95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50" i="1" spc="-95" dirty="0">
                <a:solidFill>
                  <a:srgbClr val="FFFFFF"/>
                </a:solidFill>
                <a:latin typeface="Arial"/>
                <a:cs typeface="Arial"/>
              </a:rPr>
              <a:t>DeepSeek-</a:t>
            </a:r>
            <a:r>
              <a:rPr sz="950" i="1" spc="-90" dirty="0">
                <a:solidFill>
                  <a:srgbClr val="FFFFFF"/>
                </a:solidFill>
                <a:latin typeface="Arial"/>
                <a:cs typeface="Arial"/>
              </a:rPr>
              <a:t>R1)</a:t>
            </a:r>
            <a:r>
              <a:rPr sz="950" i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50" i="1" spc="-60" dirty="0">
                <a:solidFill>
                  <a:srgbClr val="FFFFFF"/>
                </a:solidFill>
                <a:latin typeface="Arial"/>
                <a:cs typeface="Arial"/>
              </a:rPr>
              <a:t>achieve</a:t>
            </a:r>
            <a:r>
              <a:rPr sz="95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50" i="1" spc="-45" dirty="0">
                <a:solidFill>
                  <a:srgbClr val="FFFFFF"/>
                </a:solidFill>
                <a:latin typeface="Arial"/>
                <a:cs typeface="Arial"/>
              </a:rPr>
              <a:t>remarkable</a:t>
            </a:r>
            <a:r>
              <a:rPr sz="950" i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50" i="1" spc="-40" dirty="0">
                <a:solidFill>
                  <a:srgbClr val="FFFFFF"/>
                </a:solidFill>
                <a:latin typeface="Arial"/>
                <a:cs typeface="Arial"/>
              </a:rPr>
              <a:t>capabilities</a:t>
            </a:r>
            <a:r>
              <a:rPr sz="95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50" i="1" spc="-3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950" i="1" spc="-10" dirty="0">
                <a:solidFill>
                  <a:srgbClr val="FFFFFF"/>
                </a:solidFill>
                <a:latin typeface="Arial"/>
                <a:cs typeface="Arial"/>
              </a:rPr>
              <a:t> but</a:t>
            </a:r>
            <a:r>
              <a:rPr sz="950" i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50" i="1" spc="-45" dirty="0">
                <a:solidFill>
                  <a:srgbClr val="FFFFFF"/>
                </a:solidFill>
                <a:latin typeface="Arial"/>
                <a:cs typeface="Arial"/>
              </a:rPr>
              <a:t>deployment</a:t>
            </a:r>
            <a:r>
              <a:rPr sz="950" i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50" i="1" spc="-50" dirty="0">
                <a:solidFill>
                  <a:srgbClr val="FFFFFF"/>
                </a:solidFill>
                <a:latin typeface="Arial"/>
                <a:cs typeface="Arial"/>
              </a:rPr>
              <a:t>requires</a:t>
            </a:r>
            <a:r>
              <a:rPr sz="95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50" i="1" spc="-55" dirty="0">
                <a:solidFill>
                  <a:srgbClr val="FFFFFF"/>
                </a:solidFill>
                <a:latin typeface="Arial"/>
                <a:cs typeface="Arial"/>
              </a:rPr>
              <a:t>hundreds</a:t>
            </a:r>
            <a:r>
              <a:rPr sz="950" i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50" i="1" spc="-2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950" i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50" i="1" spc="-35" dirty="0">
                <a:solidFill>
                  <a:srgbClr val="FFFFFF"/>
                </a:solidFill>
                <a:latin typeface="Arial"/>
                <a:cs typeface="Arial"/>
              </a:rPr>
              <a:t>billions</a:t>
            </a:r>
            <a:r>
              <a:rPr sz="95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50" i="1" spc="-1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950" i="1" spc="-45" dirty="0">
                <a:solidFill>
                  <a:srgbClr val="FFFFFF"/>
                </a:solidFill>
                <a:latin typeface="Arial"/>
                <a:cs typeface="Arial"/>
              </a:rPr>
              <a:t>parameters,</a:t>
            </a:r>
            <a:r>
              <a:rPr sz="95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50" i="1" spc="-10" dirty="0">
                <a:solidFill>
                  <a:srgbClr val="FFFFFF"/>
                </a:solidFill>
                <a:latin typeface="Arial"/>
                <a:cs typeface="Arial"/>
              </a:rPr>
              <a:t>making </a:t>
            </a:r>
            <a:r>
              <a:rPr sz="950" i="1" spc="-50" dirty="0">
                <a:solidFill>
                  <a:srgbClr val="FFFFFF"/>
                </a:solidFill>
                <a:latin typeface="Arial"/>
                <a:cs typeface="Arial"/>
              </a:rPr>
              <a:t>inference</a:t>
            </a:r>
            <a:r>
              <a:rPr sz="950" i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50" i="1" spc="-30" dirty="0">
                <a:solidFill>
                  <a:srgbClr val="FFFFFF"/>
                </a:solidFill>
                <a:latin typeface="Arial"/>
                <a:cs typeface="Arial"/>
              </a:rPr>
              <a:t>prohibitively</a:t>
            </a:r>
            <a:r>
              <a:rPr sz="950" i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50" i="1" spc="-65" dirty="0">
                <a:solidFill>
                  <a:srgbClr val="FFFFFF"/>
                </a:solidFill>
                <a:latin typeface="Arial"/>
                <a:cs typeface="Arial"/>
              </a:rPr>
              <a:t>expensive,</a:t>
            </a:r>
            <a:r>
              <a:rPr sz="950" i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50" i="1" spc="-60" dirty="0">
                <a:solidFill>
                  <a:srgbClr val="FFFFFF"/>
                </a:solidFill>
                <a:latin typeface="Arial"/>
                <a:cs typeface="Arial"/>
              </a:rPr>
              <a:t>slow,</a:t>
            </a:r>
            <a:r>
              <a:rPr sz="950" i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50" i="1" spc="-4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950" i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50" i="1" spc="-10" dirty="0">
                <a:solidFill>
                  <a:srgbClr val="FFFFFF"/>
                </a:solidFill>
                <a:latin typeface="Arial"/>
                <a:cs typeface="Arial"/>
              </a:rPr>
              <a:t>inaccessible.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82156" y="1378790"/>
            <a:ext cx="2233930" cy="1821814"/>
            <a:chOff x="182156" y="1378790"/>
            <a:chExt cx="2233930" cy="1821814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156" y="1378790"/>
              <a:ext cx="2233434" cy="182161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19684" y="1463042"/>
              <a:ext cx="2011680" cy="1600200"/>
            </a:xfrm>
            <a:custGeom>
              <a:avLst/>
              <a:gdLst/>
              <a:ahLst/>
              <a:cxnLst/>
              <a:rect l="l" t="t" r="r" b="b"/>
              <a:pathLst>
                <a:path w="2011680" h="1600200">
                  <a:moveTo>
                    <a:pt x="2011311" y="0"/>
                  </a:moveTo>
                  <a:lnTo>
                    <a:pt x="0" y="0"/>
                  </a:lnTo>
                  <a:lnTo>
                    <a:pt x="0" y="1599844"/>
                  </a:lnTo>
                  <a:lnTo>
                    <a:pt x="1005840" y="1599844"/>
                  </a:lnTo>
                  <a:lnTo>
                    <a:pt x="2011311" y="1599844"/>
                  </a:lnTo>
                  <a:lnTo>
                    <a:pt x="2011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9684" y="1463042"/>
              <a:ext cx="2011680" cy="1600200"/>
            </a:xfrm>
            <a:custGeom>
              <a:avLst/>
              <a:gdLst/>
              <a:ahLst/>
              <a:cxnLst/>
              <a:rect l="l" t="t" r="r" b="b"/>
              <a:pathLst>
                <a:path w="2011680" h="1600200">
                  <a:moveTo>
                    <a:pt x="1005840" y="1599844"/>
                  </a:moveTo>
                  <a:lnTo>
                    <a:pt x="0" y="1599844"/>
                  </a:lnTo>
                  <a:lnTo>
                    <a:pt x="0" y="0"/>
                  </a:lnTo>
                  <a:lnTo>
                    <a:pt x="2011311" y="0"/>
                  </a:lnTo>
                  <a:lnTo>
                    <a:pt x="2011311" y="1599844"/>
                  </a:lnTo>
                  <a:lnTo>
                    <a:pt x="1005840" y="1599844"/>
                  </a:lnTo>
                  <a:close/>
                </a:path>
              </a:pathLst>
            </a:custGeom>
            <a:ln w="19079">
              <a:solidFill>
                <a:srgbClr val="EE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9684" y="1463042"/>
              <a:ext cx="2011680" cy="292735"/>
            </a:xfrm>
            <a:custGeom>
              <a:avLst/>
              <a:gdLst/>
              <a:ahLst/>
              <a:cxnLst/>
              <a:rect l="l" t="t" r="r" b="b"/>
              <a:pathLst>
                <a:path w="2011680" h="292735">
                  <a:moveTo>
                    <a:pt x="2011311" y="0"/>
                  </a:moveTo>
                  <a:lnTo>
                    <a:pt x="0" y="0"/>
                  </a:lnTo>
                  <a:lnTo>
                    <a:pt x="0" y="292315"/>
                  </a:lnTo>
                  <a:lnTo>
                    <a:pt x="1005840" y="292315"/>
                  </a:lnTo>
                  <a:lnTo>
                    <a:pt x="2011311" y="292315"/>
                  </a:lnTo>
                  <a:lnTo>
                    <a:pt x="2011311" y="0"/>
                  </a:lnTo>
                  <a:close/>
                </a:path>
              </a:pathLst>
            </a:custGeom>
            <a:solidFill>
              <a:srgbClr val="EE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19684" y="1463042"/>
              <a:ext cx="2011680" cy="292735"/>
            </a:xfrm>
            <a:custGeom>
              <a:avLst/>
              <a:gdLst/>
              <a:ahLst/>
              <a:cxnLst/>
              <a:rect l="l" t="t" r="r" b="b"/>
              <a:pathLst>
                <a:path w="2011680" h="292735">
                  <a:moveTo>
                    <a:pt x="1005840" y="292315"/>
                  </a:moveTo>
                  <a:lnTo>
                    <a:pt x="0" y="292315"/>
                  </a:lnTo>
                  <a:lnTo>
                    <a:pt x="0" y="0"/>
                  </a:lnTo>
                  <a:lnTo>
                    <a:pt x="2011311" y="0"/>
                  </a:lnTo>
                  <a:lnTo>
                    <a:pt x="2011311" y="292315"/>
                  </a:lnTo>
                  <a:lnTo>
                    <a:pt x="1005840" y="292315"/>
                  </a:lnTo>
                  <a:close/>
                </a:path>
              </a:pathLst>
            </a:custGeom>
            <a:ln w="12599">
              <a:solidFill>
                <a:srgbClr val="EE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29224" y="2123543"/>
            <a:ext cx="1992630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" marR="33528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Frontier</a:t>
            </a:r>
            <a:r>
              <a:rPr sz="85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LLM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inference</a:t>
            </a:r>
            <a:r>
              <a:rPr sz="85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costs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tens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191F2B"/>
                </a:solidFill>
                <a:latin typeface="Calibri"/>
                <a:cs typeface="Calibri"/>
              </a:rPr>
              <a:t>of</a:t>
            </a:r>
            <a:r>
              <a:rPr sz="850" spc="5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millions</a:t>
            </a:r>
            <a:r>
              <a:rPr sz="8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USD/year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 at scale. </a:t>
            </a:r>
            <a:r>
              <a:rPr sz="850" spc="-30" dirty="0">
                <a:solidFill>
                  <a:srgbClr val="191F2B"/>
                </a:solidFill>
                <a:latin typeface="Calibri"/>
                <a:cs typeface="Calibri"/>
              </a:rPr>
              <a:t>GPT-</a:t>
            </a:r>
            <a:r>
              <a:rPr sz="850" spc="-25" dirty="0">
                <a:solidFill>
                  <a:srgbClr val="191F2B"/>
                </a:solidFill>
                <a:latin typeface="Calibri"/>
                <a:cs typeface="Calibri"/>
              </a:rPr>
              <a:t>4:</a:t>
            </a:r>
            <a:endParaRPr sz="850">
              <a:latin typeface="Calibri"/>
              <a:cs typeface="Calibri"/>
            </a:endParaRPr>
          </a:p>
          <a:p>
            <a:pPr marL="81280" marR="320040">
              <a:lnSpc>
                <a:spcPct val="100000"/>
              </a:lnSpc>
            </a:pP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~$30/M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output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tokens.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Deployment</a:t>
            </a:r>
            <a:r>
              <a:rPr sz="850" spc="5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infeasible</a:t>
            </a:r>
            <a:r>
              <a:rPr sz="850" spc="-3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for</a:t>
            </a:r>
            <a:r>
              <a:rPr sz="850" spc="-3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most</a:t>
            </a:r>
            <a:r>
              <a:rPr sz="850" spc="-3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organizations.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330996" y="1378790"/>
            <a:ext cx="2233930" cy="1821814"/>
            <a:chOff x="2330996" y="1378790"/>
            <a:chExt cx="2233930" cy="1821814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0996" y="1378790"/>
              <a:ext cx="2233434" cy="182161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468524" y="1463042"/>
              <a:ext cx="2011680" cy="1600200"/>
            </a:xfrm>
            <a:custGeom>
              <a:avLst/>
              <a:gdLst/>
              <a:ahLst/>
              <a:cxnLst/>
              <a:rect l="l" t="t" r="r" b="b"/>
              <a:pathLst>
                <a:path w="2011679" h="1600200">
                  <a:moveTo>
                    <a:pt x="2011311" y="0"/>
                  </a:moveTo>
                  <a:lnTo>
                    <a:pt x="0" y="0"/>
                  </a:lnTo>
                  <a:lnTo>
                    <a:pt x="0" y="1599844"/>
                  </a:lnTo>
                  <a:lnTo>
                    <a:pt x="1005839" y="1599844"/>
                  </a:lnTo>
                  <a:lnTo>
                    <a:pt x="2011311" y="1599844"/>
                  </a:lnTo>
                  <a:lnTo>
                    <a:pt x="2011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468524" y="1463042"/>
              <a:ext cx="2011680" cy="1600200"/>
            </a:xfrm>
            <a:custGeom>
              <a:avLst/>
              <a:gdLst/>
              <a:ahLst/>
              <a:cxnLst/>
              <a:rect l="l" t="t" r="r" b="b"/>
              <a:pathLst>
                <a:path w="2011679" h="1600200">
                  <a:moveTo>
                    <a:pt x="1005839" y="1599844"/>
                  </a:moveTo>
                  <a:lnTo>
                    <a:pt x="0" y="1599844"/>
                  </a:lnTo>
                  <a:lnTo>
                    <a:pt x="0" y="0"/>
                  </a:lnTo>
                  <a:lnTo>
                    <a:pt x="2011311" y="0"/>
                  </a:lnTo>
                  <a:lnTo>
                    <a:pt x="2011311" y="1599844"/>
                  </a:lnTo>
                  <a:lnTo>
                    <a:pt x="1005839" y="1599844"/>
                  </a:lnTo>
                  <a:close/>
                </a:path>
              </a:pathLst>
            </a:custGeom>
            <a:ln w="19079">
              <a:solidFill>
                <a:srgbClr val="F3A1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68524" y="1463042"/>
              <a:ext cx="2011680" cy="292735"/>
            </a:xfrm>
            <a:custGeom>
              <a:avLst/>
              <a:gdLst/>
              <a:ahLst/>
              <a:cxnLst/>
              <a:rect l="l" t="t" r="r" b="b"/>
              <a:pathLst>
                <a:path w="2011679" h="292735">
                  <a:moveTo>
                    <a:pt x="2011311" y="0"/>
                  </a:moveTo>
                  <a:lnTo>
                    <a:pt x="0" y="0"/>
                  </a:lnTo>
                  <a:lnTo>
                    <a:pt x="0" y="292315"/>
                  </a:lnTo>
                  <a:lnTo>
                    <a:pt x="1005839" y="292315"/>
                  </a:lnTo>
                  <a:lnTo>
                    <a:pt x="2011311" y="292315"/>
                  </a:lnTo>
                  <a:lnTo>
                    <a:pt x="2011311" y="0"/>
                  </a:lnTo>
                  <a:close/>
                </a:path>
              </a:pathLst>
            </a:custGeom>
            <a:solidFill>
              <a:srgbClr val="F3A1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68524" y="1463042"/>
              <a:ext cx="2011680" cy="292735"/>
            </a:xfrm>
            <a:custGeom>
              <a:avLst/>
              <a:gdLst/>
              <a:ahLst/>
              <a:cxnLst/>
              <a:rect l="l" t="t" r="r" b="b"/>
              <a:pathLst>
                <a:path w="2011679" h="292735">
                  <a:moveTo>
                    <a:pt x="1005839" y="292315"/>
                  </a:moveTo>
                  <a:lnTo>
                    <a:pt x="0" y="292315"/>
                  </a:lnTo>
                  <a:lnTo>
                    <a:pt x="0" y="0"/>
                  </a:lnTo>
                  <a:lnTo>
                    <a:pt x="2011311" y="0"/>
                  </a:lnTo>
                  <a:lnTo>
                    <a:pt x="2011311" y="292315"/>
                  </a:lnTo>
                  <a:lnTo>
                    <a:pt x="1005839" y="292315"/>
                  </a:lnTo>
                  <a:close/>
                </a:path>
              </a:pathLst>
            </a:custGeom>
            <a:ln w="12599">
              <a:solidFill>
                <a:srgbClr val="F3A1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478064" y="2123543"/>
            <a:ext cx="1992630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" marR="97155">
              <a:lnSpc>
                <a:spcPct val="100000"/>
              </a:lnSpc>
              <a:spcBef>
                <a:spcPts val="100"/>
              </a:spcBef>
            </a:pP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Real-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time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apps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(code</a:t>
            </a:r>
            <a:r>
              <a:rPr sz="85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completion,</a:t>
            </a:r>
            <a:r>
              <a:rPr sz="850" spc="5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assistants) require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&lt;100ms.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100B+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param</a:t>
            </a:r>
            <a:r>
              <a:rPr sz="850" spc="5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models</a:t>
            </a:r>
            <a:r>
              <a:rPr sz="850" spc="-3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cannot</a:t>
            </a:r>
            <a:r>
              <a:rPr sz="85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meet</a:t>
            </a:r>
            <a:r>
              <a:rPr sz="85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this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requirement</a:t>
            </a:r>
            <a:r>
              <a:rPr sz="850" spc="-3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191F2B"/>
                </a:solidFill>
                <a:latin typeface="Calibri"/>
                <a:cs typeface="Calibri"/>
              </a:rPr>
              <a:t>on</a:t>
            </a:r>
            <a:r>
              <a:rPr sz="850" spc="5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standard</a:t>
            </a:r>
            <a:r>
              <a:rPr sz="850" spc="-4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hardware.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479836" y="1378790"/>
            <a:ext cx="2233930" cy="1821814"/>
            <a:chOff x="4479836" y="1378790"/>
            <a:chExt cx="2233930" cy="1821814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79836" y="1378790"/>
              <a:ext cx="2233434" cy="182161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617364" y="1463042"/>
              <a:ext cx="2011680" cy="1600200"/>
            </a:xfrm>
            <a:custGeom>
              <a:avLst/>
              <a:gdLst/>
              <a:ahLst/>
              <a:cxnLst/>
              <a:rect l="l" t="t" r="r" b="b"/>
              <a:pathLst>
                <a:path w="2011679" h="1600200">
                  <a:moveTo>
                    <a:pt x="2011311" y="0"/>
                  </a:moveTo>
                  <a:lnTo>
                    <a:pt x="0" y="0"/>
                  </a:lnTo>
                  <a:lnTo>
                    <a:pt x="0" y="1599844"/>
                  </a:lnTo>
                  <a:lnTo>
                    <a:pt x="1005839" y="1599844"/>
                  </a:lnTo>
                  <a:lnTo>
                    <a:pt x="2011311" y="1599844"/>
                  </a:lnTo>
                  <a:lnTo>
                    <a:pt x="2011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617364" y="1463042"/>
              <a:ext cx="2011680" cy="1600200"/>
            </a:xfrm>
            <a:custGeom>
              <a:avLst/>
              <a:gdLst/>
              <a:ahLst/>
              <a:cxnLst/>
              <a:rect l="l" t="t" r="r" b="b"/>
              <a:pathLst>
                <a:path w="2011679" h="1600200">
                  <a:moveTo>
                    <a:pt x="1005839" y="1599844"/>
                  </a:moveTo>
                  <a:lnTo>
                    <a:pt x="0" y="1599844"/>
                  </a:lnTo>
                  <a:lnTo>
                    <a:pt x="0" y="0"/>
                  </a:lnTo>
                  <a:lnTo>
                    <a:pt x="2011311" y="0"/>
                  </a:lnTo>
                  <a:lnTo>
                    <a:pt x="2011311" y="1599844"/>
                  </a:lnTo>
                  <a:lnTo>
                    <a:pt x="1005839" y="1599844"/>
                  </a:lnTo>
                  <a:close/>
                </a:path>
              </a:pathLst>
            </a:custGeom>
            <a:ln w="19079">
              <a:solidFill>
                <a:srgbClr val="1D5E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17364" y="1463042"/>
              <a:ext cx="2011680" cy="292735"/>
            </a:xfrm>
            <a:custGeom>
              <a:avLst/>
              <a:gdLst/>
              <a:ahLst/>
              <a:cxnLst/>
              <a:rect l="l" t="t" r="r" b="b"/>
              <a:pathLst>
                <a:path w="2011679" h="292735">
                  <a:moveTo>
                    <a:pt x="2011311" y="0"/>
                  </a:moveTo>
                  <a:lnTo>
                    <a:pt x="0" y="0"/>
                  </a:lnTo>
                  <a:lnTo>
                    <a:pt x="0" y="292315"/>
                  </a:lnTo>
                  <a:lnTo>
                    <a:pt x="1005839" y="292315"/>
                  </a:lnTo>
                  <a:lnTo>
                    <a:pt x="2011311" y="292315"/>
                  </a:lnTo>
                  <a:lnTo>
                    <a:pt x="2011311" y="0"/>
                  </a:lnTo>
                  <a:close/>
                </a:path>
              </a:pathLst>
            </a:custGeom>
            <a:solidFill>
              <a:srgbClr val="1D5E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617364" y="1463042"/>
              <a:ext cx="2011680" cy="292735"/>
            </a:xfrm>
            <a:custGeom>
              <a:avLst/>
              <a:gdLst/>
              <a:ahLst/>
              <a:cxnLst/>
              <a:rect l="l" t="t" r="r" b="b"/>
              <a:pathLst>
                <a:path w="2011679" h="292735">
                  <a:moveTo>
                    <a:pt x="1005839" y="292315"/>
                  </a:moveTo>
                  <a:lnTo>
                    <a:pt x="0" y="292315"/>
                  </a:lnTo>
                  <a:lnTo>
                    <a:pt x="0" y="0"/>
                  </a:lnTo>
                  <a:lnTo>
                    <a:pt x="2011311" y="0"/>
                  </a:lnTo>
                  <a:lnTo>
                    <a:pt x="2011311" y="292315"/>
                  </a:lnTo>
                  <a:lnTo>
                    <a:pt x="1005839" y="292315"/>
                  </a:lnTo>
                  <a:close/>
                </a:path>
              </a:pathLst>
            </a:custGeom>
            <a:ln w="12599">
              <a:solidFill>
                <a:srgbClr val="1D5E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626904" y="2123543"/>
            <a:ext cx="1992630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" marR="117475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Regulatory/enterprise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constraints</a:t>
            </a:r>
            <a:r>
              <a:rPr sz="850" spc="5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demand</a:t>
            </a:r>
            <a:r>
              <a:rPr sz="8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on-premises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or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edge</a:t>
            </a:r>
            <a:r>
              <a:rPr sz="850" spc="5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deployment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-</a:t>
            </a:r>
            <a:r>
              <a:rPr sz="8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feasible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 only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with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 compact</a:t>
            </a:r>
            <a:r>
              <a:rPr sz="850" spc="5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models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(1-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13B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parameters).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628676" y="1378790"/>
            <a:ext cx="2233930" cy="1821814"/>
            <a:chOff x="6628676" y="1378790"/>
            <a:chExt cx="2233930" cy="1821814"/>
          </a:xfrm>
        </p:grpSpPr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8676" y="1378790"/>
              <a:ext cx="2233434" cy="1821611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766204" y="1463042"/>
              <a:ext cx="2011680" cy="1600200"/>
            </a:xfrm>
            <a:custGeom>
              <a:avLst/>
              <a:gdLst/>
              <a:ahLst/>
              <a:cxnLst/>
              <a:rect l="l" t="t" r="r" b="b"/>
              <a:pathLst>
                <a:path w="2011679" h="1600200">
                  <a:moveTo>
                    <a:pt x="2011311" y="0"/>
                  </a:moveTo>
                  <a:lnTo>
                    <a:pt x="0" y="0"/>
                  </a:lnTo>
                  <a:lnTo>
                    <a:pt x="0" y="1599844"/>
                  </a:lnTo>
                  <a:lnTo>
                    <a:pt x="1005839" y="1599844"/>
                  </a:lnTo>
                  <a:lnTo>
                    <a:pt x="2011311" y="1599844"/>
                  </a:lnTo>
                  <a:lnTo>
                    <a:pt x="2011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766204" y="1463042"/>
              <a:ext cx="2011680" cy="1600200"/>
            </a:xfrm>
            <a:custGeom>
              <a:avLst/>
              <a:gdLst/>
              <a:ahLst/>
              <a:cxnLst/>
              <a:rect l="l" t="t" r="r" b="b"/>
              <a:pathLst>
                <a:path w="2011679" h="1600200">
                  <a:moveTo>
                    <a:pt x="1005839" y="1599844"/>
                  </a:moveTo>
                  <a:lnTo>
                    <a:pt x="0" y="1599844"/>
                  </a:lnTo>
                  <a:lnTo>
                    <a:pt x="0" y="0"/>
                  </a:lnTo>
                  <a:lnTo>
                    <a:pt x="2011311" y="0"/>
                  </a:lnTo>
                  <a:lnTo>
                    <a:pt x="2011311" y="1599844"/>
                  </a:lnTo>
                  <a:lnTo>
                    <a:pt x="1005839" y="1599844"/>
                  </a:lnTo>
                  <a:close/>
                </a:path>
              </a:pathLst>
            </a:custGeom>
            <a:ln w="1907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766204" y="1463042"/>
              <a:ext cx="2011680" cy="292735"/>
            </a:xfrm>
            <a:custGeom>
              <a:avLst/>
              <a:gdLst/>
              <a:ahLst/>
              <a:cxnLst/>
              <a:rect l="l" t="t" r="r" b="b"/>
              <a:pathLst>
                <a:path w="2011679" h="292735">
                  <a:moveTo>
                    <a:pt x="2011311" y="0"/>
                  </a:moveTo>
                  <a:lnTo>
                    <a:pt x="0" y="0"/>
                  </a:lnTo>
                  <a:lnTo>
                    <a:pt x="0" y="292315"/>
                  </a:lnTo>
                  <a:lnTo>
                    <a:pt x="1005839" y="292315"/>
                  </a:lnTo>
                  <a:lnTo>
                    <a:pt x="2011311" y="292315"/>
                  </a:lnTo>
                  <a:lnTo>
                    <a:pt x="2011311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766204" y="1463042"/>
              <a:ext cx="2011680" cy="292735"/>
            </a:xfrm>
            <a:custGeom>
              <a:avLst/>
              <a:gdLst/>
              <a:ahLst/>
              <a:cxnLst/>
              <a:rect l="l" t="t" r="r" b="b"/>
              <a:pathLst>
                <a:path w="2011679" h="292735">
                  <a:moveTo>
                    <a:pt x="1005839" y="292315"/>
                  </a:moveTo>
                  <a:lnTo>
                    <a:pt x="0" y="292315"/>
                  </a:lnTo>
                  <a:lnTo>
                    <a:pt x="0" y="0"/>
                  </a:lnTo>
                  <a:lnTo>
                    <a:pt x="2011311" y="0"/>
                  </a:lnTo>
                  <a:lnTo>
                    <a:pt x="2011311" y="292315"/>
                  </a:lnTo>
                  <a:lnTo>
                    <a:pt x="1005839" y="292315"/>
                  </a:lnTo>
                  <a:close/>
                </a:path>
              </a:pathLst>
            </a:custGeom>
            <a:ln w="1259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29224" y="1527748"/>
            <a:ext cx="84391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100"/>
              </a:spcBef>
              <a:tabLst>
                <a:tab pos="2202815" algn="l"/>
                <a:tab pos="4351655" algn="l"/>
                <a:tab pos="6500495" algn="l"/>
              </a:tabLst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Inference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Cost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Latency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Privacy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 &amp;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Edge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Carbon</a:t>
            </a:r>
            <a:r>
              <a:rPr sz="9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Footprint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775744" y="2123543"/>
            <a:ext cx="1992630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" marR="149860">
              <a:lnSpc>
                <a:spcPct val="100000"/>
              </a:lnSpc>
              <a:spcBef>
                <a:spcPts val="100"/>
              </a:spcBef>
            </a:pP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Training</a:t>
            </a:r>
            <a:r>
              <a:rPr sz="8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and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serving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large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AI</a:t>
            </a:r>
            <a:r>
              <a:rPr sz="8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models</a:t>
            </a:r>
            <a:r>
              <a:rPr sz="850" spc="5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carries</a:t>
            </a:r>
            <a:r>
              <a:rPr sz="85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significant</a:t>
            </a:r>
            <a:r>
              <a:rPr sz="8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environmental</a:t>
            </a:r>
            <a:r>
              <a:rPr sz="850" spc="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impact</a:t>
            </a:r>
            <a:r>
              <a:rPr sz="850" spc="5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(Patterson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et</a:t>
            </a:r>
            <a:r>
              <a:rPr sz="8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al., 2021).</a:t>
            </a:r>
            <a:r>
              <a:rPr sz="8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Efficiency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is</a:t>
            </a:r>
            <a:r>
              <a:rPr sz="85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35" dirty="0">
                <a:solidFill>
                  <a:srgbClr val="191F2B"/>
                </a:solidFill>
                <a:latin typeface="Calibri"/>
                <a:cs typeface="Calibri"/>
              </a:rPr>
              <a:t>an</a:t>
            </a:r>
            <a:r>
              <a:rPr sz="850" spc="5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imperative.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19684" y="3200401"/>
            <a:ext cx="8503920" cy="567055"/>
          </a:xfrm>
          <a:custGeom>
            <a:avLst/>
            <a:gdLst/>
            <a:ahLst/>
            <a:cxnLst/>
            <a:rect l="l" t="t" r="r" b="b"/>
            <a:pathLst>
              <a:path w="8503920" h="567054">
                <a:moveTo>
                  <a:pt x="8503551" y="0"/>
                </a:moveTo>
                <a:lnTo>
                  <a:pt x="0" y="0"/>
                </a:lnTo>
                <a:lnTo>
                  <a:pt x="0" y="566635"/>
                </a:lnTo>
                <a:lnTo>
                  <a:pt x="4251959" y="566635"/>
                </a:lnTo>
                <a:lnTo>
                  <a:pt x="8503551" y="566635"/>
                </a:lnTo>
                <a:lnTo>
                  <a:pt x="8503551" y="0"/>
                </a:lnTo>
                <a:close/>
              </a:path>
            </a:pathLst>
          </a:custGeom>
          <a:solidFill>
            <a:srgbClr val="00C1CA">
              <a:alpha val="8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319684" y="3200401"/>
            <a:ext cx="8503920" cy="567055"/>
          </a:xfrm>
          <a:prstGeom prst="rect">
            <a:avLst/>
          </a:prstGeom>
          <a:ln w="19079">
            <a:solidFill>
              <a:srgbClr val="00C1CA"/>
            </a:solidFill>
          </a:ln>
        </p:spPr>
        <p:txBody>
          <a:bodyPr vert="horz" wrap="square" lIns="0" tIns="130810" rIns="0" bIns="0" rtlCol="0">
            <a:spAutoFit/>
          </a:bodyPr>
          <a:lstStyle/>
          <a:p>
            <a:pPr marL="226695" marR="316230">
              <a:lnSpc>
                <a:spcPct val="100000"/>
              </a:lnSpc>
              <a:spcBef>
                <a:spcPts val="1030"/>
              </a:spcBef>
            </a:pPr>
            <a:r>
              <a:rPr sz="1000" b="1" spc="-10" dirty="0">
                <a:solidFill>
                  <a:srgbClr val="1A396A"/>
                </a:solidFill>
                <a:latin typeface="Calibri"/>
                <a:cs typeface="Calibri"/>
              </a:rPr>
              <a:t>Knowledge</a:t>
            </a:r>
            <a:r>
              <a:rPr sz="1000" b="1" spc="-15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1A396A"/>
                </a:solidFill>
                <a:latin typeface="Calibri"/>
                <a:cs typeface="Calibri"/>
              </a:rPr>
              <a:t>Distillation </a:t>
            </a:r>
            <a:r>
              <a:rPr sz="1000" b="1" dirty="0">
                <a:solidFill>
                  <a:srgbClr val="1A396A"/>
                </a:solidFill>
                <a:latin typeface="Calibri"/>
                <a:cs typeface="Calibri"/>
              </a:rPr>
              <a:t>Solution:</a:t>
            </a:r>
            <a:r>
              <a:rPr sz="1000" b="1" spc="200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191F2B"/>
                </a:solidFill>
                <a:latin typeface="Calibri"/>
                <a:cs typeface="Calibri"/>
              </a:rPr>
              <a:t>Transfer</a:t>
            </a:r>
            <a:r>
              <a:rPr sz="100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1F2B"/>
                </a:solidFill>
                <a:latin typeface="Calibri"/>
                <a:cs typeface="Calibri"/>
              </a:rPr>
              <a:t>a</a:t>
            </a:r>
            <a:r>
              <a:rPr sz="1000" spc="-10" dirty="0">
                <a:solidFill>
                  <a:srgbClr val="191F2B"/>
                </a:solidFill>
                <a:latin typeface="Calibri"/>
                <a:cs typeface="Calibri"/>
              </a:rPr>
              <a:t> large</a:t>
            </a:r>
            <a:r>
              <a:rPr sz="100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1F2B"/>
                </a:solidFill>
                <a:latin typeface="Calibri"/>
                <a:cs typeface="Calibri"/>
              </a:rPr>
              <a:t>teacher</a:t>
            </a:r>
            <a:r>
              <a:rPr sz="1000" spc="-10" dirty="0">
                <a:solidFill>
                  <a:srgbClr val="191F2B"/>
                </a:solidFill>
                <a:latin typeface="Calibri"/>
                <a:cs typeface="Calibri"/>
              </a:rPr>
              <a:t> model's</a:t>
            </a:r>
            <a:r>
              <a:rPr sz="100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1F2B"/>
                </a:solidFill>
                <a:latin typeface="Calibri"/>
                <a:cs typeface="Calibri"/>
              </a:rPr>
              <a:t>knowledge</a:t>
            </a:r>
            <a:r>
              <a:rPr sz="100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1F2B"/>
                </a:solidFill>
                <a:latin typeface="Calibri"/>
                <a:cs typeface="Calibri"/>
              </a:rPr>
              <a:t>-</a:t>
            </a:r>
            <a:r>
              <a:rPr sz="100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1F2B"/>
                </a:solidFill>
                <a:latin typeface="Calibri"/>
                <a:cs typeface="Calibri"/>
              </a:rPr>
              <a:t>including</a:t>
            </a:r>
            <a:r>
              <a:rPr sz="100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1F2B"/>
                </a:solidFill>
                <a:latin typeface="Calibri"/>
                <a:cs typeface="Calibri"/>
              </a:rPr>
              <a:t>complex</a:t>
            </a:r>
            <a:r>
              <a:rPr sz="100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1F2B"/>
                </a:solidFill>
                <a:latin typeface="Calibri"/>
                <a:cs typeface="Calibri"/>
              </a:rPr>
              <a:t>reasoning</a:t>
            </a:r>
            <a:r>
              <a:rPr sz="100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1F2B"/>
                </a:solidFill>
                <a:latin typeface="Calibri"/>
                <a:cs typeface="Calibri"/>
              </a:rPr>
              <a:t>chains</a:t>
            </a:r>
            <a:r>
              <a:rPr sz="100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1F2B"/>
                </a:solidFill>
                <a:latin typeface="Calibri"/>
                <a:cs typeface="Calibri"/>
              </a:rPr>
              <a:t>-</a:t>
            </a:r>
            <a:r>
              <a:rPr sz="100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1F2B"/>
                </a:solidFill>
                <a:latin typeface="Calibri"/>
                <a:cs typeface="Calibri"/>
              </a:rPr>
              <a:t>to</a:t>
            </a:r>
            <a:r>
              <a:rPr sz="100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1F2B"/>
                </a:solidFill>
                <a:latin typeface="Calibri"/>
                <a:cs typeface="Calibri"/>
              </a:rPr>
              <a:t>a</a:t>
            </a:r>
            <a:r>
              <a:rPr sz="100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1F2B"/>
                </a:solidFill>
                <a:latin typeface="Calibri"/>
                <a:cs typeface="Calibri"/>
              </a:rPr>
              <a:t>compact</a:t>
            </a:r>
            <a:r>
              <a:rPr sz="1000" spc="-10" dirty="0">
                <a:solidFill>
                  <a:srgbClr val="191F2B"/>
                </a:solidFill>
                <a:latin typeface="Calibri"/>
                <a:cs typeface="Calibri"/>
              </a:rPr>
              <a:t> student </a:t>
            </a:r>
            <a:r>
              <a:rPr sz="1000" dirty="0">
                <a:solidFill>
                  <a:srgbClr val="191F2B"/>
                </a:solidFill>
                <a:latin typeface="Calibri"/>
                <a:cs typeface="Calibri"/>
              </a:rPr>
              <a:t>model,</a:t>
            </a:r>
            <a:r>
              <a:rPr sz="100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1F2B"/>
                </a:solidFill>
                <a:latin typeface="Calibri"/>
                <a:cs typeface="Calibri"/>
              </a:rPr>
              <a:t>achieving </a:t>
            </a:r>
            <a:r>
              <a:rPr sz="1000" spc="-20" dirty="0">
                <a:solidFill>
                  <a:srgbClr val="191F2B"/>
                </a:solidFill>
                <a:latin typeface="Calibri"/>
                <a:cs typeface="Calibri"/>
              </a:rPr>
              <a:t>near-</a:t>
            </a:r>
            <a:r>
              <a:rPr sz="1000" spc="-10" dirty="0">
                <a:solidFill>
                  <a:srgbClr val="191F2B"/>
                </a:solidFill>
                <a:latin typeface="Calibri"/>
                <a:cs typeface="Calibri"/>
              </a:rPr>
              <a:t>teacher</a:t>
            </a:r>
            <a:r>
              <a:rPr sz="10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1F2B"/>
                </a:solidFill>
                <a:latin typeface="Calibri"/>
                <a:cs typeface="Calibri"/>
              </a:rPr>
              <a:t>performance</a:t>
            </a:r>
            <a:r>
              <a:rPr sz="1000" dirty="0">
                <a:solidFill>
                  <a:srgbClr val="191F2B"/>
                </a:solidFill>
                <a:latin typeface="Calibri"/>
                <a:cs typeface="Calibri"/>
              </a:rPr>
              <a:t> at</a:t>
            </a:r>
            <a:r>
              <a:rPr sz="100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1F2B"/>
                </a:solidFill>
                <a:latin typeface="Calibri"/>
                <a:cs typeface="Calibri"/>
              </a:rPr>
              <a:t>a</a:t>
            </a:r>
            <a:r>
              <a:rPr sz="10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1F2B"/>
                </a:solidFill>
                <a:latin typeface="Calibri"/>
                <a:cs typeface="Calibri"/>
              </a:rPr>
              <a:t>fraction</a:t>
            </a:r>
            <a:r>
              <a:rPr sz="10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1F2B"/>
                </a:solidFill>
                <a:latin typeface="Calibri"/>
                <a:cs typeface="Calibri"/>
              </a:rPr>
              <a:t>of</a:t>
            </a:r>
            <a:r>
              <a:rPr sz="10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91F2B"/>
                </a:solidFill>
                <a:latin typeface="Calibri"/>
                <a:cs typeface="Calibri"/>
              </a:rPr>
              <a:t>the</a:t>
            </a:r>
            <a:r>
              <a:rPr sz="10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91F2B"/>
                </a:solidFill>
                <a:latin typeface="Calibri"/>
                <a:cs typeface="Calibri"/>
              </a:rPr>
              <a:t>compute</a:t>
            </a:r>
            <a:r>
              <a:rPr sz="10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191F2B"/>
                </a:solidFill>
                <a:latin typeface="Calibri"/>
                <a:cs typeface="Calibri"/>
              </a:rPr>
              <a:t>cost.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999184" y="4153866"/>
            <a:ext cx="259715" cy="259715"/>
            <a:chOff x="999184" y="4153866"/>
            <a:chExt cx="259715" cy="259715"/>
          </a:xfrm>
        </p:grpSpPr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5484" y="4160166"/>
              <a:ext cx="246951" cy="246951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005484" y="4160166"/>
              <a:ext cx="247015" cy="247015"/>
            </a:xfrm>
            <a:custGeom>
              <a:avLst/>
              <a:gdLst/>
              <a:ahLst/>
              <a:cxnLst/>
              <a:rect l="l" t="t" r="r" b="b"/>
              <a:pathLst>
                <a:path w="247015" h="247014">
                  <a:moveTo>
                    <a:pt x="0" y="123469"/>
                  </a:moveTo>
                  <a:lnTo>
                    <a:pt x="1067" y="107375"/>
                  </a:lnTo>
                  <a:lnTo>
                    <a:pt x="4227" y="91614"/>
                  </a:lnTo>
                  <a:lnTo>
                    <a:pt x="25518" y="48296"/>
                  </a:lnTo>
                  <a:lnTo>
                    <a:pt x="61912" y="16560"/>
                  </a:lnTo>
                  <a:lnTo>
                    <a:pt x="107375" y="1067"/>
                  </a:lnTo>
                  <a:lnTo>
                    <a:pt x="123469" y="0"/>
                  </a:lnTo>
                  <a:lnTo>
                    <a:pt x="170709" y="9413"/>
                  </a:lnTo>
                  <a:lnTo>
                    <a:pt x="210864" y="36131"/>
                  </a:lnTo>
                  <a:lnTo>
                    <a:pt x="237537" y="76392"/>
                  </a:lnTo>
                  <a:lnTo>
                    <a:pt x="246951" y="123469"/>
                  </a:lnTo>
                  <a:lnTo>
                    <a:pt x="245883" y="139576"/>
                  </a:lnTo>
                  <a:lnTo>
                    <a:pt x="242723" y="155379"/>
                  </a:lnTo>
                  <a:lnTo>
                    <a:pt x="221438" y="198804"/>
                  </a:lnTo>
                  <a:lnTo>
                    <a:pt x="185394" y="230390"/>
                  </a:lnTo>
                  <a:lnTo>
                    <a:pt x="139576" y="245883"/>
                  </a:lnTo>
                  <a:lnTo>
                    <a:pt x="123469" y="246951"/>
                  </a:lnTo>
                  <a:lnTo>
                    <a:pt x="76392" y="237537"/>
                  </a:lnTo>
                  <a:lnTo>
                    <a:pt x="36131" y="210864"/>
                  </a:lnTo>
                  <a:lnTo>
                    <a:pt x="9413" y="170709"/>
                  </a:lnTo>
                  <a:lnTo>
                    <a:pt x="1067" y="139576"/>
                  </a:lnTo>
                  <a:lnTo>
                    <a:pt x="0" y="123469"/>
                  </a:lnTo>
                  <a:close/>
                </a:path>
              </a:pathLst>
            </a:custGeom>
            <a:ln w="12599">
              <a:solidFill>
                <a:srgbClr val="00C1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06984" y="3914180"/>
            <a:ext cx="1764030" cy="393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1A396A"/>
                </a:solidFill>
                <a:latin typeface="Calibri"/>
                <a:cs typeface="Calibri"/>
              </a:rPr>
              <a:t>Historical</a:t>
            </a:r>
            <a:r>
              <a:rPr sz="900" b="1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1A396A"/>
                </a:solidFill>
                <a:latin typeface="Calibri"/>
                <a:cs typeface="Calibri"/>
              </a:rPr>
              <a:t>Origins:</a:t>
            </a:r>
            <a:endParaRPr sz="900">
              <a:latin typeface="Calibri"/>
              <a:cs typeface="Calibri"/>
            </a:endParaRPr>
          </a:p>
          <a:p>
            <a:pPr marL="718185">
              <a:lnSpc>
                <a:spcPct val="100000"/>
              </a:lnSpc>
              <a:spcBef>
                <a:spcPts val="855"/>
              </a:spcBef>
              <a:tabLst>
                <a:tab pos="1750695" algn="l"/>
              </a:tabLst>
            </a:pPr>
            <a:r>
              <a:rPr sz="800" b="1" dirty="0">
                <a:solidFill>
                  <a:srgbClr val="00C1CA"/>
                </a:solidFill>
                <a:latin typeface="Calibri"/>
                <a:cs typeface="Calibri"/>
              </a:rPr>
              <a:t>2</a:t>
            </a:r>
            <a:r>
              <a:rPr sz="800" b="1" spc="215" dirty="0">
                <a:solidFill>
                  <a:srgbClr val="00C1CA"/>
                </a:solidFill>
                <a:latin typeface="Calibri"/>
                <a:cs typeface="Calibri"/>
              </a:rPr>
              <a:t>  </a:t>
            </a:r>
            <a:r>
              <a:rPr sz="800" b="1" dirty="0">
                <a:solidFill>
                  <a:srgbClr val="00C1CA"/>
                </a:solidFill>
                <a:latin typeface="Calibri"/>
                <a:cs typeface="Calibri"/>
              </a:rPr>
              <a:t>6</a:t>
            </a:r>
            <a:r>
              <a:rPr sz="800" b="1" spc="-65" dirty="0">
                <a:solidFill>
                  <a:srgbClr val="00C1CA"/>
                </a:solidFill>
                <a:latin typeface="Calibri"/>
                <a:cs typeface="Calibri"/>
              </a:rPr>
              <a:t> </a:t>
            </a:r>
            <a:r>
              <a:rPr sz="800" u="heavy" dirty="0">
                <a:solidFill>
                  <a:srgbClr val="00C1CA"/>
                </a:solidFill>
                <a:uFill>
                  <a:solidFill>
                    <a:srgbClr val="CAD4E0"/>
                  </a:solidFill>
                </a:uFill>
                <a:latin typeface="Times New Roman"/>
                <a:cs typeface="Times New Roman"/>
              </a:rPr>
              <a:t>	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48462" y="4457054"/>
            <a:ext cx="13608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7680" marR="5080" indent="-475615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191F2B"/>
                </a:solidFill>
                <a:latin typeface="Calibri"/>
                <a:cs typeface="Calibri"/>
              </a:rPr>
              <a:t>Bucila</a:t>
            </a:r>
            <a:r>
              <a:rPr sz="70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191F2B"/>
                </a:solidFill>
                <a:latin typeface="Calibri"/>
                <a:cs typeface="Calibri"/>
              </a:rPr>
              <a:t>et</a:t>
            </a:r>
            <a:r>
              <a:rPr sz="70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191F2B"/>
                </a:solidFill>
                <a:latin typeface="Calibri"/>
                <a:cs typeface="Calibri"/>
              </a:rPr>
              <a:t>al.</a:t>
            </a:r>
            <a:r>
              <a:rPr sz="700" spc="-3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191F2B"/>
                </a:solidFill>
                <a:latin typeface="Calibri"/>
                <a:cs typeface="Calibri"/>
              </a:rPr>
              <a:t>Model</a:t>
            </a:r>
            <a:r>
              <a:rPr sz="700" spc="-3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191F2B"/>
                </a:solidFill>
                <a:latin typeface="Calibri"/>
                <a:cs typeface="Calibri"/>
              </a:rPr>
              <a:t>compression</a:t>
            </a:r>
            <a:r>
              <a:rPr sz="70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00" spc="-20" dirty="0">
                <a:solidFill>
                  <a:srgbClr val="191F2B"/>
                </a:solidFill>
                <a:latin typeface="Calibri"/>
                <a:cs typeface="Calibri"/>
              </a:rPr>
              <a:t>from</a:t>
            </a:r>
            <a:r>
              <a:rPr sz="700" spc="5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191F2B"/>
                </a:solidFill>
                <a:latin typeface="Calibri"/>
                <a:cs typeface="Calibri"/>
              </a:rPr>
              <a:t>ensembles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709175" y="4153866"/>
            <a:ext cx="259715" cy="259715"/>
            <a:chOff x="2709175" y="4153866"/>
            <a:chExt cx="259715" cy="259715"/>
          </a:xfrm>
        </p:grpSpPr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15475" y="4160166"/>
              <a:ext cx="246964" cy="246951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2715475" y="4160166"/>
              <a:ext cx="247015" cy="247015"/>
            </a:xfrm>
            <a:custGeom>
              <a:avLst/>
              <a:gdLst/>
              <a:ahLst/>
              <a:cxnLst/>
              <a:rect l="l" t="t" r="r" b="b"/>
              <a:pathLst>
                <a:path w="247014" h="247014">
                  <a:moveTo>
                    <a:pt x="0" y="123469"/>
                  </a:moveTo>
                  <a:lnTo>
                    <a:pt x="1069" y="107375"/>
                  </a:lnTo>
                  <a:lnTo>
                    <a:pt x="4232" y="91614"/>
                  </a:lnTo>
                  <a:lnTo>
                    <a:pt x="25520" y="48296"/>
                  </a:lnTo>
                  <a:lnTo>
                    <a:pt x="61569" y="16560"/>
                  </a:lnTo>
                  <a:lnTo>
                    <a:pt x="107377" y="1067"/>
                  </a:lnTo>
                  <a:lnTo>
                    <a:pt x="123482" y="0"/>
                  </a:lnTo>
                  <a:lnTo>
                    <a:pt x="170561" y="9413"/>
                  </a:lnTo>
                  <a:lnTo>
                    <a:pt x="210831" y="36131"/>
                  </a:lnTo>
                  <a:lnTo>
                    <a:pt x="237545" y="76392"/>
                  </a:lnTo>
                  <a:lnTo>
                    <a:pt x="246964" y="123469"/>
                  </a:lnTo>
                  <a:lnTo>
                    <a:pt x="245894" y="139576"/>
                  </a:lnTo>
                  <a:lnTo>
                    <a:pt x="242731" y="155379"/>
                  </a:lnTo>
                  <a:lnTo>
                    <a:pt x="221445" y="198804"/>
                  </a:lnTo>
                  <a:lnTo>
                    <a:pt x="185038" y="230390"/>
                  </a:lnTo>
                  <a:lnTo>
                    <a:pt x="139581" y="245883"/>
                  </a:lnTo>
                  <a:lnTo>
                    <a:pt x="123482" y="246951"/>
                  </a:lnTo>
                  <a:lnTo>
                    <a:pt x="76252" y="237537"/>
                  </a:lnTo>
                  <a:lnTo>
                    <a:pt x="36098" y="210864"/>
                  </a:lnTo>
                  <a:lnTo>
                    <a:pt x="9419" y="170709"/>
                  </a:lnTo>
                  <a:lnTo>
                    <a:pt x="1069" y="139576"/>
                  </a:lnTo>
                  <a:lnTo>
                    <a:pt x="0" y="123469"/>
                  </a:lnTo>
                  <a:close/>
                </a:path>
              </a:pathLst>
            </a:custGeom>
            <a:ln w="12599">
              <a:solidFill>
                <a:srgbClr val="00C1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2722943" y="4160052"/>
            <a:ext cx="105854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44575" algn="l"/>
              </a:tabLst>
            </a:pPr>
            <a:r>
              <a:rPr sz="800" b="1" dirty="0">
                <a:solidFill>
                  <a:srgbClr val="00C1CA"/>
                </a:solidFill>
                <a:latin typeface="Calibri"/>
                <a:cs typeface="Calibri"/>
              </a:rPr>
              <a:t>2</a:t>
            </a:r>
            <a:r>
              <a:rPr sz="800" b="1" spc="215" dirty="0">
                <a:solidFill>
                  <a:srgbClr val="00C1CA"/>
                </a:solidFill>
                <a:latin typeface="Calibri"/>
                <a:cs typeface="Calibri"/>
              </a:rPr>
              <a:t>  </a:t>
            </a:r>
            <a:r>
              <a:rPr sz="800" b="1" dirty="0">
                <a:solidFill>
                  <a:srgbClr val="00C1CA"/>
                </a:solidFill>
                <a:latin typeface="Calibri"/>
                <a:cs typeface="Calibri"/>
              </a:rPr>
              <a:t>5</a:t>
            </a:r>
            <a:r>
              <a:rPr sz="800" b="1" spc="-65" dirty="0">
                <a:solidFill>
                  <a:srgbClr val="00C1CA"/>
                </a:solidFill>
                <a:latin typeface="Calibri"/>
                <a:cs typeface="Calibri"/>
              </a:rPr>
              <a:t> </a:t>
            </a:r>
            <a:r>
              <a:rPr sz="800" u="heavy" dirty="0">
                <a:solidFill>
                  <a:srgbClr val="00C1CA"/>
                </a:solidFill>
                <a:uFill>
                  <a:solidFill>
                    <a:srgbClr val="CAD4E0"/>
                  </a:solidFill>
                </a:uFill>
                <a:latin typeface="Times New Roman"/>
                <a:cs typeface="Times New Roman"/>
              </a:rPr>
              <a:t>	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211743" y="4457054"/>
            <a:ext cx="12534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685" marR="5080" indent="-388620">
              <a:lnSpc>
                <a:spcPct val="100000"/>
              </a:lnSpc>
              <a:spcBef>
                <a:spcPts val="100"/>
              </a:spcBef>
            </a:pPr>
            <a:r>
              <a:rPr sz="700" spc="-10" dirty="0">
                <a:solidFill>
                  <a:srgbClr val="191F2B"/>
                </a:solidFill>
                <a:latin typeface="Calibri"/>
                <a:cs typeface="Calibri"/>
              </a:rPr>
              <a:t>Hinton </a:t>
            </a:r>
            <a:r>
              <a:rPr sz="700" dirty="0">
                <a:solidFill>
                  <a:srgbClr val="191F2B"/>
                </a:solidFill>
                <a:latin typeface="Calibri"/>
                <a:cs typeface="Calibri"/>
              </a:rPr>
              <a:t>et</a:t>
            </a:r>
            <a:r>
              <a:rPr sz="70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191F2B"/>
                </a:solidFill>
                <a:latin typeface="Calibri"/>
                <a:cs typeface="Calibri"/>
              </a:rPr>
              <a:t>al.</a:t>
            </a:r>
            <a:r>
              <a:rPr sz="70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191F2B"/>
                </a:solidFill>
                <a:latin typeface="Calibri"/>
                <a:cs typeface="Calibri"/>
              </a:rPr>
              <a:t>KD</a:t>
            </a:r>
            <a:r>
              <a:rPr sz="70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191F2B"/>
                </a:solidFill>
                <a:latin typeface="Calibri"/>
                <a:cs typeface="Calibri"/>
              </a:rPr>
              <a:t>with</a:t>
            </a:r>
            <a:r>
              <a:rPr sz="7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191F2B"/>
                </a:solidFill>
                <a:latin typeface="Calibri"/>
                <a:cs typeface="Calibri"/>
              </a:rPr>
              <a:t>soft</a:t>
            </a:r>
            <a:r>
              <a:rPr sz="70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191F2B"/>
                </a:solidFill>
                <a:latin typeface="Calibri"/>
                <a:cs typeface="Calibri"/>
              </a:rPr>
              <a:t>targets </a:t>
            </a:r>
            <a:r>
              <a:rPr sz="700" spc="-50" dirty="0">
                <a:solidFill>
                  <a:srgbClr val="191F2B"/>
                </a:solidFill>
                <a:latin typeface="Calibri"/>
                <a:cs typeface="Calibri"/>
              </a:rPr>
              <a:t>+</a:t>
            </a:r>
            <a:r>
              <a:rPr sz="700" spc="5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191F2B"/>
                </a:solidFill>
                <a:latin typeface="Calibri"/>
                <a:cs typeface="Calibri"/>
              </a:rPr>
              <a:t>temperature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4419180" y="4153866"/>
            <a:ext cx="259715" cy="259715"/>
            <a:chOff x="4419180" y="4153866"/>
            <a:chExt cx="259715" cy="259715"/>
          </a:xfrm>
        </p:grpSpPr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25480" y="4160166"/>
              <a:ext cx="246964" cy="246951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4425480" y="4160166"/>
              <a:ext cx="247015" cy="247015"/>
            </a:xfrm>
            <a:custGeom>
              <a:avLst/>
              <a:gdLst/>
              <a:ahLst/>
              <a:cxnLst/>
              <a:rect l="l" t="t" r="r" b="b"/>
              <a:pathLst>
                <a:path w="247014" h="247014">
                  <a:moveTo>
                    <a:pt x="0" y="123469"/>
                  </a:moveTo>
                  <a:lnTo>
                    <a:pt x="1069" y="107375"/>
                  </a:lnTo>
                  <a:lnTo>
                    <a:pt x="4232" y="91614"/>
                  </a:lnTo>
                  <a:lnTo>
                    <a:pt x="25518" y="48296"/>
                  </a:lnTo>
                  <a:lnTo>
                    <a:pt x="61925" y="16560"/>
                  </a:lnTo>
                  <a:lnTo>
                    <a:pt x="107382" y="1067"/>
                  </a:lnTo>
                  <a:lnTo>
                    <a:pt x="123482" y="0"/>
                  </a:lnTo>
                  <a:lnTo>
                    <a:pt x="170711" y="9413"/>
                  </a:lnTo>
                  <a:lnTo>
                    <a:pt x="210866" y="36131"/>
                  </a:lnTo>
                  <a:lnTo>
                    <a:pt x="237545" y="76392"/>
                  </a:lnTo>
                  <a:lnTo>
                    <a:pt x="246964" y="123469"/>
                  </a:lnTo>
                  <a:lnTo>
                    <a:pt x="245894" y="139576"/>
                  </a:lnTo>
                  <a:lnTo>
                    <a:pt x="242731" y="155379"/>
                  </a:lnTo>
                  <a:lnTo>
                    <a:pt x="221443" y="198804"/>
                  </a:lnTo>
                  <a:lnTo>
                    <a:pt x="185394" y="230390"/>
                  </a:lnTo>
                  <a:lnTo>
                    <a:pt x="139587" y="245883"/>
                  </a:lnTo>
                  <a:lnTo>
                    <a:pt x="123482" y="246951"/>
                  </a:lnTo>
                  <a:lnTo>
                    <a:pt x="76403" y="237537"/>
                  </a:lnTo>
                  <a:lnTo>
                    <a:pt x="36133" y="210864"/>
                  </a:lnTo>
                  <a:lnTo>
                    <a:pt x="9419" y="170709"/>
                  </a:lnTo>
                  <a:lnTo>
                    <a:pt x="1069" y="139576"/>
                  </a:lnTo>
                  <a:lnTo>
                    <a:pt x="0" y="123469"/>
                  </a:lnTo>
                  <a:close/>
                </a:path>
              </a:pathLst>
            </a:custGeom>
            <a:ln w="12599">
              <a:solidFill>
                <a:srgbClr val="00C1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4432934" y="4160052"/>
            <a:ext cx="105854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44575" algn="l"/>
              </a:tabLst>
            </a:pPr>
            <a:r>
              <a:rPr sz="800" b="1" dirty="0">
                <a:solidFill>
                  <a:srgbClr val="00C1CA"/>
                </a:solidFill>
                <a:latin typeface="Calibri"/>
                <a:cs typeface="Calibri"/>
              </a:rPr>
              <a:t>2</a:t>
            </a:r>
            <a:r>
              <a:rPr sz="800" b="1" spc="215" dirty="0">
                <a:solidFill>
                  <a:srgbClr val="00C1CA"/>
                </a:solidFill>
                <a:latin typeface="Calibri"/>
                <a:cs typeface="Calibri"/>
              </a:rPr>
              <a:t>  </a:t>
            </a:r>
            <a:r>
              <a:rPr sz="800" b="1" dirty="0">
                <a:solidFill>
                  <a:srgbClr val="00C1CA"/>
                </a:solidFill>
                <a:latin typeface="Calibri"/>
                <a:cs typeface="Calibri"/>
              </a:rPr>
              <a:t>9</a:t>
            </a:r>
            <a:r>
              <a:rPr sz="800" b="1" spc="-60" dirty="0">
                <a:solidFill>
                  <a:srgbClr val="00C1CA"/>
                </a:solidFill>
                <a:latin typeface="Calibri"/>
                <a:cs typeface="Calibri"/>
              </a:rPr>
              <a:t> </a:t>
            </a:r>
            <a:r>
              <a:rPr sz="800" u="heavy" dirty="0">
                <a:solidFill>
                  <a:srgbClr val="00C1CA"/>
                </a:solidFill>
                <a:uFill>
                  <a:solidFill>
                    <a:srgbClr val="CAD4E0"/>
                  </a:solidFill>
                </a:uFill>
                <a:latin typeface="Times New Roman"/>
                <a:cs typeface="Times New Roman"/>
              </a:rPr>
              <a:t>	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738143" y="4510330"/>
            <a:ext cx="162242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191F2B"/>
                </a:solidFill>
                <a:latin typeface="Calibri"/>
                <a:cs typeface="Calibri"/>
              </a:rPr>
              <a:t>TinyBERT</a:t>
            </a:r>
            <a:r>
              <a:rPr sz="7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191F2B"/>
                </a:solidFill>
                <a:latin typeface="Calibri"/>
                <a:cs typeface="Calibri"/>
              </a:rPr>
              <a:t>/</a:t>
            </a:r>
            <a:r>
              <a:rPr sz="700" spc="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191F2B"/>
                </a:solidFill>
                <a:latin typeface="Calibri"/>
                <a:cs typeface="Calibri"/>
              </a:rPr>
              <a:t>DistilBERT</a:t>
            </a:r>
            <a:r>
              <a:rPr sz="700" spc="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00" spc="-20" dirty="0">
                <a:solidFill>
                  <a:srgbClr val="191F2B"/>
                </a:solidFill>
                <a:latin typeface="Calibri"/>
                <a:cs typeface="Calibri"/>
              </a:rPr>
              <a:t>BERT-</a:t>
            </a:r>
            <a:r>
              <a:rPr sz="700" spc="-10" dirty="0">
                <a:solidFill>
                  <a:srgbClr val="191F2B"/>
                </a:solidFill>
                <a:latin typeface="Calibri"/>
                <a:cs typeface="Calibri"/>
              </a:rPr>
              <a:t>family</a:t>
            </a:r>
            <a:r>
              <a:rPr sz="700" spc="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191F2B"/>
                </a:solidFill>
                <a:latin typeface="Calibri"/>
                <a:cs typeface="Calibri"/>
              </a:rPr>
              <a:t>distillation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6128816" y="4153866"/>
            <a:ext cx="259715" cy="259715"/>
            <a:chOff x="6128816" y="4153866"/>
            <a:chExt cx="259715" cy="259715"/>
          </a:xfrm>
        </p:grpSpPr>
        <p:pic>
          <p:nvPicPr>
            <p:cNvPr id="58" name="object 5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35116" y="4160166"/>
              <a:ext cx="246964" cy="246951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6135116" y="4160166"/>
              <a:ext cx="247015" cy="247015"/>
            </a:xfrm>
            <a:custGeom>
              <a:avLst/>
              <a:gdLst/>
              <a:ahLst/>
              <a:cxnLst/>
              <a:rect l="l" t="t" r="r" b="b"/>
              <a:pathLst>
                <a:path w="247014" h="247014">
                  <a:moveTo>
                    <a:pt x="0" y="123469"/>
                  </a:moveTo>
                  <a:lnTo>
                    <a:pt x="1069" y="107375"/>
                  </a:lnTo>
                  <a:lnTo>
                    <a:pt x="4232" y="91614"/>
                  </a:lnTo>
                  <a:lnTo>
                    <a:pt x="25520" y="48296"/>
                  </a:lnTo>
                  <a:lnTo>
                    <a:pt x="61569" y="16560"/>
                  </a:lnTo>
                  <a:lnTo>
                    <a:pt x="107377" y="1067"/>
                  </a:lnTo>
                  <a:lnTo>
                    <a:pt x="123482" y="0"/>
                  </a:lnTo>
                  <a:lnTo>
                    <a:pt x="170561" y="9413"/>
                  </a:lnTo>
                  <a:lnTo>
                    <a:pt x="210831" y="36131"/>
                  </a:lnTo>
                  <a:lnTo>
                    <a:pt x="237545" y="76392"/>
                  </a:lnTo>
                  <a:lnTo>
                    <a:pt x="246964" y="123469"/>
                  </a:lnTo>
                  <a:lnTo>
                    <a:pt x="245894" y="139576"/>
                  </a:lnTo>
                  <a:lnTo>
                    <a:pt x="242731" y="155379"/>
                  </a:lnTo>
                  <a:lnTo>
                    <a:pt x="221445" y="198804"/>
                  </a:lnTo>
                  <a:lnTo>
                    <a:pt x="185038" y="230390"/>
                  </a:lnTo>
                  <a:lnTo>
                    <a:pt x="139581" y="245883"/>
                  </a:lnTo>
                  <a:lnTo>
                    <a:pt x="123482" y="246951"/>
                  </a:lnTo>
                  <a:lnTo>
                    <a:pt x="76252" y="237537"/>
                  </a:lnTo>
                  <a:lnTo>
                    <a:pt x="36098" y="210864"/>
                  </a:lnTo>
                  <a:lnTo>
                    <a:pt x="9419" y="170709"/>
                  </a:lnTo>
                  <a:lnTo>
                    <a:pt x="1069" y="139576"/>
                  </a:lnTo>
                  <a:lnTo>
                    <a:pt x="0" y="123469"/>
                  </a:lnTo>
                  <a:close/>
                </a:path>
              </a:pathLst>
            </a:custGeom>
            <a:ln w="12599">
              <a:solidFill>
                <a:srgbClr val="00C1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6142583" y="4160052"/>
            <a:ext cx="105854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45210" algn="l"/>
              </a:tabLst>
            </a:pPr>
            <a:r>
              <a:rPr sz="800" b="1" dirty="0">
                <a:solidFill>
                  <a:srgbClr val="00C1CA"/>
                </a:solidFill>
                <a:latin typeface="Calibri"/>
                <a:cs typeface="Calibri"/>
              </a:rPr>
              <a:t>2</a:t>
            </a:r>
            <a:r>
              <a:rPr sz="800" b="1" spc="215" dirty="0">
                <a:solidFill>
                  <a:srgbClr val="00C1CA"/>
                </a:solidFill>
                <a:latin typeface="Calibri"/>
                <a:cs typeface="Calibri"/>
              </a:rPr>
              <a:t>  </a:t>
            </a:r>
            <a:r>
              <a:rPr sz="800" b="1" dirty="0">
                <a:solidFill>
                  <a:srgbClr val="00C1CA"/>
                </a:solidFill>
                <a:latin typeface="Calibri"/>
                <a:cs typeface="Calibri"/>
              </a:rPr>
              <a:t>3</a:t>
            </a:r>
            <a:r>
              <a:rPr sz="800" b="1" spc="-60" dirty="0">
                <a:solidFill>
                  <a:srgbClr val="00C1CA"/>
                </a:solidFill>
                <a:latin typeface="Calibri"/>
                <a:cs typeface="Calibri"/>
              </a:rPr>
              <a:t> </a:t>
            </a:r>
            <a:r>
              <a:rPr sz="800" u="heavy" dirty="0">
                <a:solidFill>
                  <a:srgbClr val="00C1CA"/>
                </a:solidFill>
                <a:uFill>
                  <a:solidFill>
                    <a:srgbClr val="CAD4E0"/>
                  </a:solidFill>
                </a:uFill>
                <a:latin typeface="Times New Roman"/>
                <a:cs typeface="Times New Roman"/>
              </a:rPr>
              <a:t>	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505018" y="4510330"/>
            <a:ext cx="1506220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10" dirty="0">
                <a:solidFill>
                  <a:srgbClr val="191F2B"/>
                </a:solidFill>
                <a:latin typeface="Calibri"/>
                <a:cs typeface="Calibri"/>
              </a:rPr>
              <a:t>Orca</a:t>
            </a:r>
            <a:r>
              <a:rPr sz="70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191F2B"/>
                </a:solidFill>
                <a:latin typeface="Calibri"/>
                <a:cs typeface="Calibri"/>
              </a:rPr>
              <a:t>/</a:t>
            </a:r>
            <a:r>
              <a:rPr sz="7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191F2B"/>
                </a:solidFill>
                <a:latin typeface="Calibri"/>
                <a:cs typeface="Calibri"/>
              </a:rPr>
              <a:t>CoT</a:t>
            </a:r>
            <a:r>
              <a:rPr sz="7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191F2B"/>
                </a:solidFill>
                <a:latin typeface="Calibri"/>
                <a:cs typeface="Calibri"/>
              </a:rPr>
              <a:t>Reasoning</a:t>
            </a:r>
            <a:r>
              <a:rPr sz="7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191F2B"/>
                </a:solidFill>
                <a:latin typeface="Calibri"/>
                <a:cs typeface="Calibri"/>
              </a:rPr>
              <a:t>transfer</a:t>
            </a:r>
            <a:r>
              <a:rPr sz="70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191F2B"/>
                </a:solidFill>
                <a:latin typeface="Calibri"/>
                <a:cs typeface="Calibri"/>
              </a:rPr>
              <a:t>techniques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7838819" y="4153866"/>
            <a:ext cx="259715" cy="259715"/>
            <a:chOff x="7838819" y="4153866"/>
            <a:chExt cx="259715" cy="259715"/>
          </a:xfrm>
        </p:grpSpPr>
        <p:pic>
          <p:nvPicPr>
            <p:cNvPr id="63" name="object 6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45119" y="4160166"/>
              <a:ext cx="246964" cy="246951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7845119" y="4160166"/>
              <a:ext cx="247015" cy="247015"/>
            </a:xfrm>
            <a:custGeom>
              <a:avLst/>
              <a:gdLst/>
              <a:ahLst/>
              <a:cxnLst/>
              <a:rect l="l" t="t" r="r" b="b"/>
              <a:pathLst>
                <a:path w="247015" h="247014">
                  <a:moveTo>
                    <a:pt x="0" y="123469"/>
                  </a:moveTo>
                  <a:lnTo>
                    <a:pt x="1069" y="107375"/>
                  </a:lnTo>
                  <a:lnTo>
                    <a:pt x="4232" y="91614"/>
                  </a:lnTo>
                  <a:lnTo>
                    <a:pt x="25518" y="48296"/>
                  </a:lnTo>
                  <a:lnTo>
                    <a:pt x="61925" y="16560"/>
                  </a:lnTo>
                  <a:lnTo>
                    <a:pt x="107382" y="1067"/>
                  </a:lnTo>
                  <a:lnTo>
                    <a:pt x="123482" y="0"/>
                  </a:lnTo>
                  <a:lnTo>
                    <a:pt x="170711" y="9413"/>
                  </a:lnTo>
                  <a:lnTo>
                    <a:pt x="210866" y="36131"/>
                  </a:lnTo>
                  <a:lnTo>
                    <a:pt x="237545" y="76392"/>
                  </a:lnTo>
                  <a:lnTo>
                    <a:pt x="246964" y="123469"/>
                  </a:lnTo>
                  <a:lnTo>
                    <a:pt x="245894" y="139576"/>
                  </a:lnTo>
                  <a:lnTo>
                    <a:pt x="242731" y="155379"/>
                  </a:lnTo>
                  <a:lnTo>
                    <a:pt x="221443" y="198804"/>
                  </a:lnTo>
                  <a:lnTo>
                    <a:pt x="185394" y="230390"/>
                  </a:lnTo>
                  <a:lnTo>
                    <a:pt x="139587" y="245883"/>
                  </a:lnTo>
                  <a:lnTo>
                    <a:pt x="123482" y="246951"/>
                  </a:lnTo>
                  <a:lnTo>
                    <a:pt x="76403" y="237537"/>
                  </a:lnTo>
                  <a:lnTo>
                    <a:pt x="36133" y="210864"/>
                  </a:lnTo>
                  <a:lnTo>
                    <a:pt x="9419" y="170709"/>
                  </a:lnTo>
                  <a:lnTo>
                    <a:pt x="1069" y="139576"/>
                  </a:lnTo>
                  <a:lnTo>
                    <a:pt x="0" y="123469"/>
                  </a:lnTo>
                  <a:close/>
                </a:path>
              </a:pathLst>
            </a:custGeom>
            <a:ln w="12599">
              <a:solidFill>
                <a:srgbClr val="00C1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7852574" y="4160052"/>
            <a:ext cx="23114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00C1CA"/>
                </a:solidFill>
                <a:latin typeface="Calibri"/>
                <a:cs typeface="Calibri"/>
              </a:rPr>
              <a:t>2</a:t>
            </a:r>
            <a:r>
              <a:rPr sz="800" b="1" spc="215" dirty="0">
                <a:solidFill>
                  <a:srgbClr val="00C1CA"/>
                </a:solidFill>
                <a:latin typeface="Calibri"/>
                <a:cs typeface="Calibri"/>
              </a:rPr>
              <a:t>  </a:t>
            </a:r>
            <a:r>
              <a:rPr sz="800" b="1" spc="-50" dirty="0">
                <a:solidFill>
                  <a:srgbClr val="00C1CA"/>
                </a:solidFill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7" name="object 6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10" dirty="0"/>
              <a:t>Knowledge</a:t>
            </a:r>
            <a:r>
              <a:rPr dirty="0"/>
              <a:t> </a:t>
            </a:r>
            <a:r>
              <a:rPr spc="-10" dirty="0"/>
              <a:t>Distillation</a:t>
            </a:r>
            <a:r>
              <a:rPr spc="-5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LLMs</a:t>
            </a:r>
            <a:r>
              <a:rPr spc="170" dirty="0"/>
              <a:t> </a:t>
            </a:r>
            <a:r>
              <a:rPr dirty="0"/>
              <a:t>|</a:t>
            </a:r>
            <a:r>
              <a:rPr spc="180" dirty="0"/>
              <a:t> </a:t>
            </a:r>
            <a:r>
              <a:rPr spc="-10" dirty="0"/>
              <a:t>Manisa</a:t>
            </a:r>
            <a:r>
              <a:rPr spc="-5" dirty="0"/>
              <a:t> </a:t>
            </a:r>
            <a:r>
              <a:rPr dirty="0"/>
              <a:t>Celal </a:t>
            </a:r>
            <a:r>
              <a:rPr spc="-10" dirty="0"/>
              <a:t>Bayar</a:t>
            </a:r>
            <a:r>
              <a:rPr spc="-5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68" name="object 6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3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18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7214298" y="4510330"/>
            <a:ext cx="1507490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10" dirty="0">
                <a:solidFill>
                  <a:srgbClr val="191F2B"/>
                </a:solidFill>
                <a:latin typeface="Calibri"/>
                <a:cs typeface="Calibri"/>
              </a:rPr>
              <a:t>DeepSeek-</a:t>
            </a:r>
            <a:r>
              <a:rPr sz="700" dirty="0">
                <a:solidFill>
                  <a:srgbClr val="191F2B"/>
                </a:solidFill>
                <a:latin typeface="Calibri"/>
                <a:cs typeface="Calibri"/>
              </a:rPr>
              <a:t>R1</a:t>
            </a:r>
            <a:r>
              <a:rPr sz="70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191F2B"/>
                </a:solidFill>
                <a:latin typeface="Calibri"/>
                <a:cs typeface="Calibri"/>
              </a:rPr>
              <a:t>RL</a:t>
            </a:r>
            <a:r>
              <a:rPr sz="7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191F2B"/>
                </a:solidFill>
                <a:latin typeface="Calibri"/>
                <a:cs typeface="Calibri"/>
              </a:rPr>
              <a:t>+</a:t>
            </a:r>
            <a:r>
              <a:rPr sz="70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191F2B"/>
                </a:solidFill>
                <a:latin typeface="Calibri"/>
                <a:cs typeface="Calibri"/>
              </a:rPr>
              <a:t>CoT</a:t>
            </a:r>
            <a:r>
              <a:rPr sz="7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00" spc="-10" dirty="0">
                <a:solidFill>
                  <a:srgbClr val="191F2B"/>
                </a:solidFill>
                <a:latin typeface="Calibri"/>
                <a:cs typeface="Calibri"/>
              </a:rPr>
              <a:t>distillation</a:t>
            </a:r>
            <a:r>
              <a:rPr sz="7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00" dirty="0">
                <a:solidFill>
                  <a:srgbClr val="191F2B"/>
                </a:solidFill>
                <a:latin typeface="Calibri"/>
                <a:cs typeface="Calibri"/>
              </a:rPr>
              <a:t>at</a:t>
            </a:r>
            <a:r>
              <a:rPr sz="7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00" spc="-20" dirty="0">
                <a:solidFill>
                  <a:srgbClr val="191F2B"/>
                </a:solidFill>
                <a:latin typeface="Calibri"/>
                <a:cs typeface="Calibri"/>
              </a:rPr>
              <a:t>scale</a:t>
            </a:r>
            <a:endParaRPr sz="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/>
              <a:t>Theoretical</a:t>
            </a:r>
            <a:r>
              <a:rPr sz="2000" spc="-20" dirty="0"/>
              <a:t> </a:t>
            </a:r>
            <a:r>
              <a:rPr sz="2000" spc="-10" dirty="0"/>
              <a:t>Framework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6275057" y="232107"/>
            <a:ext cx="25577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spc="-65" dirty="0">
                <a:solidFill>
                  <a:srgbClr val="00C1CA"/>
                </a:solidFill>
                <a:latin typeface="Arial"/>
                <a:cs typeface="Arial"/>
              </a:rPr>
              <a:t>02</a:t>
            </a:r>
            <a:r>
              <a:rPr sz="1100" i="1" spc="-20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30" dirty="0">
                <a:solidFill>
                  <a:srgbClr val="00C1CA"/>
                </a:solidFill>
                <a:latin typeface="Arial"/>
                <a:cs typeface="Arial"/>
              </a:rPr>
              <a:t>- </a:t>
            </a:r>
            <a:r>
              <a:rPr sz="1100" i="1" spc="-100" dirty="0">
                <a:solidFill>
                  <a:srgbClr val="00C1CA"/>
                </a:solidFill>
                <a:latin typeface="Arial"/>
                <a:cs typeface="Arial"/>
              </a:rPr>
              <a:t>Teacher-</a:t>
            </a:r>
            <a:r>
              <a:rPr sz="1100" i="1" spc="-50" dirty="0">
                <a:solidFill>
                  <a:srgbClr val="00C1CA"/>
                </a:solidFill>
                <a:latin typeface="Arial"/>
                <a:cs typeface="Arial"/>
              </a:rPr>
              <a:t>Student</a:t>
            </a:r>
            <a:r>
              <a:rPr sz="1100" i="1" spc="-40" dirty="0">
                <a:solidFill>
                  <a:srgbClr val="00C1CA"/>
                </a:solidFill>
                <a:latin typeface="Arial"/>
                <a:cs typeface="Arial"/>
              </a:rPr>
              <a:t> Model</a:t>
            </a:r>
            <a:r>
              <a:rPr sz="1100" i="1" spc="-30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C1CA"/>
                </a:solidFill>
                <a:latin typeface="Arial"/>
                <a:cs typeface="Arial"/>
              </a:rPr>
              <a:t>&amp;</a:t>
            </a:r>
            <a:r>
              <a:rPr sz="1100" i="1" spc="-1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120" dirty="0">
                <a:solidFill>
                  <a:srgbClr val="00C1CA"/>
                </a:solidFill>
                <a:latin typeface="Arial"/>
                <a:cs typeface="Arial"/>
              </a:rPr>
              <a:t>Loss</a:t>
            </a:r>
            <a:r>
              <a:rPr sz="1100" i="1" spc="-2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40" dirty="0">
                <a:solidFill>
                  <a:srgbClr val="00C1CA"/>
                </a:solidFill>
                <a:latin typeface="Arial"/>
                <a:cs typeface="Arial"/>
              </a:rPr>
              <a:t>Functions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6655" y="4885742"/>
            <a:ext cx="9156700" cy="264160"/>
            <a:chOff x="-6655" y="4885742"/>
            <a:chExt cx="9156700" cy="264160"/>
          </a:xfrm>
        </p:grpSpPr>
        <p:sp>
          <p:nvSpPr>
            <p:cNvPr id="5" name="object 5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631" y="0"/>
                  </a:moveTo>
                  <a:lnTo>
                    <a:pt x="0" y="0"/>
                  </a:lnTo>
                  <a:lnTo>
                    <a:pt x="0" y="251282"/>
                  </a:lnTo>
                  <a:lnTo>
                    <a:pt x="4572000" y="251282"/>
                  </a:lnTo>
                  <a:lnTo>
                    <a:pt x="9143631" y="251282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4572000" y="251282"/>
                  </a:moveTo>
                  <a:lnTo>
                    <a:pt x="0" y="251282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251282"/>
                  </a:lnTo>
                  <a:lnTo>
                    <a:pt x="4572000" y="251282"/>
                  </a:lnTo>
                  <a:close/>
                </a:path>
              </a:pathLst>
            </a:custGeom>
            <a:ln w="12599">
              <a:solidFill>
                <a:srgbClr val="0C1A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320040" y="868682"/>
            <a:ext cx="2606040" cy="2606040"/>
          </a:xfrm>
          <a:custGeom>
            <a:avLst/>
            <a:gdLst/>
            <a:ahLst/>
            <a:cxnLst/>
            <a:rect l="l" t="t" r="r" b="b"/>
            <a:pathLst>
              <a:path w="2606040" h="2606040">
                <a:moveTo>
                  <a:pt x="2605684" y="0"/>
                </a:moveTo>
                <a:lnTo>
                  <a:pt x="0" y="0"/>
                </a:lnTo>
                <a:lnTo>
                  <a:pt x="0" y="2605684"/>
                </a:lnTo>
                <a:lnTo>
                  <a:pt x="1302842" y="2605684"/>
                </a:lnTo>
                <a:lnTo>
                  <a:pt x="2605684" y="2605684"/>
                </a:lnTo>
                <a:lnTo>
                  <a:pt x="2605684" y="0"/>
                </a:lnTo>
                <a:close/>
              </a:path>
            </a:pathLst>
          </a:custGeom>
          <a:solidFill>
            <a:srgbClr val="1A396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182524" y="784430"/>
            <a:ext cx="6394450" cy="2827655"/>
            <a:chOff x="182524" y="784430"/>
            <a:chExt cx="6394450" cy="282765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524" y="784430"/>
              <a:ext cx="2827794" cy="282745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48684" y="784430"/>
              <a:ext cx="2827794" cy="282745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886199" y="868682"/>
              <a:ext cx="2606040" cy="2606040"/>
            </a:xfrm>
            <a:custGeom>
              <a:avLst/>
              <a:gdLst/>
              <a:ahLst/>
              <a:cxnLst/>
              <a:rect l="l" t="t" r="r" b="b"/>
              <a:pathLst>
                <a:path w="2606040" h="2606040">
                  <a:moveTo>
                    <a:pt x="2605684" y="0"/>
                  </a:moveTo>
                  <a:lnTo>
                    <a:pt x="0" y="0"/>
                  </a:lnTo>
                  <a:lnTo>
                    <a:pt x="0" y="2605684"/>
                  </a:lnTo>
                  <a:lnTo>
                    <a:pt x="1302842" y="2605684"/>
                  </a:lnTo>
                  <a:lnTo>
                    <a:pt x="2605684" y="2605684"/>
                  </a:lnTo>
                  <a:lnTo>
                    <a:pt x="2605684" y="0"/>
                  </a:lnTo>
                  <a:close/>
                </a:path>
              </a:pathLst>
            </a:custGeom>
            <a:solidFill>
              <a:srgbClr val="1D5E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10500" y="859142"/>
          <a:ext cx="6170293" cy="26022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5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7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6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94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900" b="1" spc="-10" dirty="0">
                          <a:solidFill>
                            <a:srgbClr val="00C1CA"/>
                          </a:solidFill>
                          <a:latin typeface="Calibri"/>
                          <a:cs typeface="Calibri"/>
                        </a:rPr>
                        <a:t>TEACHER</a:t>
                      </a:r>
                      <a:r>
                        <a:rPr sz="900" b="1" spc="15" dirty="0">
                          <a:solidFill>
                            <a:srgbClr val="00C1C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00C1CA"/>
                          </a:solidFill>
                          <a:latin typeface="Calibri"/>
                          <a:cs typeface="Calibri"/>
                        </a:rPr>
                        <a:t>MODEL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95250" marB="0">
                    <a:lnL w="19050">
                      <a:solidFill>
                        <a:srgbClr val="00C1CA"/>
                      </a:solidFill>
                      <a:prstDash val="solid"/>
                    </a:lnL>
                    <a:lnR w="19050">
                      <a:solidFill>
                        <a:srgbClr val="00C1CA"/>
                      </a:solidFill>
                      <a:prstDash val="solid"/>
                    </a:lnR>
                    <a:lnT w="19050">
                      <a:solidFill>
                        <a:srgbClr val="00C1C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C1CA"/>
                      </a:solidFill>
                      <a:prstDash val="solid"/>
                    </a:lnL>
                    <a:lnR w="19050">
                      <a:solidFill>
                        <a:srgbClr val="F3A16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900" b="1" dirty="0">
                          <a:solidFill>
                            <a:srgbClr val="F3A160"/>
                          </a:solidFill>
                          <a:latin typeface="Calibri"/>
                          <a:cs typeface="Calibri"/>
                        </a:rPr>
                        <a:t>STUDENT</a:t>
                      </a:r>
                      <a:r>
                        <a:rPr sz="900" b="1" spc="-45" dirty="0">
                          <a:solidFill>
                            <a:srgbClr val="F3A1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3A160"/>
                          </a:solidFill>
                          <a:latin typeface="Calibri"/>
                          <a:cs typeface="Calibri"/>
                        </a:rPr>
                        <a:t>MODEL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95250" marB="0">
                    <a:lnL w="19050">
                      <a:solidFill>
                        <a:srgbClr val="F3A160"/>
                      </a:solidFill>
                      <a:prstDash val="solid"/>
                    </a:lnL>
                    <a:lnR w="19050">
                      <a:solidFill>
                        <a:srgbClr val="F3A160"/>
                      </a:solidFill>
                      <a:prstDash val="solid"/>
                    </a:lnR>
                    <a:lnT w="19050">
                      <a:solidFill>
                        <a:srgbClr val="F3A16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416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Parameters:</a:t>
                      </a:r>
                      <a:r>
                        <a:rPr sz="10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theta_T</a:t>
                      </a:r>
                      <a:r>
                        <a:rPr sz="1000" b="1" spc="18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(FIXED)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L w="19050">
                      <a:solidFill>
                        <a:srgbClr val="00C1CA"/>
                      </a:solidFill>
                      <a:prstDash val="solid"/>
                    </a:lnL>
                    <a:lnR w="19050">
                      <a:solidFill>
                        <a:srgbClr val="00C1CA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C1CA"/>
                      </a:solidFill>
                      <a:prstDash val="solid"/>
                    </a:lnL>
                    <a:lnR w="19050">
                      <a:solidFill>
                        <a:srgbClr val="F3A16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416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Parameters:</a:t>
                      </a:r>
                      <a:r>
                        <a:rPr sz="10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theta_S</a:t>
                      </a:r>
                      <a:r>
                        <a:rPr sz="1000" b="1" spc="18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(TRAINED)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L w="19050">
                      <a:solidFill>
                        <a:srgbClr val="F3A160"/>
                      </a:solidFill>
                      <a:prstDash val="solid"/>
                    </a:lnL>
                    <a:lnR w="19050">
                      <a:solidFill>
                        <a:srgbClr val="F3A16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L="141605">
                        <a:lnSpc>
                          <a:spcPts val="985"/>
                        </a:lnSpc>
                        <a:spcBef>
                          <a:spcPts val="545"/>
                        </a:spcBef>
                      </a:pPr>
                      <a:r>
                        <a:rPr sz="85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100B+</a:t>
                      </a:r>
                      <a:r>
                        <a:rPr sz="850" spc="-25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parameters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19050">
                      <a:solidFill>
                        <a:srgbClr val="00C1CA"/>
                      </a:solidFill>
                      <a:prstDash val="solid"/>
                    </a:lnL>
                    <a:lnR w="19050">
                      <a:solidFill>
                        <a:srgbClr val="00C1CA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C1CA"/>
                      </a:solidFill>
                      <a:prstDash val="solid"/>
                    </a:lnL>
                    <a:lnR w="19050">
                      <a:solidFill>
                        <a:srgbClr val="F3A16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141605">
                        <a:lnSpc>
                          <a:spcPts val="985"/>
                        </a:lnSpc>
                        <a:spcBef>
                          <a:spcPts val="545"/>
                        </a:spcBef>
                      </a:pPr>
                      <a:r>
                        <a:rPr sz="85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1B</a:t>
                      </a:r>
                      <a:r>
                        <a:rPr sz="850" spc="-1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850" spc="-5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13B</a:t>
                      </a:r>
                      <a:r>
                        <a:rPr sz="850" spc="-5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parameters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T="69215" marB="0">
                    <a:lnL w="19050">
                      <a:solidFill>
                        <a:srgbClr val="F3A160"/>
                      </a:solidFill>
                      <a:prstDash val="solid"/>
                    </a:lnL>
                    <a:lnR w="19050">
                      <a:solidFill>
                        <a:srgbClr val="F3A16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0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C1CA"/>
                      </a:solidFill>
                      <a:prstDash val="solid"/>
                    </a:lnL>
                    <a:lnR w="19050">
                      <a:solidFill>
                        <a:srgbClr val="00C1CA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ts val="890"/>
                        </a:lnSpc>
                      </a:pPr>
                      <a:r>
                        <a:rPr sz="800" i="1" spc="-50" dirty="0">
                          <a:solidFill>
                            <a:srgbClr val="00C1CA"/>
                          </a:solidFill>
                          <a:latin typeface="Arial"/>
                          <a:cs typeface="Arial"/>
                        </a:rPr>
                        <a:t>Sok</a:t>
                      </a:r>
                      <a:r>
                        <a:rPr sz="800" i="1" spc="-35" dirty="0">
                          <a:solidFill>
                            <a:srgbClr val="00C1C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solidFill>
                            <a:srgbClr val="00C1CA"/>
                          </a:solidFill>
                          <a:latin typeface="Arial"/>
                          <a:cs typeface="Arial"/>
                        </a:rPr>
                        <a:t>Targets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C1CA"/>
                      </a:solidFill>
                      <a:prstDash val="solid"/>
                    </a:lnL>
                    <a:lnR w="19050">
                      <a:solidFill>
                        <a:srgbClr val="F3A16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3A160"/>
                      </a:solidFill>
                      <a:prstDash val="solid"/>
                    </a:lnL>
                    <a:lnR w="19050">
                      <a:solidFill>
                        <a:srgbClr val="F3A16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470">
                <a:tc rowSpan="2">
                  <a:txBody>
                    <a:bodyPr/>
                    <a:lstStyle/>
                    <a:p>
                      <a:pPr marL="141605">
                        <a:lnSpc>
                          <a:spcPts val="985"/>
                        </a:lnSpc>
                      </a:pPr>
                      <a:r>
                        <a:rPr sz="850" spc="-1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High-capacity</a:t>
                      </a:r>
                      <a:r>
                        <a:rPr sz="850" spc="25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model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C1CA"/>
                      </a:solidFill>
                      <a:prstDash val="solid"/>
                    </a:lnL>
                    <a:lnR w="19050">
                      <a:solidFill>
                        <a:srgbClr val="00C1CA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C1CA"/>
                      </a:solidFill>
                      <a:prstDash val="solid"/>
                    </a:lnL>
                    <a:lnR w="19050">
                      <a:solidFill>
                        <a:srgbClr val="F3A160"/>
                      </a:solidFill>
                      <a:prstDash val="solid"/>
                    </a:lnR>
                    <a:lnB w="38100">
                      <a:solidFill>
                        <a:srgbClr val="00C1CA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141605">
                        <a:lnSpc>
                          <a:spcPts val="985"/>
                        </a:lnSpc>
                      </a:pPr>
                      <a:r>
                        <a:rPr sz="85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Compact</a:t>
                      </a:r>
                      <a:r>
                        <a:rPr sz="850" spc="-4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850" spc="-4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efficient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3A160"/>
                      </a:solidFill>
                      <a:prstDash val="solid"/>
                    </a:lnL>
                    <a:lnR w="19050">
                      <a:solidFill>
                        <a:srgbClr val="F3A160"/>
                      </a:solidFill>
                      <a:prstDash val="solid"/>
                    </a:lnR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1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C1CA"/>
                      </a:solidFill>
                      <a:prstDash val="solid"/>
                    </a:lnL>
                    <a:lnR w="19050">
                      <a:solidFill>
                        <a:srgbClr val="00C1CA"/>
                      </a:solidFill>
                      <a:prstDash val="solid"/>
                    </a:lnR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C1CA"/>
                      </a:solidFill>
                      <a:prstDash val="solid"/>
                    </a:lnL>
                    <a:lnR w="19050">
                      <a:solidFill>
                        <a:srgbClr val="F3A160"/>
                      </a:solidFill>
                      <a:prstDash val="solid"/>
                    </a:lnR>
                    <a:lnT w="38100">
                      <a:solidFill>
                        <a:srgbClr val="00C1CA"/>
                      </a:solidFill>
                      <a:prstDash val="solid"/>
                    </a:lnT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3A160"/>
                      </a:solidFill>
                      <a:prstDash val="solid"/>
                    </a:lnL>
                    <a:lnR w="19050">
                      <a:solidFill>
                        <a:srgbClr val="F3A16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079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Frozen</a:t>
                      </a:r>
                      <a:r>
                        <a:rPr sz="850" spc="-35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during</a:t>
                      </a:r>
                      <a:r>
                        <a:rPr sz="850" spc="-25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distillation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L w="19050">
                      <a:solidFill>
                        <a:srgbClr val="00C1CA"/>
                      </a:solidFill>
                      <a:prstDash val="solid"/>
                    </a:lnL>
                    <a:lnR w="19050">
                      <a:solidFill>
                        <a:srgbClr val="00C1CA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C1CA"/>
                      </a:solidFill>
                      <a:prstDash val="solid"/>
                    </a:lnL>
                    <a:lnR w="19050">
                      <a:solidFill>
                        <a:srgbClr val="F3A160"/>
                      </a:solidFill>
                      <a:prstDash val="solid"/>
                    </a:lnR>
                    <a:lnT w="38100">
                      <a:solidFill>
                        <a:srgbClr val="00C1CA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spc="-1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Learns</a:t>
                      </a:r>
                      <a:r>
                        <a:rPr sz="850" spc="-2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sz="850" spc="-15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850" spc="-15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850" spc="-2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hard</a:t>
                      </a:r>
                      <a:r>
                        <a:rPr sz="850" spc="-15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labels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L w="19050">
                      <a:solidFill>
                        <a:srgbClr val="F3A160"/>
                      </a:solidFill>
                      <a:prstDash val="solid"/>
                    </a:lnL>
                    <a:lnR w="19050">
                      <a:solidFill>
                        <a:srgbClr val="F3A16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8445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Outputs</a:t>
                      </a:r>
                      <a:r>
                        <a:rPr sz="850" spc="-45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logits</a:t>
                      </a:r>
                      <a:r>
                        <a:rPr sz="850" spc="-4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5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z_T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L w="19050">
                      <a:solidFill>
                        <a:srgbClr val="00C1CA"/>
                      </a:solidFill>
                      <a:prstDash val="solid"/>
                    </a:lnL>
                    <a:lnR w="19050">
                      <a:solidFill>
                        <a:srgbClr val="00C1CA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C1CA"/>
                      </a:solidFill>
                      <a:prstDash val="solid"/>
                    </a:lnL>
                    <a:lnR w="19050">
                      <a:solidFill>
                        <a:srgbClr val="F3A160"/>
                      </a:solidFill>
                      <a:prstDash val="solid"/>
                    </a:lnR>
                    <a:lnT w="38100">
                      <a:solidFill>
                        <a:srgbClr val="00C1CA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5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Outputs</a:t>
                      </a:r>
                      <a:r>
                        <a:rPr sz="850" spc="-45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logits</a:t>
                      </a:r>
                      <a:r>
                        <a:rPr sz="850" spc="-4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5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z_S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L w="19050">
                      <a:solidFill>
                        <a:srgbClr val="F3A160"/>
                      </a:solidFill>
                      <a:prstDash val="solid"/>
                    </a:lnL>
                    <a:lnR w="19050">
                      <a:solidFill>
                        <a:srgbClr val="F3A16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245">
                <a:tc rowSpan="2">
                  <a:txBody>
                    <a:bodyPr/>
                    <a:lstStyle/>
                    <a:p>
                      <a:pPr marL="141605" marR="123317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800" spc="-1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Examples:</a:t>
                      </a:r>
                      <a:r>
                        <a:rPr sz="800" spc="35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3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GPT-</a:t>
                      </a:r>
                      <a:r>
                        <a:rPr sz="80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4,</a:t>
                      </a:r>
                      <a:r>
                        <a:rPr sz="800" spc="4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LLaMA-</a:t>
                      </a:r>
                      <a:r>
                        <a:rPr sz="800" spc="-2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70B,</a:t>
                      </a:r>
                      <a:r>
                        <a:rPr sz="800" spc="50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DeepSeek-</a:t>
                      </a:r>
                      <a:r>
                        <a:rPr sz="80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R1</a:t>
                      </a:r>
                      <a:r>
                        <a:rPr sz="800" spc="1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(671B)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L w="19050">
                      <a:solidFill>
                        <a:srgbClr val="00C1CA"/>
                      </a:solidFill>
                      <a:prstDash val="solid"/>
                    </a:lnL>
                    <a:lnR w="19050">
                      <a:solidFill>
                        <a:srgbClr val="00C1CA"/>
                      </a:solidFill>
                      <a:prstDash val="solid"/>
                    </a:lnR>
                    <a:lnB w="19050">
                      <a:solidFill>
                        <a:srgbClr val="00C1CA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C1CA"/>
                      </a:solidFill>
                      <a:prstDash val="solid"/>
                    </a:lnL>
                    <a:lnR w="19050">
                      <a:solidFill>
                        <a:srgbClr val="F3A160"/>
                      </a:solidFill>
                      <a:prstDash val="solid"/>
                    </a:lnR>
                    <a:lnT w="38100">
                      <a:solidFill>
                        <a:srgbClr val="00C1CA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141605">
                        <a:lnSpc>
                          <a:spcPts val="875"/>
                        </a:lnSpc>
                        <a:spcBef>
                          <a:spcPts val="459"/>
                        </a:spcBef>
                      </a:pPr>
                      <a:r>
                        <a:rPr sz="800" spc="-1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Examples:</a:t>
                      </a:r>
                      <a:r>
                        <a:rPr sz="800" spc="-5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7B, 13B,</a:t>
                      </a:r>
                      <a:r>
                        <a:rPr sz="800" spc="-5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14B,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L w="19050">
                      <a:solidFill>
                        <a:srgbClr val="F3A160"/>
                      </a:solidFill>
                      <a:prstDash val="solid"/>
                    </a:lnL>
                    <a:lnR w="19050">
                      <a:solidFill>
                        <a:srgbClr val="F3A16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76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8419" marB="0">
                    <a:lnL w="19050">
                      <a:solidFill>
                        <a:srgbClr val="00C1CA"/>
                      </a:solidFill>
                      <a:prstDash val="solid"/>
                    </a:lnL>
                    <a:lnR w="19050">
                      <a:solidFill>
                        <a:srgbClr val="00C1CA"/>
                      </a:solidFill>
                      <a:prstDash val="solid"/>
                    </a:lnR>
                    <a:lnB w="19050">
                      <a:solidFill>
                        <a:srgbClr val="00C1CA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C1CA"/>
                      </a:solidFill>
                      <a:prstDash val="solid"/>
                    </a:lnL>
                    <a:lnR w="19050">
                      <a:solidFill>
                        <a:srgbClr val="F3A160"/>
                      </a:solidFill>
                      <a:prstDash val="solid"/>
                    </a:lnR>
                    <a:lnT w="38100">
                      <a:solidFill>
                        <a:srgbClr val="00C1C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ts val="940"/>
                        </a:lnSpc>
                      </a:pPr>
                      <a:r>
                        <a:rPr sz="80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32B</a:t>
                      </a:r>
                      <a:r>
                        <a:rPr sz="800" spc="1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distilled</a:t>
                      </a:r>
                      <a:r>
                        <a:rPr sz="800" spc="1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models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3A160"/>
                      </a:solidFill>
                      <a:prstDash val="solid"/>
                    </a:lnL>
                    <a:lnR w="28575">
                      <a:solidFill>
                        <a:srgbClr val="21C45D"/>
                      </a:solidFill>
                      <a:prstDash val="solid"/>
                    </a:lnR>
                    <a:lnB w="19050">
                      <a:solidFill>
                        <a:srgbClr val="F3A1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21C45D"/>
                      </a:solidFill>
                      <a:prstDash val="solid"/>
                    </a:lnL>
                    <a:lnR w="19050">
                      <a:solidFill>
                        <a:srgbClr val="F3A160"/>
                      </a:solidFill>
                      <a:prstDash val="solid"/>
                    </a:lnR>
                    <a:lnB w="19050">
                      <a:solidFill>
                        <a:srgbClr val="F3A1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5029453" y="3532583"/>
            <a:ext cx="54673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i="1" spc="-40" dirty="0">
                <a:solidFill>
                  <a:srgbClr val="21C45D"/>
                </a:solidFill>
                <a:latin typeface="Arial"/>
                <a:cs typeface="Arial"/>
              </a:rPr>
              <a:t>Hard</a:t>
            </a:r>
            <a:r>
              <a:rPr sz="750" i="1" spc="-25" dirty="0">
                <a:solidFill>
                  <a:srgbClr val="21C45D"/>
                </a:solidFill>
                <a:latin typeface="Arial"/>
                <a:cs typeface="Arial"/>
              </a:rPr>
              <a:t> </a:t>
            </a:r>
            <a:r>
              <a:rPr sz="750" i="1" spc="-50" dirty="0">
                <a:solidFill>
                  <a:srgbClr val="21C45D"/>
                </a:solidFill>
                <a:latin typeface="Arial"/>
                <a:cs typeface="Arial"/>
              </a:rPr>
              <a:t>Labels</a:t>
            </a:r>
            <a:r>
              <a:rPr sz="750" i="1" spc="-10" dirty="0">
                <a:solidFill>
                  <a:srgbClr val="21C45D"/>
                </a:solidFill>
                <a:latin typeface="Arial"/>
                <a:cs typeface="Arial"/>
              </a:rPr>
              <a:t> </a:t>
            </a:r>
            <a:r>
              <a:rPr sz="750" i="1" spc="-50" dirty="0">
                <a:solidFill>
                  <a:srgbClr val="21C45D"/>
                </a:solidFill>
                <a:latin typeface="Arial"/>
                <a:cs typeface="Arial"/>
              </a:rPr>
              <a:t>y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495122" y="787668"/>
            <a:ext cx="2456180" cy="3671570"/>
            <a:chOff x="6495122" y="787668"/>
            <a:chExt cx="2456180" cy="367157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95122" y="787668"/>
              <a:ext cx="2455557" cy="367129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629400" y="868682"/>
              <a:ext cx="2240280" cy="3456304"/>
            </a:xfrm>
            <a:custGeom>
              <a:avLst/>
              <a:gdLst/>
              <a:ahLst/>
              <a:cxnLst/>
              <a:rect l="l" t="t" r="r" b="b"/>
              <a:pathLst>
                <a:path w="2240279" h="3456304">
                  <a:moveTo>
                    <a:pt x="2239924" y="0"/>
                  </a:moveTo>
                  <a:lnTo>
                    <a:pt x="0" y="0"/>
                  </a:lnTo>
                  <a:lnTo>
                    <a:pt x="0" y="3456000"/>
                  </a:lnTo>
                  <a:lnTo>
                    <a:pt x="1119962" y="3456000"/>
                  </a:lnTo>
                  <a:lnTo>
                    <a:pt x="2239924" y="3456000"/>
                  </a:lnTo>
                  <a:lnTo>
                    <a:pt x="2239924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629400" y="868682"/>
              <a:ext cx="2240280" cy="3456304"/>
            </a:xfrm>
            <a:custGeom>
              <a:avLst/>
              <a:gdLst/>
              <a:ahLst/>
              <a:cxnLst/>
              <a:rect l="l" t="t" r="r" b="b"/>
              <a:pathLst>
                <a:path w="2240279" h="3456304">
                  <a:moveTo>
                    <a:pt x="1119962" y="3456000"/>
                  </a:moveTo>
                  <a:lnTo>
                    <a:pt x="0" y="3456000"/>
                  </a:lnTo>
                  <a:lnTo>
                    <a:pt x="0" y="0"/>
                  </a:lnTo>
                  <a:lnTo>
                    <a:pt x="2239924" y="0"/>
                  </a:lnTo>
                  <a:lnTo>
                    <a:pt x="2239924" y="3456000"/>
                  </a:lnTo>
                  <a:lnTo>
                    <a:pt x="1119962" y="3456000"/>
                  </a:lnTo>
                  <a:close/>
                </a:path>
              </a:pathLst>
            </a:custGeom>
            <a:ln w="12599">
              <a:solidFill>
                <a:srgbClr val="00C1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142759" y="959296"/>
            <a:ext cx="12230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00C1CA"/>
                </a:solidFill>
                <a:latin typeface="Calibri"/>
                <a:cs typeface="Calibri"/>
              </a:rPr>
              <a:t>COMPOSITE</a:t>
            </a:r>
            <a:r>
              <a:rPr sz="800" b="1" spc="-25" dirty="0">
                <a:solidFill>
                  <a:srgbClr val="00C1CA"/>
                </a:solidFill>
                <a:latin typeface="Calibri"/>
                <a:cs typeface="Calibri"/>
              </a:rPr>
              <a:t> </a:t>
            </a:r>
            <a:r>
              <a:rPr sz="800" b="1" dirty="0">
                <a:solidFill>
                  <a:srgbClr val="00C1CA"/>
                </a:solidFill>
                <a:latin typeface="Calibri"/>
                <a:cs typeface="Calibri"/>
              </a:rPr>
              <a:t>LOSS</a:t>
            </a:r>
            <a:r>
              <a:rPr sz="800" b="1" spc="-25" dirty="0">
                <a:solidFill>
                  <a:srgbClr val="00C1CA"/>
                </a:solidFill>
                <a:latin typeface="Calibri"/>
                <a:cs typeface="Calibri"/>
              </a:rPr>
              <a:t> </a:t>
            </a:r>
            <a:r>
              <a:rPr sz="800" b="1" spc="-10" dirty="0">
                <a:solidFill>
                  <a:srgbClr val="00C1CA"/>
                </a:solidFill>
                <a:latin typeface="Calibri"/>
                <a:cs typeface="Calibri"/>
              </a:rPr>
              <a:t>FUNCTION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696175" y="1203225"/>
            <a:ext cx="2085975" cy="1363980"/>
            <a:chOff x="6696175" y="1203225"/>
            <a:chExt cx="2085975" cy="1363980"/>
          </a:xfrm>
        </p:grpSpPr>
        <p:sp>
          <p:nvSpPr>
            <p:cNvPr id="20" name="object 20"/>
            <p:cNvSpPr/>
            <p:nvPr/>
          </p:nvSpPr>
          <p:spPr>
            <a:xfrm>
              <a:off x="6720839" y="1206717"/>
              <a:ext cx="2057400" cy="635"/>
            </a:xfrm>
            <a:custGeom>
              <a:avLst/>
              <a:gdLst/>
              <a:ahLst/>
              <a:cxnLst/>
              <a:rect l="l" t="t" r="r" b="b"/>
              <a:pathLst>
                <a:path w="2057400" h="634">
                  <a:moveTo>
                    <a:pt x="0" y="0"/>
                  </a:moveTo>
                  <a:lnTo>
                    <a:pt x="2057400" y="368"/>
                  </a:lnTo>
                </a:path>
              </a:pathLst>
            </a:custGeom>
            <a:ln w="6479">
              <a:solidFill>
                <a:srgbClr val="00C1C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720839" y="2230922"/>
              <a:ext cx="2057400" cy="635"/>
            </a:xfrm>
            <a:custGeom>
              <a:avLst/>
              <a:gdLst/>
              <a:ahLst/>
              <a:cxnLst/>
              <a:rect l="l" t="t" r="r" b="b"/>
              <a:pathLst>
                <a:path w="2057400" h="635">
                  <a:moveTo>
                    <a:pt x="0" y="0"/>
                  </a:moveTo>
                  <a:lnTo>
                    <a:pt x="2057400" y="355"/>
                  </a:lnTo>
                </a:path>
              </a:pathLst>
            </a:custGeom>
            <a:ln w="6479">
              <a:solidFill>
                <a:srgbClr val="6373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96175" y="2352777"/>
              <a:ext cx="213843" cy="213843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6752882" y="1480936"/>
            <a:ext cx="1547495" cy="512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960"/>
              </a:lnSpc>
              <a:spcBef>
                <a:spcPts val="100"/>
              </a:spcBef>
            </a:pPr>
            <a:r>
              <a:rPr sz="80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r>
              <a:rPr sz="800" spc="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sz="800" spc="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FFFFF"/>
                </a:solidFill>
                <a:latin typeface="Courier New"/>
                <a:cs typeface="Courier New"/>
              </a:rPr>
              <a:t>alpha</a:t>
            </a:r>
            <a:r>
              <a:rPr sz="800" spc="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FFFFF"/>
                </a:solidFill>
                <a:latin typeface="Courier New"/>
                <a:cs typeface="Courier New"/>
              </a:rPr>
              <a:t>*</a:t>
            </a:r>
            <a:r>
              <a:rPr sz="800" spc="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FFFFF"/>
                </a:solidFill>
                <a:latin typeface="Courier New"/>
                <a:cs typeface="Courier New"/>
              </a:rPr>
              <a:t>L_CE(S(x),</a:t>
            </a:r>
            <a:r>
              <a:rPr sz="800" spc="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ourier New"/>
                <a:cs typeface="Courier New"/>
              </a:rPr>
              <a:t>y)</a:t>
            </a:r>
            <a:endParaRPr sz="800">
              <a:latin typeface="Courier New"/>
              <a:cs typeface="Courier New"/>
            </a:endParaRPr>
          </a:p>
          <a:p>
            <a:pPr marL="121920">
              <a:lnSpc>
                <a:spcPts val="960"/>
              </a:lnSpc>
            </a:pPr>
            <a:r>
              <a:rPr sz="800" dirty="0">
                <a:solidFill>
                  <a:srgbClr val="FFFFFF"/>
                </a:solidFill>
                <a:latin typeface="Courier New"/>
                <a:cs typeface="Courier New"/>
              </a:rPr>
              <a:t>+</a:t>
            </a:r>
            <a:r>
              <a:rPr sz="800" spc="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FFFFF"/>
                </a:solidFill>
                <a:latin typeface="Courier New"/>
                <a:cs typeface="Courier New"/>
              </a:rPr>
              <a:t>(1-alpha)</a:t>
            </a:r>
            <a:r>
              <a:rPr sz="800" spc="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800" dirty="0">
                <a:solidFill>
                  <a:srgbClr val="FFFFFF"/>
                </a:solidFill>
                <a:latin typeface="Courier New"/>
                <a:cs typeface="Courier New"/>
              </a:rPr>
              <a:t>*</a:t>
            </a:r>
            <a:r>
              <a:rPr sz="800" spc="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Courier New"/>
                <a:cs typeface="Courier New"/>
              </a:rPr>
              <a:t>T^2</a:t>
            </a:r>
            <a:endParaRPr sz="800">
              <a:latin typeface="Courier New"/>
              <a:cs typeface="Courier New"/>
            </a:endParaRPr>
          </a:p>
          <a:p>
            <a:pPr marL="121920">
              <a:lnSpc>
                <a:spcPts val="960"/>
              </a:lnSpc>
            </a:pPr>
            <a:r>
              <a:rPr sz="800" dirty="0">
                <a:solidFill>
                  <a:srgbClr val="FFFFFF"/>
                </a:solidFill>
                <a:latin typeface="Courier New"/>
                <a:cs typeface="Courier New"/>
              </a:rPr>
              <a:t>*</a:t>
            </a:r>
            <a:r>
              <a:rPr sz="8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Courier New"/>
                <a:cs typeface="Courier New"/>
              </a:rPr>
              <a:t>L_KL(sigma(z_T/T),</a:t>
            </a:r>
            <a:endParaRPr sz="800">
              <a:latin typeface="Courier New"/>
              <a:cs typeface="Courier New"/>
            </a:endParaRPr>
          </a:p>
          <a:p>
            <a:pPr marL="553085">
              <a:lnSpc>
                <a:spcPct val="100000"/>
              </a:lnSpc>
            </a:pPr>
            <a:r>
              <a:rPr sz="800" spc="-10" dirty="0">
                <a:solidFill>
                  <a:srgbClr val="FFFFFF"/>
                </a:solidFill>
                <a:latin typeface="Courier New"/>
                <a:cs typeface="Courier New"/>
              </a:rPr>
              <a:t>sigma(z_S/T))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751599" y="2398943"/>
            <a:ext cx="124523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050" b="1" baseline="7936" dirty="0">
                <a:solidFill>
                  <a:srgbClr val="0C1A29"/>
                </a:solidFill>
                <a:latin typeface="Courier New"/>
                <a:cs typeface="Courier New"/>
              </a:rPr>
              <a:t>T</a:t>
            </a:r>
            <a:r>
              <a:rPr sz="1050" b="1" spc="517" baseline="7936" dirty="0">
                <a:solidFill>
                  <a:srgbClr val="0C1A29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CAD4E0"/>
                </a:solidFill>
                <a:latin typeface="Calibri"/>
                <a:cs typeface="Calibri"/>
              </a:rPr>
              <a:t>Temperature</a:t>
            </a:r>
            <a:r>
              <a:rPr sz="750" dirty="0">
                <a:solidFill>
                  <a:srgbClr val="CAD4E0"/>
                </a:solidFill>
                <a:latin typeface="Calibri"/>
                <a:cs typeface="Calibri"/>
              </a:rPr>
              <a:t> [3-5</a:t>
            </a:r>
            <a:r>
              <a:rPr sz="750" spc="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CAD4E0"/>
                </a:solidFill>
                <a:latin typeface="Calibri"/>
                <a:cs typeface="Calibri"/>
              </a:rPr>
              <a:t>optimal]</a:t>
            </a:r>
            <a:endParaRPr sz="750">
              <a:latin typeface="Calibri"/>
              <a:cs typeface="Calibri"/>
            </a:endParaRPr>
          </a:p>
        </p:txBody>
      </p:sp>
      <p:pic>
        <p:nvPicPr>
          <p:cNvPr id="25" name="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96175" y="2682177"/>
            <a:ext cx="213843" cy="213843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6723722" y="2669656"/>
            <a:ext cx="171450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00" b="1" spc="-25" dirty="0">
                <a:solidFill>
                  <a:srgbClr val="0C1A29"/>
                </a:solidFill>
                <a:latin typeface="Courier New"/>
                <a:cs typeface="Courier New"/>
              </a:rPr>
              <a:t>alp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24954" y="2727974"/>
            <a:ext cx="117856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050" b="1" baseline="-27777" dirty="0">
                <a:solidFill>
                  <a:srgbClr val="0C1A29"/>
                </a:solidFill>
                <a:latin typeface="Courier New"/>
                <a:cs typeface="Courier New"/>
              </a:rPr>
              <a:t>ha</a:t>
            </a:r>
            <a:r>
              <a:rPr sz="1050" b="1" spc="225" baseline="-27777" dirty="0">
                <a:solidFill>
                  <a:srgbClr val="0C1A29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CAD4E0"/>
                </a:solidFill>
                <a:latin typeface="Calibri"/>
                <a:cs typeface="Calibri"/>
              </a:rPr>
              <a:t>Loss</a:t>
            </a:r>
            <a:r>
              <a:rPr sz="750" spc="-1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CAD4E0"/>
                </a:solidFill>
                <a:latin typeface="Calibri"/>
                <a:cs typeface="Calibri"/>
              </a:rPr>
              <a:t>weight</a:t>
            </a:r>
            <a:r>
              <a:rPr sz="750" spc="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CAD4E0"/>
                </a:solidFill>
                <a:latin typeface="Calibri"/>
                <a:cs typeface="Calibri"/>
              </a:rPr>
              <a:t>[0.5-0.7</a:t>
            </a:r>
            <a:r>
              <a:rPr sz="75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750" spc="-25" dirty="0">
                <a:solidFill>
                  <a:srgbClr val="CAD4E0"/>
                </a:solidFill>
                <a:latin typeface="Calibri"/>
                <a:cs typeface="Calibri"/>
              </a:rPr>
              <a:t>KD]</a:t>
            </a:r>
            <a:endParaRPr sz="750">
              <a:latin typeface="Calibri"/>
              <a:cs typeface="Calibri"/>
            </a:endParaRPr>
          </a:p>
        </p:txBody>
      </p:sp>
      <p:pic>
        <p:nvPicPr>
          <p:cNvPr id="28" name="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96175" y="3011222"/>
            <a:ext cx="213843" cy="213843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6750354" y="3105253"/>
            <a:ext cx="118110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00" b="1" spc="-25" dirty="0">
                <a:solidFill>
                  <a:srgbClr val="0C1A29"/>
                </a:solidFill>
                <a:latin typeface="Courier New"/>
                <a:cs typeface="Courier New"/>
              </a:rPr>
              <a:t>ma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698322" y="3057019"/>
            <a:ext cx="93408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050" b="1" baseline="39682" dirty="0">
                <a:solidFill>
                  <a:srgbClr val="0C1A29"/>
                </a:solidFill>
                <a:latin typeface="Courier New"/>
                <a:cs typeface="Courier New"/>
              </a:rPr>
              <a:t>sig</a:t>
            </a:r>
            <a:r>
              <a:rPr sz="1050" b="1" spc="-75" baseline="39682" dirty="0">
                <a:solidFill>
                  <a:srgbClr val="0C1A29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CAD4E0"/>
                </a:solidFill>
                <a:latin typeface="Calibri"/>
                <a:cs typeface="Calibri"/>
              </a:rPr>
              <a:t>Softmax</a:t>
            </a:r>
            <a:r>
              <a:rPr sz="75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CAD4E0"/>
                </a:solidFill>
                <a:latin typeface="Calibri"/>
                <a:cs typeface="Calibri"/>
              </a:rPr>
              <a:t>function</a:t>
            </a:r>
            <a:endParaRPr sz="750">
              <a:latin typeface="Calibri"/>
              <a:cs typeface="Calibri"/>
            </a:endParaRPr>
          </a:p>
        </p:txBody>
      </p:sp>
      <p:pic>
        <p:nvPicPr>
          <p:cNvPr id="31" name="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96175" y="3340266"/>
            <a:ext cx="213843" cy="213831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6776999" y="3434297"/>
            <a:ext cx="6667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00" b="1" spc="-50" dirty="0">
                <a:solidFill>
                  <a:srgbClr val="0C1A29"/>
                </a:solidFill>
                <a:latin typeface="Courier New"/>
                <a:cs typeface="Courier New"/>
              </a:rPr>
              <a:t>L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698322" y="3386418"/>
            <a:ext cx="133032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050" b="1" baseline="39682" dirty="0">
                <a:solidFill>
                  <a:srgbClr val="0C1A29"/>
                </a:solidFill>
                <a:latin typeface="Courier New"/>
                <a:cs typeface="Courier New"/>
              </a:rPr>
              <a:t>L_K</a:t>
            </a:r>
            <a:r>
              <a:rPr sz="1050" b="1" spc="-89" baseline="39682" dirty="0">
                <a:solidFill>
                  <a:srgbClr val="0C1A29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CAD4E0"/>
                </a:solidFill>
                <a:latin typeface="Calibri"/>
                <a:cs typeface="Calibri"/>
              </a:rPr>
              <a:t>Kullback-</a:t>
            </a:r>
            <a:r>
              <a:rPr sz="750" dirty="0">
                <a:solidFill>
                  <a:srgbClr val="CAD4E0"/>
                </a:solidFill>
                <a:latin typeface="Calibri"/>
                <a:cs typeface="Calibri"/>
              </a:rPr>
              <a:t>Leibler</a:t>
            </a:r>
            <a:r>
              <a:rPr sz="75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CAD4E0"/>
                </a:solidFill>
                <a:latin typeface="Calibri"/>
                <a:cs typeface="Calibri"/>
              </a:rPr>
              <a:t>divergence</a:t>
            </a:r>
            <a:endParaRPr sz="750">
              <a:latin typeface="Calibri"/>
              <a:cs typeface="Calibri"/>
            </a:endParaRPr>
          </a:p>
        </p:txBody>
      </p:sp>
      <p:pic>
        <p:nvPicPr>
          <p:cNvPr id="34" name="object 3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96175" y="3669666"/>
            <a:ext cx="213843" cy="213831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6776999" y="3763697"/>
            <a:ext cx="6667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700" b="1" spc="-50" dirty="0">
                <a:solidFill>
                  <a:srgbClr val="0C1A29"/>
                </a:solidFill>
                <a:latin typeface="Courier New"/>
                <a:cs typeface="Courier New"/>
              </a:rPr>
              <a:t>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98322" y="3715463"/>
            <a:ext cx="132080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050" b="1" baseline="39682" dirty="0">
                <a:solidFill>
                  <a:srgbClr val="0C1A29"/>
                </a:solidFill>
                <a:latin typeface="Courier New"/>
                <a:cs typeface="Courier New"/>
              </a:rPr>
              <a:t>L_C</a:t>
            </a:r>
            <a:r>
              <a:rPr sz="1050" b="1" spc="-67" baseline="39682" dirty="0">
                <a:solidFill>
                  <a:srgbClr val="0C1A29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CAD4E0"/>
                </a:solidFill>
                <a:latin typeface="Calibri"/>
                <a:cs typeface="Calibri"/>
              </a:rPr>
              <a:t>Cross-</a:t>
            </a:r>
            <a:r>
              <a:rPr sz="750" dirty="0">
                <a:solidFill>
                  <a:srgbClr val="CAD4E0"/>
                </a:solidFill>
                <a:latin typeface="Calibri"/>
                <a:cs typeface="Calibri"/>
              </a:rPr>
              <a:t>entropy </a:t>
            </a:r>
            <a:r>
              <a:rPr sz="750" spc="-10" dirty="0">
                <a:solidFill>
                  <a:srgbClr val="CAD4E0"/>
                </a:solidFill>
                <a:latin typeface="Calibri"/>
                <a:cs typeface="Calibri"/>
              </a:rPr>
              <a:t>(hard</a:t>
            </a:r>
            <a:r>
              <a:rPr sz="75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CAD4E0"/>
                </a:solidFill>
                <a:latin typeface="Calibri"/>
                <a:cs typeface="Calibri"/>
              </a:rPr>
              <a:t>labels)</a:t>
            </a:r>
            <a:endParaRPr sz="750">
              <a:latin typeface="Calibri"/>
              <a:cs typeface="Calibri"/>
            </a:endParaRPr>
          </a:p>
        </p:txBody>
      </p:sp>
      <p:pic>
        <p:nvPicPr>
          <p:cNvPr id="37" name="object 3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696175" y="3998697"/>
            <a:ext cx="213843" cy="213843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6698322" y="4044863"/>
            <a:ext cx="124587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050" b="1" baseline="7936" dirty="0">
                <a:solidFill>
                  <a:srgbClr val="0C1A29"/>
                </a:solidFill>
                <a:latin typeface="Courier New"/>
                <a:cs typeface="Courier New"/>
              </a:rPr>
              <a:t>T^2</a:t>
            </a:r>
            <a:r>
              <a:rPr sz="1050" b="1" spc="-82" baseline="7936" dirty="0">
                <a:solidFill>
                  <a:srgbClr val="0C1A29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CAD4E0"/>
                </a:solidFill>
                <a:latin typeface="Calibri"/>
                <a:cs typeface="Calibri"/>
              </a:rPr>
              <a:t>Gradient </a:t>
            </a:r>
            <a:r>
              <a:rPr sz="750" dirty="0">
                <a:solidFill>
                  <a:srgbClr val="CAD4E0"/>
                </a:solidFill>
                <a:latin typeface="Calibri"/>
                <a:cs typeface="Calibri"/>
              </a:rPr>
              <a:t>scale</a:t>
            </a:r>
            <a:r>
              <a:rPr sz="75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CAD4E0"/>
                </a:solidFill>
                <a:latin typeface="Calibri"/>
                <a:cs typeface="Calibri"/>
              </a:rPr>
              <a:t>correction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85762" y="3521864"/>
            <a:ext cx="6388100" cy="928369"/>
            <a:chOff x="185762" y="3521864"/>
            <a:chExt cx="6388100" cy="928369"/>
          </a:xfrm>
        </p:grpSpPr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5762" y="3521864"/>
              <a:ext cx="6387477" cy="928103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320039" y="3602877"/>
              <a:ext cx="6172200" cy="713105"/>
            </a:xfrm>
            <a:custGeom>
              <a:avLst/>
              <a:gdLst/>
              <a:ahLst/>
              <a:cxnLst/>
              <a:rect l="l" t="t" r="r" b="b"/>
              <a:pathLst>
                <a:path w="6172200" h="713104">
                  <a:moveTo>
                    <a:pt x="6171844" y="0"/>
                  </a:moveTo>
                  <a:lnTo>
                    <a:pt x="0" y="0"/>
                  </a:lnTo>
                  <a:lnTo>
                    <a:pt x="0" y="712800"/>
                  </a:lnTo>
                  <a:lnTo>
                    <a:pt x="3085922" y="712800"/>
                  </a:lnTo>
                  <a:lnTo>
                    <a:pt x="6171844" y="712800"/>
                  </a:lnTo>
                  <a:lnTo>
                    <a:pt x="6171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0039" y="3602877"/>
              <a:ext cx="6172200" cy="713105"/>
            </a:xfrm>
            <a:custGeom>
              <a:avLst/>
              <a:gdLst/>
              <a:ahLst/>
              <a:cxnLst/>
              <a:rect l="l" t="t" r="r" b="b"/>
              <a:pathLst>
                <a:path w="6172200" h="713104">
                  <a:moveTo>
                    <a:pt x="3085922" y="712800"/>
                  </a:moveTo>
                  <a:lnTo>
                    <a:pt x="0" y="712800"/>
                  </a:lnTo>
                  <a:lnTo>
                    <a:pt x="0" y="0"/>
                  </a:lnTo>
                  <a:lnTo>
                    <a:pt x="6171844" y="0"/>
                  </a:lnTo>
                  <a:lnTo>
                    <a:pt x="6171844" y="712800"/>
                  </a:lnTo>
                  <a:lnTo>
                    <a:pt x="3085922" y="712800"/>
                  </a:lnTo>
                  <a:close/>
                </a:path>
              </a:pathLst>
            </a:custGeom>
            <a:ln w="12599">
              <a:solidFill>
                <a:srgbClr val="1D5E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34504" y="3744622"/>
            <a:ext cx="557530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50" b="1" spc="-20" dirty="0">
                <a:solidFill>
                  <a:srgbClr val="1A396A"/>
                </a:solidFill>
                <a:latin typeface="Calibri"/>
                <a:cs typeface="Calibri"/>
              </a:rPr>
              <a:t>Temperature</a:t>
            </a:r>
            <a:r>
              <a:rPr sz="950" b="1" spc="-30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1A396A"/>
                </a:solidFill>
                <a:latin typeface="Calibri"/>
                <a:cs typeface="Calibri"/>
              </a:rPr>
              <a:t>Intuition:</a:t>
            </a:r>
            <a:r>
              <a:rPr sz="950" b="1" spc="210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At</a:t>
            </a:r>
            <a:r>
              <a:rPr sz="8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T=1: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 teacher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predicts</a:t>
            </a:r>
            <a:r>
              <a:rPr sz="8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"Paris"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with</a:t>
            </a:r>
            <a:r>
              <a:rPr sz="8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99%</a:t>
            </a:r>
            <a:r>
              <a:rPr sz="8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confidence.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At</a:t>
            </a:r>
            <a:r>
              <a:rPr sz="8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T=4:</a:t>
            </a:r>
            <a:r>
              <a:rPr sz="8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distribution softens</a:t>
            </a:r>
            <a:r>
              <a:rPr sz="8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to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 Paris=0.65,</a:t>
            </a:r>
            <a:r>
              <a:rPr sz="850" spc="5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Lyon=0.18,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France=0.12</a:t>
            </a:r>
            <a:r>
              <a:rPr sz="85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-</a:t>
            </a:r>
            <a:r>
              <a:rPr sz="8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revealing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implicit</a:t>
            </a:r>
            <a:r>
              <a:rPr sz="85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class</a:t>
            </a:r>
            <a:r>
              <a:rPr sz="85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similarity</a:t>
            </a:r>
            <a:r>
              <a:rPr sz="850" spc="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structure</a:t>
            </a:r>
            <a:r>
              <a:rPr sz="850" spc="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entirely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discarded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 by</a:t>
            </a:r>
            <a:r>
              <a:rPr sz="850" spc="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hard-label</a:t>
            </a:r>
            <a:r>
              <a:rPr sz="8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training.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 Higher</a:t>
            </a:r>
            <a:r>
              <a:rPr sz="85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T</a:t>
            </a:r>
            <a:r>
              <a:rPr sz="85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transfers</a:t>
            </a:r>
            <a:r>
              <a:rPr sz="850" spc="5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richer</a:t>
            </a:r>
            <a:r>
              <a:rPr sz="850" spc="-3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relational</a:t>
            </a:r>
            <a:r>
              <a:rPr sz="850" spc="-3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knowledge.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10" dirty="0"/>
              <a:t>Knowledge</a:t>
            </a:r>
            <a:r>
              <a:rPr dirty="0"/>
              <a:t> </a:t>
            </a:r>
            <a:r>
              <a:rPr spc="-10" dirty="0"/>
              <a:t>Distillation</a:t>
            </a:r>
            <a:r>
              <a:rPr spc="-5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LLMs</a:t>
            </a:r>
            <a:r>
              <a:rPr spc="170" dirty="0"/>
              <a:t> </a:t>
            </a:r>
            <a:r>
              <a:rPr dirty="0"/>
              <a:t>|</a:t>
            </a:r>
            <a:r>
              <a:rPr spc="180" dirty="0"/>
              <a:t> </a:t>
            </a:r>
            <a:r>
              <a:rPr spc="-10" dirty="0"/>
              <a:t>Manisa</a:t>
            </a:r>
            <a:r>
              <a:rPr spc="-5" dirty="0"/>
              <a:t> </a:t>
            </a:r>
            <a:r>
              <a:rPr dirty="0"/>
              <a:t>Celal </a:t>
            </a:r>
            <a:r>
              <a:rPr spc="-10" dirty="0"/>
              <a:t>Bayar</a:t>
            </a:r>
            <a:r>
              <a:rPr spc="-5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4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/>
              <a:t>Three</a:t>
            </a:r>
            <a:r>
              <a:rPr sz="2000" spc="-60" dirty="0"/>
              <a:t> </a:t>
            </a:r>
            <a:r>
              <a:rPr sz="2000" dirty="0"/>
              <a:t>Types</a:t>
            </a:r>
            <a:r>
              <a:rPr sz="2000" spc="-60" dirty="0"/>
              <a:t> </a:t>
            </a:r>
            <a:r>
              <a:rPr sz="2000" dirty="0"/>
              <a:t>of</a:t>
            </a:r>
            <a:r>
              <a:rPr sz="2000" spc="-65" dirty="0"/>
              <a:t> </a:t>
            </a:r>
            <a:r>
              <a:rPr sz="2000" spc="-10" dirty="0"/>
              <a:t>Knowledge</a:t>
            </a:r>
            <a:r>
              <a:rPr sz="2000" spc="-55" dirty="0"/>
              <a:t> </a:t>
            </a:r>
            <a:r>
              <a:rPr sz="2000" spc="-10" dirty="0"/>
              <a:t>Distillation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6637578" y="232107"/>
            <a:ext cx="2195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spc="-65" dirty="0">
                <a:solidFill>
                  <a:srgbClr val="00C1CA"/>
                </a:solidFill>
                <a:latin typeface="Arial"/>
                <a:cs typeface="Arial"/>
              </a:rPr>
              <a:t>03</a:t>
            </a:r>
            <a:r>
              <a:rPr sz="1100" i="1" spc="-30" dirty="0">
                <a:solidFill>
                  <a:srgbClr val="00C1CA"/>
                </a:solidFill>
                <a:latin typeface="Arial"/>
                <a:cs typeface="Arial"/>
              </a:rPr>
              <a:t> -</a:t>
            </a:r>
            <a:r>
              <a:rPr sz="1100" i="1" spc="-3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50" dirty="0">
                <a:solidFill>
                  <a:srgbClr val="00C1CA"/>
                </a:solidFill>
                <a:latin typeface="Arial"/>
                <a:cs typeface="Arial"/>
              </a:rPr>
              <a:t>Primary</a:t>
            </a:r>
            <a:r>
              <a:rPr sz="1100" i="1" spc="-3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90" dirty="0">
                <a:solidFill>
                  <a:srgbClr val="00C1CA"/>
                </a:solidFill>
                <a:latin typeface="Arial"/>
                <a:cs typeface="Arial"/>
              </a:rPr>
              <a:t>Taxonomy</a:t>
            </a:r>
            <a:r>
              <a:rPr sz="1100" i="1" spc="-40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00C1CA"/>
                </a:solidFill>
                <a:latin typeface="Arial"/>
                <a:cs typeface="Arial"/>
              </a:rPr>
              <a:t>of</a:t>
            </a:r>
            <a:r>
              <a:rPr sz="1100" i="1" spc="-3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155" dirty="0">
                <a:solidFill>
                  <a:srgbClr val="00C1CA"/>
                </a:solidFill>
                <a:latin typeface="Arial"/>
                <a:cs typeface="Arial"/>
              </a:rPr>
              <a:t>KD</a:t>
            </a:r>
            <a:r>
              <a:rPr sz="1100" i="1" spc="-3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00C1CA"/>
                </a:solidFill>
                <a:latin typeface="Arial"/>
                <a:cs typeface="Arial"/>
              </a:rPr>
              <a:t>Methods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6655" y="4885742"/>
            <a:ext cx="9156700" cy="264160"/>
            <a:chOff x="-6655" y="4885742"/>
            <a:chExt cx="9156700" cy="264160"/>
          </a:xfrm>
        </p:grpSpPr>
        <p:sp>
          <p:nvSpPr>
            <p:cNvPr id="5" name="object 5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631" y="0"/>
                  </a:moveTo>
                  <a:lnTo>
                    <a:pt x="0" y="0"/>
                  </a:lnTo>
                  <a:lnTo>
                    <a:pt x="0" y="251282"/>
                  </a:lnTo>
                  <a:lnTo>
                    <a:pt x="4572000" y="251282"/>
                  </a:lnTo>
                  <a:lnTo>
                    <a:pt x="9143631" y="251282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4572000" y="251282"/>
                  </a:moveTo>
                  <a:lnTo>
                    <a:pt x="0" y="251282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251282"/>
                  </a:lnTo>
                  <a:lnTo>
                    <a:pt x="4572000" y="251282"/>
                  </a:lnTo>
                  <a:close/>
                </a:path>
              </a:pathLst>
            </a:custGeom>
            <a:ln w="12599">
              <a:solidFill>
                <a:srgbClr val="0C1A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18440" y="729705"/>
            <a:ext cx="2983865" cy="4107815"/>
            <a:chOff x="118440" y="729705"/>
            <a:chExt cx="2983865" cy="410781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440" y="729705"/>
              <a:ext cx="2983318" cy="410761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55955" y="813957"/>
              <a:ext cx="2761615" cy="3886200"/>
            </a:xfrm>
            <a:custGeom>
              <a:avLst/>
              <a:gdLst/>
              <a:ahLst/>
              <a:cxnLst/>
              <a:rect l="l" t="t" r="r" b="b"/>
              <a:pathLst>
                <a:path w="2761615" h="3886200">
                  <a:moveTo>
                    <a:pt x="2761208" y="0"/>
                  </a:moveTo>
                  <a:lnTo>
                    <a:pt x="0" y="0"/>
                  </a:lnTo>
                  <a:lnTo>
                    <a:pt x="0" y="3885844"/>
                  </a:lnTo>
                  <a:lnTo>
                    <a:pt x="1380604" y="3885844"/>
                  </a:lnTo>
                  <a:lnTo>
                    <a:pt x="2761208" y="3885844"/>
                  </a:lnTo>
                  <a:lnTo>
                    <a:pt x="27612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5955" y="813957"/>
              <a:ext cx="2761615" cy="530225"/>
            </a:xfrm>
            <a:custGeom>
              <a:avLst/>
              <a:gdLst/>
              <a:ahLst/>
              <a:cxnLst/>
              <a:rect l="l" t="t" r="r" b="b"/>
              <a:pathLst>
                <a:path w="2761615" h="530225">
                  <a:moveTo>
                    <a:pt x="2761208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1380604" y="529920"/>
                  </a:lnTo>
                  <a:lnTo>
                    <a:pt x="2761208" y="529920"/>
                  </a:lnTo>
                  <a:lnTo>
                    <a:pt x="2761208" y="0"/>
                  </a:lnTo>
                  <a:close/>
                </a:path>
              </a:pathLst>
            </a:custGeom>
            <a:solidFill>
              <a:srgbClr val="00C1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5955" y="4334042"/>
              <a:ext cx="2761615" cy="365760"/>
            </a:xfrm>
            <a:custGeom>
              <a:avLst/>
              <a:gdLst/>
              <a:ahLst/>
              <a:cxnLst/>
              <a:rect l="l" t="t" r="r" b="b"/>
              <a:pathLst>
                <a:path w="2761615" h="365760">
                  <a:moveTo>
                    <a:pt x="2761208" y="0"/>
                  </a:moveTo>
                  <a:lnTo>
                    <a:pt x="0" y="0"/>
                  </a:lnTo>
                  <a:lnTo>
                    <a:pt x="0" y="365404"/>
                  </a:lnTo>
                  <a:lnTo>
                    <a:pt x="1380604" y="365404"/>
                  </a:lnTo>
                  <a:lnTo>
                    <a:pt x="2761208" y="365404"/>
                  </a:lnTo>
                  <a:lnTo>
                    <a:pt x="2761208" y="0"/>
                  </a:lnTo>
                  <a:close/>
                </a:path>
              </a:pathLst>
            </a:custGeom>
            <a:solidFill>
              <a:srgbClr val="00C1CA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46416" y="804417"/>
          <a:ext cx="2760980" cy="3884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0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959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RESPONSE-BASED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7239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800" i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Output</a:t>
                      </a:r>
                      <a:r>
                        <a:rPr sz="800" i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800" i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Logit</a:t>
                      </a:r>
                      <a:r>
                        <a:rPr sz="800" i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Distillation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19050">
                      <a:solidFill>
                        <a:srgbClr val="00C1CA"/>
                      </a:solidFill>
                      <a:prstDash val="solid"/>
                    </a:lnL>
                    <a:lnR w="19050">
                      <a:solidFill>
                        <a:srgbClr val="00C1CA"/>
                      </a:solidFill>
                      <a:prstDash val="solid"/>
                    </a:lnR>
                    <a:lnT w="19050">
                      <a:solidFill>
                        <a:srgbClr val="00C1CA"/>
                      </a:solidFill>
                      <a:prstDash val="solid"/>
                    </a:lnT>
                    <a:lnB w="12700">
                      <a:solidFill>
                        <a:srgbClr val="00C1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90805" marR="194945">
                        <a:lnSpc>
                          <a:spcPct val="100000"/>
                        </a:lnSpc>
                      </a:pPr>
                      <a:r>
                        <a:rPr sz="85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Transfers</a:t>
                      </a:r>
                      <a:r>
                        <a:rPr sz="85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knowledge</a:t>
                      </a:r>
                      <a:r>
                        <a:rPr sz="850" spc="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through</a:t>
                      </a:r>
                      <a:r>
                        <a:rPr sz="850" spc="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the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teacher's</a:t>
                      </a:r>
                      <a:r>
                        <a:rPr sz="850" spc="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final</a:t>
                      </a:r>
                      <a:r>
                        <a:rPr sz="850" spc="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output</a:t>
                      </a:r>
                      <a:r>
                        <a:rPr sz="850" spc="5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layer.</a:t>
                      </a:r>
                      <a:r>
                        <a:rPr sz="85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Student minimizes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KL</a:t>
                      </a:r>
                      <a:r>
                        <a:rPr sz="85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divergence</a:t>
                      </a:r>
                      <a:r>
                        <a:rPr sz="85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between</a:t>
                      </a:r>
                      <a:r>
                        <a:rPr sz="85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its</a:t>
                      </a:r>
                      <a:r>
                        <a:rPr sz="850" spc="5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softened</a:t>
                      </a:r>
                      <a:r>
                        <a:rPr sz="85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output</a:t>
                      </a:r>
                      <a:r>
                        <a:rPr sz="85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85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teacher's.</a:t>
                      </a:r>
                      <a:r>
                        <a:rPr sz="85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Works</a:t>
                      </a:r>
                      <a:r>
                        <a:rPr sz="85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both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white-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box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black-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box</a:t>
                      </a:r>
                      <a:r>
                        <a:rPr sz="85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settings.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b="1" spc="-10" dirty="0">
                          <a:solidFill>
                            <a:srgbClr val="21C45D"/>
                          </a:solidFill>
                          <a:latin typeface="Calibri"/>
                          <a:cs typeface="Calibri"/>
                        </a:rPr>
                        <a:t>Advantages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80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Simple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80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implement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800" spc="5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API-accessible</a:t>
                      </a:r>
                      <a:r>
                        <a:rPr sz="800" spc="7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(black-box)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80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Applicable</a:t>
                      </a:r>
                      <a:r>
                        <a:rPr sz="800" spc="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across</a:t>
                      </a:r>
                      <a:r>
                        <a:rPr sz="800" spc="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architectures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b="1" spc="-10" dirty="0">
                          <a:solidFill>
                            <a:srgbClr val="EE4343"/>
                          </a:solidFill>
                          <a:latin typeface="Calibri"/>
                          <a:cs typeface="Calibri"/>
                        </a:rPr>
                        <a:t>Limitations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142240" indent="-51435">
                        <a:lnSpc>
                          <a:spcPct val="100000"/>
                        </a:lnSpc>
                        <a:spcBef>
                          <a:spcPts val="490"/>
                        </a:spcBef>
                        <a:buChar char="-"/>
                        <a:tabLst>
                          <a:tab pos="142240" algn="l"/>
                        </a:tabLst>
                      </a:pP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sz="800" spc="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internal</a:t>
                      </a:r>
                      <a:r>
                        <a:rPr sz="80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computation</a:t>
                      </a:r>
                      <a:r>
                        <a:rPr sz="800" spc="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info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142240" indent="-51435">
                        <a:lnSpc>
                          <a:spcPct val="100000"/>
                        </a:lnSpc>
                        <a:spcBef>
                          <a:spcPts val="625"/>
                        </a:spcBef>
                        <a:buChar char="-"/>
                        <a:tabLst>
                          <a:tab pos="142240" algn="l"/>
                        </a:tabLst>
                      </a:pP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Limited</a:t>
                      </a:r>
                      <a:r>
                        <a:rPr sz="80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80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complex reasoning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C1CA"/>
                      </a:solidFill>
                      <a:prstDash val="solid"/>
                    </a:lnL>
                    <a:lnR w="19050">
                      <a:solidFill>
                        <a:srgbClr val="00C1CA"/>
                      </a:solidFill>
                      <a:prstDash val="solid"/>
                    </a:lnR>
                    <a:lnT w="12700">
                      <a:solidFill>
                        <a:srgbClr val="00C1CA"/>
                      </a:solidFill>
                      <a:prstDash val="solid"/>
                    </a:lnT>
                    <a:lnB w="12700">
                      <a:solidFill>
                        <a:srgbClr val="00C1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72390">
                        <a:lnSpc>
                          <a:spcPct val="100000"/>
                        </a:lnSpc>
                      </a:pPr>
                      <a:r>
                        <a:rPr sz="800" i="1" spc="-60" dirty="0">
                          <a:solidFill>
                            <a:srgbClr val="1A396A"/>
                          </a:solidFill>
                          <a:latin typeface="Arial"/>
                          <a:cs typeface="Arial"/>
                        </a:rPr>
                        <a:t>Example:</a:t>
                      </a:r>
                      <a:r>
                        <a:rPr sz="800" i="1" spc="-15" dirty="0">
                          <a:solidFill>
                            <a:srgbClr val="1A39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35" dirty="0">
                          <a:solidFill>
                            <a:srgbClr val="1A396A"/>
                          </a:solidFill>
                          <a:latin typeface="Arial"/>
                          <a:cs typeface="Arial"/>
                        </a:rPr>
                        <a:t>Hinton</a:t>
                      </a:r>
                      <a:r>
                        <a:rPr sz="800" i="1" dirty="0">
                          <a:solidFill>
                            <a:srgbClr val="1A39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30" dirty="0">
                          <a:solidFill>
                            <a:srgbClr val="1A396A"/>
                          </a:solidFill>
                          <a:latin typeface="Arial"/>
                          <a:cs typeface="Arial"/>
                        </a:rPr>
                        <a:t>et</a:t>
                      </a:r>
                      <a:r>
                        <a:rPr sz="800" i="1" spc="-10" dirty="0">
                          <a:solidFill>
                            <a:srgbClr val="1A39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25" dirty="0">
                          <a:solidFill>
                            <a:srgbClr val="1A396A"/>
                          </a:solidFill>
                          <a:latin typeface="Arial"/>
                          <a:cs typeface="Arial"/>
                        </a:rPr>
                        <a:t>al.</a:t>
                      </a:r>
                      <a:r>
                        <a:rPr sz="800" i="1" spc="-10" dirty="0">
                          <a:solidFill>
                            <a:srgbClr val="1A39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40" dirty="0">
                          <a:solidFill>
                            <a:srgbClr val="1A396A"/>
                          </a:solidFill>
                          <a:latin typeface="Arial"/>
                          <a:cs typeface="Arial"/>
                        </a:rPr>
                        <a:t>(2015);</a:t>
                      </a:r>
                      <a:r>
                        <a:rPr sz="800" i="1" spc="-15" dirty="0">
                          <a:solidFill>
                            <a:srgbClr val="1A39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solidFill>
                            <a:srgbClr val="1A396A"/>
                          </a:solidFill>
                          <a:latin typeface="Arial"/>
                          <a:cs typeface="Arial"/>
                        </a:rPr>
                        <a:t>DistilBERT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9050">
                      <a:solidFill>
                        <a:srgbClr val="00C1CA"/>
                      </a:solidFill>
                      <a:prstDash val="solid"/>
                    </a:lnL>
                    <a:lnR w="19050">
                      <a:solidFill>
                        <a:srgbClr val="00C1CA"/>
                      </a:solidFill>
                      <a:prstDash val="solid"/>
                    </a:lnR>
                    <a:lnT w="12700">
                      <a:solidFill>
                        <a:srgbClr val="00C1CA"/>
                      </a:solidFill>
                      <a:prstDash val="solid"/>
                    </a:lnT>
                    <a:lnB w="19050">
                      <a:solidFill>
                        <a:srgbClr val="00C1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3017164" y="729705"/>
            <a:ext cx="2983865" cy="4107815"/>
            <a:chOff x="3017164" y="729705"/>
            <a:chExt cx="2983865" cy="410781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17164" y="729705"/>
              <a:ext cx="2983318" cy="410761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154680" y="813957"/>
              <a:ext cx="2761615" cy="3886200"/>
            </a:xfrm>
            <a:custGeom>
              <a:avLst/>
              <a:gdLst/>
              <a:ahLst/>
              <a:cxnLst/>
              <a:rect l="l" t="t" r="r" b="b"/>
              <a:pathLst>
                <a:path w="2761615" h="3886200">
                  <a:moveTo>
                    <a:pt x="2761195" y="0"/>
                  </a:moveTo>
                  <a:lnTo>
                    <a:pt x="0" y="0"/>
                  </a:lnTo>
                  <a:lnTo>
                    <a:pt x="0" y="3885844"/>
                  </a:lnTo>
                  <a:lnTo>
                    <a:pt x="1380604" y="3885844"/>
                  </a:lnTo>
                  <a:lnTo>
                    <a:pt x="2761195" y="3885844"/>
                  </a:lnTo>
                  <a:lnTo>
                    <a:pt x="27611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154680" y="813957"/>
              <a:ext cx="2761615" cy="530225"/>
            </a:xfrm>
            <a:custGeom>
              <a:avLst/>
              <a:gdLst/>
              <a:ahLst/>
              <a:cxnLst/>
              <a:rect l="l" t="t" r="r" b="b"/>
              <a:pathLst>
                <a:path w="2761615" h="530225">
                  <a:moveTo>
                    <a:pt x="2761195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1380604" y="529920"/>
                  </a:lnTo>
                  <a:lnTo>
                    <a:pt x="2761195" y="529920"/>
                  </a:lnTo>
                  <a:lnTo>
                    <a:pt x="2761195" y="0"/>
                  </a:lnTo>
                  <a:close/>
                </a:path>
              </a:pathLst>
            </a:custGeom>
            <a:solidFill>
              <a:srgbClr val="F3A1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54680" y="4334042"/>
              <a:ext cx="2761615" cy="365760"/>
            </a:xfrm>
            <a:custGeom>
              <a:avLst/>
              <a:gdLst/>
              <a:ahLst/>
              <a:cxnLst/>
              <a:rect l="l" t="t" r="r" b="b"/>
              <a:pathLst>
                <a:path w="2761615" h="365760">
                  <a:moveTo>
                    <a:pt x="2761195" y="0"/>
                  </a:moveTo>
                  <a:lnTo>
                    <a:pt x="0" y="0"/>
                  </a:lnTo>
                  <a:lnTo>
                    <a:pt x="0" y="365404"/>
                  </a:lnTo>
                  <a:lnTo>
                    <a:pt x="1380604" y="365404"/>
                  </a:lnTo>
                  <a:lnTo>
                    <a:pt x="2761195" y="365404"/>
                  </a:lnTo>
                  <a:lnTo>
                    <a:pt x="2761195" y="0"/>
                  </a:lnTo>
                  <a:close/>
                </a:path>
              </a:pathLst>
            </a:custGeom>
            <a:solidFill>
              <a:srgbClr val="F3A160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3145140" y="804417"/>
          <a:ext cx="2760980" cy="3884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0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959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0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FEATURE-</a:t>
                      </a: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BASED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7239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800" i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Intermediate</a:t>
                      </a:r>
                      <a:r>
                        <a:rPr sz="800" i="1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Representation</a:t>
                      </a:r>
                      <a:r>
                        <a:rPr sz="800" i="1" spc="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Distillation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19050">
                      <a:solidFill>
                        <a:srgbClr val="F3A160"/>
                      </a:solidFill>
                      <a:prstDash val="solid"/>
                    </a:lnL>
                    <a:lnR w="19050">
                      <a:solidFill>
                        <a:srgbClr val="F3A160"/>
                      </a:solidFill>
                      <a:prstDash val="solid"/>
                    </a:lnR>
                    <a:lnT w="19050">
                      <a:solidFill>
                        <a:srgbClr val="F3A160"/>
                      </a:solidFill>
                      <a:prstDash val="solid"/>
                    </a:lnT>
                    <a:lnB w="12700">
                      <a:solidFill>
                        <a:srgbClr val="F3A1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90805" marR="127635">
                        <a:lnSpc>
                          <a:spcPct val="100000"/>
                        </a:lnSpc>
                      </a:pPr>
                      <a:r>
                        <a:rPr sz="85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Transfers</a:t>
                      </a:r>
                      <a:r>
                        <a:rPr sz="85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knowledge</a:t>
                      </a:r>
                      <a:r>
                        <a:rPr sz="850" spc="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sz="85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teacher's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intermediate</a:t>
                      </a:r>
                      <a:r>
                        <a:rPr sz="850" spc="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layers:</a:t>
                      </a:r>
                      <a:r>
                        <a:rPr sz="850" spc="5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hidden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states, attention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maps,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activations.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Provides richer</a:t>
                      </a:r>
                      <a:r>
                        <a:rPr sz="850" spc="5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supervisory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signal but</a:t>
                      </a:r>
                      <a:r>
                        <a:rPr sz="85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requires</a:t>
                      </a:r>
                      <a:r>
                        <a:rPr sz="85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white-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box</a:t>
                      </a:r>
                      <a:r>
                        <a:rPr sz="85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access</a:t>
                      </a:r>
                      <a:r>
                        <a:rPr sz="85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850" spc="5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projection</a:t>
                      </a:r>
                      <a:r>
                        <a:rPr sz="85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layers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85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align</a:t>
                      </a:r>
                      <a:r>
                        <a:rPr sz="85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dimensionalities.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b="1" spc="-10" dirty="0">
                          <a:solidFill>
                            <a:srgbClr val="21C45D"/>
                          </a:solidFill>
                          <a:latin typeface="Calibri"/>
                          <a:cs typeface="Calibri"/>
                        </a:rPr>
                        <a:t>Advantages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Rich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intermediate</a:t>
                      </a:r>
                      <a:r>
                        <a:rPr sz="800" spc="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signal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Guides</a:t>
                      </a:r>
                      <a:r>
                        <a:rPr sz="80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representational structure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80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Strong for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encoder</a:t>
                      </a:r>
                      <a:r>
                        <a:rPr sz="80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models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b="1" spc="-10" dirty="0">
                          <a:solidFill>
                            <a:srgbClr val="EE4343"/>
                          </a:solidFill>
                          <a:latin typeface="Calibri"/>
                          <a:cs typeface="Calibri"/>
                        </a:rPr>
                        <a:t>Limitations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142240" indent="-51435">
                        <a:lnSpc>
                          <a:spcPct val="100000"/>
                        </a:lnSpc>
                        <a:spcBef>
                          <a:spcPts val="490"/>
                        </a:spcBef>
                        <a:buChar char="-"/>
                        <a:tabLst>
                          <a:tab pos="142240" algn="l"/>
                        </a:tabLst>
                      </a:pP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White-box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access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required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142240" indent="-51435">
                        <a:lnSpc>
                          <a:spcPct val="100000"/>
                        </a:lnSpc>
                        <a:spcBef>
                          <a:spcPts val="625"/>
                        </a:spcBef>
                        <a:buChar char="-"/>
                        <a:tabLst>
                          <a:tab pos="142240" algn="l"/>
                        </a:tabLst>
                      </a:pP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Architecture</a:t>
                      </a:r>
                      <a:r>
                        <a:rPr sz="800" spc="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coupling;</a:t>
                      </a:r>
                      <a:r>
                        <a:rPr sz="800" spc="3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projection</a:t>
                      </a:r>
                      <a:r>
                        <a:rPr sz="800" spc="4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layers</a:t>
                      </a:r>
                      <a:r>
                        <a:rPr sz="800" spc="3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needed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3A160"/>
                      </a:solidFill>
                      <a:prstDash val="solid"/>
                    </a:lnL>
                    <a:lnR w="19050">
                      <a:solidFill>
                        <a:srgbClr val="F3A160"/>
                      </a:solidFill>
                      <a:prstDash val="solid"/>
                    </a:lnR>
                    <a:lnT w="12700">
                      <a:solidFill>
                        <a:srgbClr val="F3A160"/>
                      </a:solidFill>
                      <a:prstDash val="solid"/>
                    </a:lnT>
                    <a:lnB w="12700">
                      <a:solidFill>
                        <a:srgbClr val="F3A1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72390">
                        <a:lnSpc>
                          <a:spcPct val="100000"/>
                        </a:lnSpc>
                      </a:pPr>
                      <a:r>
                        <a:rPr sz="800" i="1" spc="-60" dirty="0">
                          <a:solidFill>
                            <a:srgbClr val="1A396A"/>
                          </a:solidFill>
                          <a:latin typeface="Arial"/>
                          <a:cs typeface="Arial"/>
                        </a:rPr>
                        <a:t>Example:</a:t>
                      </a:r>
                      <a:r>
                        <a:rPr sz="800" i="1" spc="10" dirty="0">
                          <a:solidFill>
                            <a:srgbClr val="1A39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40" dirty="0">
                          <a:solidFill>
                            <a:srgbClr val="1A396A"/>
                          </a:solidFill>
                          <a:latin typeface="Arial"/>
                          <a:cs typeface="Arial"/>
                        </a:rPr>
                        <a:t>FitNets;</a:t>
                      </a:r>
                      <a:r>
                        <a:rPr sz="800" i="1" spc="15" dirty="0">
                          <a:solidFill>
                            <a:srgbClr val="1A39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95" dirty="0">
                          <a:solidFill>
                            <a:srgbClr val="1A396A"/>
                          </a:solidFill>
                          <a:latin typeface="Arial"/>
                          <a:cs typeface="Arial"/>
                        </a:rPr>
                        <a:t>TinyBERT;</a:t>
                      </a:r>
                      <a:r>
                        <a:rPr sz="800" i="1" spc="10" dirty="0">
                          <a:solidFill>
                            <a:srgbClr val="1A39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solidFill>
                            <a:srgbClr val="1A396A"/>
                          </a:solidFill>
                          <a:latin typeface="Arial"/>
                          <a:cs typeface="Arial"/>
                        </a:rPr>
                        <a:t>MiniLM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9050">
                      <a:solidFill>
                        <a:srgbClr val="F3A160"/>
                      </a:solidFill>
                      <a:prstDash val="solid"/>
                    </a:lnL>
                    <a:lnR w="19050">
                      <a:solidFill>
                        <a:srgbClr val="F3A160"/>
                      </a:solidFill>
                      <a:prstDash val="solid"/>
                    </a:lnR>
                    <a:lnT w="12700">
                      <a:solidFill>
                        <a:srgbClr val="F3A160"/>
                      </a:solidFill>
                      <a:prstDash val="solid"/>
                    </a:lnT>
                    <a:lnB w="19050">
                      <a:solidFill>
                        <a:srgbClr val="F3A1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5875" y="729705"/>
            <a:ext cx="2983318" cy="4107611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6053404" y="813957"/>
            <a:ext cx="2761615" cy="3886200"/>
            <a:chOff x="6053404" y="813957"/>
            <a:chExt cx="2761615" cy="3886200"/>
          </a:xfrm>
        </p:grpSpPr>
        <p:sp>
          <p:nvSpPr>
            <p:cNvPr id="21" name="object 21"/>
            <p:cNvSpPr/>
            <p:nvPr/>
          </p:nvSpPr>
          <p:spPr>
            <a:xfrm>
              <a:off x="6053404" y="813957"/>
              <a:ext cx="2761615" cy="3886200"/>
            </a:xfrm>
            <a:custGeom>
              <a:avLst/>
              <a:gdLst/>
              <a:ahLst/>
              <a:cxnLst/>
              <a:rect l="l" t="t" r="r" b="b"/>
              <a:pathLst>
                <a:path w="2761615" h="3886200">
                  <a:moveTo>
                    <a:pt x="2761195" y="0"/>
                  </a:moveTo>
                  <a:lnTo>
                    <a:pt x="0" y="0"/>
                  </a:lnTo>
                  <a:lnTo>
                    <a:pt x="0" y="3885844"/>
                  </a:lnTo>
                  <a:lnTo>
                    <a:pt x="1380591" y="3885844"/>
                  </a:lnTo>
                  <a:lnTo>
                    <a:pt x="2761195" y="3885844"/>
                  </a:lnTo>
                  <a:lnTo>
                    <a:pt x="27611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53404" y="813957"/>
              <a:ext cx="2761615" cy="530225"/>
            </a:xfrm>
            <a:custGeom>
              <a:avLst/>
              <a:gdLst/>
              <a:ahLst/>
              <a:cxnLst/>
              <a:rect l="l" t="t" r="r" b="b"/>
              <a:pathLst>
                <a:path w="2761615" h="530225">
                  <a:moveTo>
                    <a:pt x="2761195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1380591" y="529920"/>
                  </a:lnTo>
                  <a:lnTo>
                    <a:pt x="2761195" y="529920"/>
                  </a:lnTo>
                  <a:lnTo>
                    <a:pt x="2761195" y="0"/>
                  </a:lnTo>
                  <a:close/>
                </a:path>
              </a:pathLst>
            </a:custGeom>
            <a:solidFill>
              <a:srgbClr val="8A5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53404" y="4334042"/>
              <a:ext cx="2761615" cy="365760"/>
            </a:xfrm>
            <a:custGeom>
              <a:avLst/>
              <a:gdLst/>
              <a:ahLst/>
              <a:cxnLst/>
              <a:rect l="l" t="t" r="r" b="b"/>
              <a:pathLst>
                <a:path w="2761615" h="365760">
                  <a:moveTo>
                    <a:pt x="2761195" y="0"/>
                  </a:moveTo>
                  <a:lnTo>
                    <a:pt x="0" y="0"/>
                  </a:lnTo>
                  <a:lnTo>
                    <a:pt x="0" y="365404"/>
                  </a:lnTo>
                  <a:lnTo>
                    <a:pt x="1380591" y="365404"/>
                  </a:lnTo>
                  <a:lnTo>
                    <a:pt x="2761195" y="365404"/>
                  </a:lnTo>
                  <a:lnTo>
                    <a:pt x="2761195" y="0"/>
                  </a:lnTo>
                  <a:close/>
                </a:path>
              </a:pathLst>
            </a:custGeom>
            <a:solidFill>
              <a:srgbClr val="8A5BF5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6043864" y="804417"/>
          <a:ext cx="2760980" cy="3884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0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959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0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RELATION-</a:t>
                      </a: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BASED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7239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800" i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Structural</a:t>
                      </a:r>
                      <a:r>
                        <a:rPr sz="8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800" i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Pairwise</a:t>
                      </a:r>
                      <a:r>
                        <a:rPr sz="800" i="1" spc="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Knowledge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19050">
                      <a:solidFill>
                        <a:srgbClr val="8A5BF5"/>
                      </a:solidFill>
                      <a:prstDash val="solid"/>
                    </a:lnL>
                    <a:lnR w="19050">
                      <a:solidFill>
                        <a:srgbClr val="8A5BF5"/>
                      </a:solidFill>
                      <a:prstDash val="solid"/>
                    </a:lnR>
                    <a:lnT w="19050">
                      <a:solidFill>
                        <a:srgbClr val="8A5BF5"/>
                      </a:solidFill>
                      <a:prstDash val="solid"/>
                    </a:lnT>
                    <a:lnB w="12700">
                      <a:solidFill>
                        <a:srgbClr val="8A5BF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90805" marR="150495">
                        <a:lnSpc>
                          <a:spcPct val="100000"/>
                        </a:lnSpc>
                      </a:pPr>
                      <a:r>
                        <a:rPr sz="85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Transfers</a:t>
                      </a:r>
                      <a:r>
                        <a:rPr sz="850" spc="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structural</a:t>
                      </a:r>
                      <a:r>
                        <a:rPr sz="850" spc="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relationships</a:t>
                      </a:r>
                      <a:r>
                        <a:rPr sz="850" spc="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between</a:t>
                      </a:r>
                      <a:r>
                        <a:rPr sz="850" spc="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training</a:t>
                      </a:r>
                      <a:r>
                        <a:rPr sz="850" spc="5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examples.</a:t>
                      </a:r>
                      <a:r>
                        <a:rPr sz="85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Distance-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wise</a:t>
                      </a:r>
                      <a:r>
                        <a:rPr sz="85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angle-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wise</a:t>
                      </a:r>
                      <a:r>
                        <a:rPr sz="85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losses</a:t>
                      </a:r>
                      <a:r>
                        <a:rPr sz="85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match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850" spc="5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geometric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structure</a:t>
                      </a:r>
                      <a:r>
                        <a:rPr sz="850" spc="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85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teacher</a:t>
                      </a:r>
                      <a:r>
                        <a:rPr sz="85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and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student</a:t>
                      </a:r>
                      <a:r>
                        <a:rPr sz="85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embedding</a:t>
                      </a:r>
                      <a:r>
                        <a:rPr sz="850" spc="5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spaces.</a:t>
                      </a:r>
                      <a:r>
                        <a:rPr sz="850" spc="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Architecture-agnostic.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b="1" spc="-10" dirty="0">
                          <a:solidFill>
                            <a:srgbClr val="21C45D"/>
                          </a:solidFill>
                          <a:latin typeface="Calibri"/>
                          <a:cs typeface="Calibri"/>
                        </a:rPr>
                        <a:t>Advantages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800" spc="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Architecture-agnostic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Invariant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80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repr.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dimensionality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80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Effective</a:t>
                      </a:r>
                      <a:r>
                        <a:rPr sz="80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80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metric</a:t>
                      </a:r>
                      <a:r>
                        <a:rPr sz="80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learning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b="1" spc="-10" dirty="0">
                          <a:solidFill>
                            <a:srgbClr val="EE4343"/>
                          </a:solidFill>
                          <a:latin typeface="Calibri"/>
                          <a:cs typeface="Calibri"/>
                        </a:rPr>
                        <a:t>Limitations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142240" indent="-51435">
                        <a:lnSpc>
                          <a:spcPct val="100000"/>
                        </a:lnSpc>
                        <a:spcBef>
                          <a:spcPts val="490"/>
                        </a:spcBef>
                        <a:buChar char="-"/>
                        <a:tabLst>
                          <a:tab pos="142240" algn="l"/>
                        </a:tabLst>
                      </a:pP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More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complex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loss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computation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marL="142240" indent="-51435">
                        <a:lnSpc>
                          <a:spcPct val="100000"/>
                        </a:lnSpc>
                        <a:spcBef>
                          <a:spcPts val="625"/>
                        </a:spcBef>
                        <a:buChar char="-"/>
                        <a:tabLst>
                          <a:tab pos="142240" algn="l"/>
                        </a:tabLst>
                      </a:pP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Pairwise</a:t>
                      </a:r>
                      <a:r>
                        <a:rPr sz="800" spc="3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computation</a:t>
                      </a:r>
                      <a:r>
                        <a:rPr sz="800" spc="4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overhead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8A5BF5"/>
                      </a:solidFill>
                      <a:prstDash val="solid"/>
                    </a:lnL>
                    <a:lnR w="19050">
                      <a:solidFill>
                        <a:srgbClr val="8A5BF5"/>
                      </a:solidFill>
                      <a:prstDash val="solid"/>
                    </a:lnR>
                    <a:lnT w="12700">
                      <a:solidFill>
                        <a:srgbClr val="8A5BF5"/>
                      </a:solidFill>
                      <a:prstDash val="solid"/>
                    </a:lnT>
                    <a:lnB w="12700">
                      <a:solidFill>
                        <a:srgbClr val="8A5BF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72390">
                        <a:lnSpc>
                          <a:spcPct val="100000"/>
                        </a:lnSpc>
                      </a:pPr>
                      <a:r>
                        <a:rPr sz="800" i="1" spc="-60" dirty="0">
                          <a:solidFill>
                            <a:srgbClr val="1A396A"/>
                          </a:solidFill>
                          <a:latin typeface="Arial"/>
                          <a:cs typeface="Arial"/>
                        </a:rPr>
                        <a:t>Example:</a:t>
                      </a:r>
                      <a:r>
                        <a:rPr sz="800" i="1" spc="-25" dirty="0">
                          <a:solidFill>
                            <a:srgbClr val="1A39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20" dirty="0">
                          <a:solidFill>
                            <a:srgbClr val="1A396A"/>
                          </a:solidFill>
                          <a:latin typeface="Arial"/>
                          <a:cs typeface="Arial"/>
                        </a:rPr>
                        <a:t>RKD</a:t>
                      </a:r>
                      <a:r>
                        <a:rPr sz="800" i="1" spc="-15" dirty="0">
                          <a:solidFill>
                            <a:srgbClr val="1A39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55" dirty="0">
                          <a:solidFill>
                            <a:srgbClr val="1A396A"/>
                          </a:solidFill>
                          <a:latin typeface="Arial"/>
                          <a:cs typeface="Arial"/>
                        </a:rPr>
                        <a:t>(Park</a:t>
                      </a:r>
                      <a:r>
                        <a:rPr sz="800" i="1" spc="-30" dirty="0">
                          <a:solidFill>
                            <a:srgbClr val="1A39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solidFill>
                            <a:srgbClr val="1A396A"/>
                          </a:solidFill>
                          <a:latin typeface="Arial"/>
                          <a:cs typeface="Arial"/>
                        </a:rPr>
                        <a:t>et </a:t>
                      </a:r>
                      <a:r>
                        <a:rPr sz="800" i="1" spc="-30" dirty="0">
                          <a:solidFill>
                            <a:srgbClr val="1A396A"/>
                          </a:solidFill>
                          <a:latin typeface="Arial"/>
                          <a:cs typeface="Arial"/>
                        </a:rPr>
                        <a:t>al.,</a:t>
                      </a:r>
                      <a:r>
                        <a:rPr sz="800" i="1" spc="-20" dirty="0">
                          <a:solidFill>
                            <a:srgbClr val="1A396A"/>
                          </a:solidFill>
                          <a:latin typeface="Arial"/>
                          <a:cs typeface="Arial"/>
                        </a:rPr>
                        <a:t> 2019)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9050">
                      <a:solidFill>
                        <a:srgbClr val="8A5BF5"/>
                      </a:solidFill>
                      <a:prstDash val="solid"/>
                    </a:lnL>
                    <a:lnR w="19050">
                      <a:solidFill>
                        <a:srgbClr val="8A5BF5"/>
                      </a:solidFill>
                      <a:prstDash val="solid"/>
                    </a:lnR>
                    <a:lnT w="12700">
                      <a:solidFill>
                        <a:srgbClr val="8A5BF5"/>
                      </a:solidFill>
                      <a:prstDash val="solid"/>
                    </a:lnT>
                    <a:lnB w="19050">
                      <a:solidFill>
                        <a:srgbClr val="8A5BF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10" dirty="0"/>
              <a:t>Knowledge</a:t>
            </a:r>
            <a:r>
              <a:rPr dirty="0"/>
              <a:t> </a:t>
            </a:r>
            <a:r>
              <a:rPr spc="-10" dirty="0"/>
              <a:t>Distillation</a:t>
            </a:r>
            <a:r>
              <a:rPr spc="-5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LLMs</a:t>
            </a:r>
            <a:r>
              <a:rPr spc="170" dirty="0"/>
              <a:t> </a:t>
            </a:r>
            <a:r>
              <a:rPr dirty="0"/>
              <a:t>|</a:t>
            </a:r>
            <a:r>
              <a:rPr spc="180" dirty="0"/>
              <a:t> </a:t>
            </a:r>
            <a:r>
              <a:rPr spc="-10" dirty="0"/>
              <a:t>Manisa</a:t>
            </a:r>
            <a:r>
              <a:rPr spc="-5" dirty="0"/>
              <a:t> </a:t>
            </a:r>
            <a:r>
              <a:rPr dirty="0"/>
              <a:t>Celal </a:t>
            </a:r>
            <a:r>
              <a:rPr spc="-10" dirty="0"/>
              <a:t>Bayar</a:t>
            </a:r>
            <a:r>
              <a:rPr spc="-5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5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/>
              <a:t>Chain-</a:t>
            </a:r>
            <a:r>
              <a:rPr sz="2000" spc="-75" dirty="0"/>
              <a:t>of-</a:t>
            </a:r>
            <a:r>
              <a:rPr sz="2000" dirty="0"/>
              <a:t>Thought</a:t>
            </a:r>
            <a:r>
              <a:rPr sz="2000" spc="-45" dirty="0"/>
              <a:t> </a:t>
            </a:r>
            <a:r>
              <a:rPr sz="2000" dirty="0"/>
              <a:t>(CoT)</a:t>
            </a:r>
            <a:r>
              <a:rPr sz="2000" spc="-40" dirty="0"/>
              <a:t> </a:t>
            </a:r>
            <a:r>
              <a:rPr sz="2000" spc="-10" dirty="0"/>
              <a:t>Distillation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6969861" y="232107"/>
            <a:ext cx="186308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spc="-65" dirty="0">
                <a:solidFill>
                  <a:srgbClr val="00C1CA"/>
                </a:solidFill>
                <a:latin typeface="Arial"/>
                <a:cs typeface="Arial"/>
              </a:rPr>
              <a:t>04</a:t>
            </a:r>
            <a:r>
              <a:rPr sz="1100" i="1" spc="-2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30" dirty="0">
                <a:solidFill>
                  <a:srgbClr val="00C1CA"/>
                </a:solidFill>
                <a:latin typeface="Arial"/>
                <a:cs typeface="Arial"/>
              </a:rPr>
              <a:t>-</a:t>
            </a:r>
            <a:r>
              <a:rPr sz="1100" i="1" spc="-3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85" dirty="0">
                <a:solidFill>
                  <a:srgbClr val="00C1CA"/>
                </a:solidFill>
                <a:latin typeface="Arial"/>
                <a:cs typeface="Arial"/>
              </a:rPr>
              <a:t>Reasoning</a:t>
            </a:r>
            <a:r>
              <a:rPr sz="1100" i="1" spc="-3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50" dirty="0">
                <a:solidFill>
                  <a:srgbClr val="00C1CA"/>
                </a:solidFill>
                <a:latin typeface="Arial"/>
                <a:cs typeface="Arial"/>
              </a:rPr>
              <a:t>Strategy</a:t>
            </a:r>
            <a:r>
              <a:rPr sz="1100" i="1" spc="-3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40" dirty="0">
                <a:solidFill>
                  <a:srgbClr val="00C1CA"/>
                </a:solidFill>
                <a:latin typeface="Arial"/>
                <a:cs typeface="Arial"/>
              </a:rPr>
              <a:t>Transfer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6655" y="4885742"/>
            <a:ext cx="9156700" cy="264160"/>
            <a:chOff x="-6655" y="4885742"/>
            <a:chExt cx="9156700" cy="264160"/>
          </a:xfrm>
        </p:grpSpPr>
        <p:sp>
          <p:nvSpPr>
            <p:cNvPr id="5" name="object 5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631" y="0"/>
                  </a:moveTo>
                  <a:lnTo>
                    <a:pt x="0" y="0"/>
                  </a:lnTo>
                  <a:lnTo>
                    <a:pt x="0" y="251282"/>
                  </a:lnTo>
                  <a:lnTo>
                    <a:pt x="4572000" y="251282"/>
                  </a:lnTo>
                  <a:lnTo>
                    <a:pt x="9143631" y="251282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4572000" y="251282"/>
                  </a:moveTo>
                  <a:lnTo>
                    <a:pt x="0" y="251282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251282"/>
                  </a:lnTo>
                  <a:lnTo>
                    <a:pt x="4572000" y="251282"/>
                  </a:lnTo>
                  <a:close/>
                </a:path>
              </a:pathLst>
            </a:custGeom>
            <a:ln w="12599">
              <a:solidFill>
                <a:srgbClr val="0C1A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319684" y="795237"/>
            <a:ext cx="8503920" cy="457200"/>
          </a:xfrm>
          <a:custGeom>
            <a:avLst/>
            <a:gdLst/>
            <a:ahLst/>
            <a:cxnLst/>
            <a:rect l="l" t="t" r="r" b="b"/>
            <a:pathLst>
              <a:path w="8503920" h="457200">
                <a:moveTo>
                  <a:pt x="8503551" y="0"/>
                </a:moveTo>
                <a:lnTo>
                  <a:pt x="0" y="0"/>
                </a:lnTo>
                <a:lnTo>
                  <a:pt x="0" y="456844"/>
                </a:lnTo>
                <a:lnTo>
                  <a:pt x="4251959" y="456844"/>
                </a:lnTo>
                <a:lnTo>
                  <a:pt x="8503551" y="456844"/>
                </a:lnTo>
                <a:lnTo>
                  <a:pt x="8503551" y="0"/>
                </a:lnTo>
                <a:close/>
              </a:path>
            </a:pathLst>
          </a:custGeom>
          <a:solidFill>
            <a:srgbClr val="1A39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19684" y="795237"/>
            <a:ext cx="8503920" cy="457200"/>
          </a:xfrm>
          <a:prstGeom prst="rect">
            <a:avLst/>
          </a:prstGeom>
          <a:ln w="12599">
            <a:solidFill>
              <a:srgbClr val="1A396A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226695" marR="395605">
              <a:lnSpc>
                <a:spcPct val="100000"/>
              </a:lnSpc>
              <a:spcBef>
                <a:spcPts val="715"/>
              </a:spcBef>
            </a:pPr>
            <a:r>
              <a:rPr sz="900" i="1" spc="-100" dirty="0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sz="9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FFFFFF"/>
                </a:solidFill>
                <a:latin typeface="Arial"/>
                <a:cs typeface="Arial"/>
              </a:rPr>
              <a:t>Insight:</a:t>
            </a:r>
            <a:r>
              <a:rPr sz="9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8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9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r>
              <a:rPr sz="9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FFFFFF"/>
                </a:solidFill>
                <a:latin typeface="Arial"/>
                <a:cs typeface="Arial"/>
              </a:rPr>
              <a:t>gap</a:t>
            </a:r>
            <a:r>
              <a:rPr sz="9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FFFFFF"/>
                </a:solidFill>
                <a:latin typeface="Arial"/>
                <a:cs typeface="Arial"/>
              </a:rPr>
              <a:t>between</a:t>
            </a:r>
            <a:r>
              <a:rPr sz="9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FFFFFF"/>
                </a:solidFill>
                <a:latin typeface="Arial"/>
                <a:cs typeface="Arial"/>
              </a:rPr>
              <a:t>large</a:t>
            </a:r>
            <a:r>
              <a:rPr sz="9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900" i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FFFFFF"/>
                </a:solidFill>
                <a:latin typeface="Arial"/>
                <a:cs typeface="Arial"/>
              </a:rPr>
              <a:t>small</a:t>
            </a:r>
            <a:r>
              <a:rPr sz="900" i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90" dirty="0">
                <a:solidFill>
                  <a:srgbClr val="FFFFFF"/>
                </a:solidFill>
                <a:latin typeface="Arial"/>
                <a:cs typeface="Arial"/>
              </a:rPr>
              <a:t>LLMs</a:t>
            </a:r>
            <a:r>
              <a:rPr sz="9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9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FFFFFF"/>
                </a:solidFill>
                <a:latin typeface="Arial"/>
                <a:cs typeface="Arial"/>
              </a:rPr>
              <a:t>reasoning</a:t>
            </a:r>
            <a:r>
              <a:rPr sz="9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FFFFFF"/>
                </a:solidFill>
                <a:latin typeface="Arial"/>
                <a:cs typeface="Arial"/>
              </a:rPr>
              <a:t>tasks</a:t>
            </a:r>
            <a:r>
              <a:rPr sz="900" i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55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9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sz="9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FFFFFF"/>
                </a:solidFill>
                <a:latin typeface="Arial"/>
                <a:cs typeface="Arial"/>
              </a:rPr>
              <a:t>merely</a:t>
            </a:r>
            <a:r>
              <a:rPr sz="9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900" i="1" spc="-30" dirty="0">
                <a:solidFill>
                  <a:srgbClr val="FFFFFF"/>
                </a:solidFill>
                <a:latin typeface="Arial"/>
                <a:cs typeface="Arial"/>
              </a:rPr>
              <a:t> function 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9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FFFFFF"/>
                </a:solidFill>
                <a:latin typeface="Arial"/>
                <a:cs typeface="Arial"/>
              </a:rPr>
              <a:t>parameter</a:t>
            </a:r>
            <a:r>
              <a:rPr sz="9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FFFFFF"/>
                </a:solidFill>
                <a:latin typeface="Arial"/>
                <a:cs typeface="Arial"/>
              </a:rPr>
              <a:t>count</a:t>
            </a:r>
            <a:r>
              <a:rPr sz="9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9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9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9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900" i="1" spc="-30" dirty="0">
                <a:solidFill>
                  <a:srgbClr val="FFFFFF"/>
                </a:solidFill>
                <a:latin typeface="Arial"/>
                <a:cs typeface="Arial"/>
              </a:rPr>
              <a:t> function 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9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FFFFFF"/>
                </a:solidFill>
                <a:latin typeface="Arial"/>
                <a:cs typeface="Arial"/>
              </a:rPr>
              <a:t>reasoning</a:t>
            </a:r>
            <a:r>
              <a:rPr sz="900" i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FFFFFF"/>
                </a:solidFill>
                <a:latin typeface="Arial"/>
                <a:cs typeface="Arial"/>
              </a:rPr>
              <a:t>strategy.</a:t>
            </a:r>
            <a:r>
              <a:rPr sz="9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FFFFFF"/>
                </a:solidFill>
                <a:latin typeface="Arial"/>
                <a:cs typeface="Arial"/>
              </a:rPr>
              <a:t>CoT </a:t>
            </a:r>
            <a:r>
              <a:rPr sz="900" i="1" spc="-20" dirty="0">
                <a:solidFill>
                  <a:srgbClr val="FFFFFF"/>
                </a:solidFill>
                <a:latin typeface="Arial"/>
                <a:cs typeface="Arial"/>
              </a:rPr>
              <a:t>distillation</a:t>
            </a:r>
            <a:r>
              <a:rPr sz="9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FFFFFF"/>
                </a:solidFill>
                <a:latin typeface="Arial"/>
                <a:cs typeface="Arial"/>
              </a:rPr>
              <a:t>transfers</a:t>
            </a:r>
            <a:r>
              <a:rPr sz="900" i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900" i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FFFFFF"/>
                </a:solidFill>
                <a:latin typeface="Arial"/>
                <a:cs typeface="Arial"/>
              </a:rPr>
              <a:t>strategy</a:t>
            </a:r>
            <a:r>
              <a:rPr sz="900" i="1" spc="-10" dirty="0">
                <a:solidFill>
                  <a:srgbClr val="FFFFFF"/>
                </a:solidFill>
                <a:latin typeface="Arial"/>
                <a:cs typeface="Arial"/>
              </a:rPr>
              <a:t> itself.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2524" y="1268630"/>
            <a:ext cx="4199890" cy="2690495"/>
            <a:chOff x="182524" y="1268630"/>
            <a:chExt cx="4199890" cy="269049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524" y="1268630"/>
              <a:ext cx="4199394" cy="269029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20039" y="1352882"/>
              <a:ext cx="3977640" cy="2468880"/>
            </a:xfrm>
            <a:custGeom>
              <a:avLst/>
              <a:gdLst/>
              <a:ahLst/>
              <a:cxnLst/>
              <a:rect l="l" t="t" r="r" b="b"/>
              <a:pathLst>
                <a:path w="3977640" h="2468879">
                  <a:moveTo>
                    <a:pt x="3977284" y="0"/>
                  </a:moveTo>
                  <a:lnTo>
                    <a:pt x="0" y="0"/>
                  </a:lnTo>
                  <a:lnTo>
                    <a:pt x="0" y="2468524"/>
                  </a:lnTo>
                  <a:lnTo>
                    <a:pt x="1988642" y="2468524"/>
                  </a:lnTo>
                  <a:lnTo>
                    <a:pt x="3977284" y="2468524"/>
                  </a:lnTo>
                  <a:lnTo>
                    <a:pt x="3977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0039" y="1352882"/>
              <a:ext cx="3977640" cy="2468880"/>
            </a:xfrm>
            <a:custGeom>
              <a:avLst/>
              <a:gdLst/>
              <a:ahLst/>
              <a:cxnLst/>
              <a:rect l="l" t="t" r="r" b="b"/>
              <a:pathLst>
                <a:path w="3977640" h="2468879">
                  <a:moveTo>
                    <a:pt x="1988642" y="2468524"/>
                  </a:moveTo>
                  <a:lnTo>
                    <a:pt x="0" y="2468524"/>
                  </a:lnTo>
                  <a:lnTo>
                    <a:pt x="0" y="0"/>
                  </a:lnTo>
                  <a:lnTo>
                    <a:pt x="3977284" y="0"/>
                  </a:lnTo>
                  <a:lnTo>
                    <a:pt x="3977284" y="2468524"/>
                  </a:lnTo>
                  <a:lnTo>
                    <a:pt x="1988642" y="2468524"/>
                  </a:lnTo>
                  <a:close/>
                </a:path>
              </a:pathLst>
            </a:custGeom>
            <a:ln w="19079">
              <a:solidFill>
                <a:srgbClr val="EE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0039" y="1352882"/>
              <a:ext cx="3977640" cy="274320"/>
            </a:xfrm>
            <a:custGeom>
              <a:avLst/>
              <a:gdLst/>
              <a:ahLst/>
              <a:cxnLst/>
              <a:rect l="l" t="t" r="r" b="b"/>
              <a:pathLst>
                <a:path w="3977640" h="274319">
                  <a:moveTo>
                    <a:pt x="3977284" y="0"/>
                  </a:moveTo>
                  <a:lnTo>
                    <a:pt x="0" y="0"/>
                  </a:lnTo>
                  <a:lnTo>
                    <a:pt x="0" y="273964"/>
                  </a:lnTo>
                  <a:lnTo>
                    <a:pt x="1988642" y="273964"/>
                  </a:lnTo>
                  <a:lnTo>
                    <a:pt x="3977284" y="273964"/>
                  </a:lnTo>
                  <a:lnTo>
                    <a:pt x="3977284" y="0"/>
                  </a:lnTo>
                  <a:close/>
                </a:path>
              </a:pathLst>
            </a:custGeom>
            <a:solidFill>
              <a:srgbClr val="EE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0039" y="1352882"/>
              <a:ext cx="3977640" cy="274320"/>
            </a:xfrm>
            <a:custGeom>
              <a:avLst/>
              <a:gdLst/>
              <a:ahLst/>
              <a:cxnLst/>
              <a:rect l="l" t="t" r="r" b="b"/>
              <a:pathLst>
                <a:path w="3977640" h="274319">
                  <a:moveTo>
                    <a:pt x="1988642" y="273964"/>
                  </a:moveTo>
                  <a:lnTo>
                    <a:pt x="0" y="273964"/>
                  </a:lnTo>
                  <a:lnTo>
                    <a:pt x="0" y="0"/>
                  </a:lnTo>
                  <a:lnTo>
                    <a:pt x="3977284" y="0"/>
                  </a:lnTo>
                  <a:lnTo>
                    <a:pt x="3977284" y="273964"/>
                  </a:lnTo>
                  <a:lnTo>
                    <a:pt x="1988642" y="273964"/>
                  </a:lnTo>
                  <a:close/>
                </a:path>
              </a:pathLst>
            </a:custGeom>
            <a:ln w="12599">
              <a:solidFill>
                <a:srgbClr val="EE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29579" y="2119581"/>
            <a:ext cx="3958590" cy="1191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Q:</a:t>
            </a:r>
            <a:r>
              <a:rPr sz="85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"If</a:t>
            </a:r>
            <a:r>
              <a:rPr sz="85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Alice</a:t>
            </a:r>
            <a:r>
              <a:rPr sz="85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has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3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apples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and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gives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half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to</a:t>
            </a:r>
            <a:r>
              <a:rPr sz="850" spc="-3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Bob,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how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many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does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she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have?"</a:t>
            </a:r>
            <a:endParaRPr sz="850">
              <a:latin typeface="Calibri"/>
              <a:cs typeface="Calibri"/>
            </a:endParaRPr>
          </a:p>
          <a:p>
            <a:pPr marL="177800" marR="2275840">
              <a:lnSpc>
                <a:spcPct val="200100"/>
              </a:lnSpc>
            </a:pP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Teacher</a:t>
            </a:r>
            <a:r>
              <a:rPr sz="8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output:</a:t>
            </a:r>
            <a:r>
              <a:rPr sz="85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-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-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&gt;</a:t>
            </a:r>
            <a:r>
              <a:rPr sz="8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"1.5</a:t>
            </a:r>
            <a:r>
              <a:rPr sz="8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apples"</a:t>
            </a:r>
            <a:r>
              <a:rPr sz="850" spc="5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Student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learns: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Q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-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-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&gt;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final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 answer</a:t>
            </a:r>
            <a:endParaRPr sz="850">
              <a:latin typeface="Calibri"/>
              <a:cs typeface="Calibri"/>
            </a:endParaRPr>
          </a:p>
          <a:p>
            <a:pPr marL="177800">
              <a:lnSpc>
                <a:spcPct val="100000"/>
              </a:lnSpc>
              <a:spcBef>
                <a:spcPts val="1019"/>
              </a:spcBef>
            </a:pP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NO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reasoning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process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transferred.</a:t>
            </a:r>
            <a:endParaRPr sz="850">
              <a:latin typeface="Calibri"/>
              <a:cs typeface="Calibri"/>
            </a:endParaRPr>
          </a:p>
          <a:p>
            <a:pPr marL="177800">
              <a:lnSpc>
                <a:spcPct val="100000"/>
              </a:lnSpc>
            </a:pP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Student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cannot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 generalize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to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 novel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problems.</a:t>
            </a:r>
            <a:endParaRPr sz="850">
              <a:latin typeface="Calibri"/>
              <a:cs typeface="Calibri"/>
            </a:endParaRPr>
          </a:p>
          <a:p>
            <a:pPr marL="177800">
              <a:lnSpc>
                <a:spcPct val="100000"/>
              </a:lnSpc>
            </a:pP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Performs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well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on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seen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problems,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fails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on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new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variations.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434484" y="1268630"/>
            <a:ext cx="4474210" cy="2690495"/>
            <a:chOff x="4434484" y="1268630"/>
            <a:chExt cx="4474210" cy="269049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34484" y="1268630"/>
              <a:ext cx="4473714" cy="269029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571999" y="1352882"/>
              <a:ext cx="4251960" cy="2468880"/>
            </a:xfrm>
            <a:custGeom>
              <a:avLst/>
              <a:gdLst/>
              <a:ahLst/>
              <a:cxnLst/>
              <a:rect l="l" t="t" r="r" b="b"/>
              <a:pathLst>
                <a:path w="4251959" h="2468879">
                  <a:moveTo>
                    <a:pt x="4251604" y="0"/>
                  </a:moveTo>
                  <a:lnTo>
                    <a:pt x="0" y="0"/>
                  </a:lnTo>
                  <a:lnTo>
                    <a:pt x="0" y="2468524"/>
                  </a:lnTo>
                  <a:lnTo>
                    <a:pt x="2125802" y="2468524"/>
                  </a:lnTo>
                  <a:lnTo>
                    <a:pt x="4251604" y="2468524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71999" y="1352882"/>
              <a:ext cx="4251960" cy="2468880"/>
            </a:xfrm>
            <a:custGeom>
              <a:avLst/>
              <a:gdLst/>
              <a:ahLst/>
              <a:cxnLst/>
              <a:rect l="l" t="t" r="r" b="b"/>
              <a:pathLst>
                <a:path w="4251959" h="2468879">
                  <a:moveTo>
                    <a:pt x="2125802" y="2468524"/>
                  </a:moveTo>
                  <a:lnTo>
                    <a:pt x="0" y="2468524"/>
                  </a:lnTo>
                  <a:lnTo>
                    <a:pt x="0" y="0"/>
                  </a:lnTo>
                  <a:lnTo>
                    <a:pt x="4251604" y="0"/>
                  </a:lnTo>
                  <a:lnTo>
                    <a:pt x="4251604" y="2468524"/>
                  </a:lnTo>
                  <a:lnTo>
                    <a:pt x="2125802" y="2468524"/>
                  </a:lnTo>
                  <a:close/>
                </a:path>
              </a:pathLst>
            </a:custGeom>
            <a:ln w="1907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71999" y="1352882"/>
              <a:ext cx="4251960" cy="274320"/>
            </a:xfrm>
            <a:custGeom>
              <a:avLst/>
              <a:gdLst/>
              <a:ahLst/>
              <a:cxnLst/>
              <a:rect l="l" t="t" r="r" b="b"/>
              <a:pathLst>
                <a:path w="4251959" h="274319">
                  <a:moveTo>
                    <a:pt x="4251604" y="0"/>
                  </a:moveTo>
                  <a:lnTo>
                    <a:pt x="0" y="0"/>
                  </a:lnTo>
                  <a:lnTo>
                    <a:pt x="0" y="273964"/>
                  </a:lnTo>
                  <a:lnTo>
                    <a:pt x="2125802" y="273964"/>
                  </a:lnTo>
                  <a:lnTo>
                    <a:pt x="4251604" y="273964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71999" y="1352882"/>
              <a:ext cx="4251960" cy="274320"/>
            </a:xfrm>
            <a:custGeom>
              <a:avLst/>
              <a:gdLst/>
              <a:ahLst/>
              <a:cxnLst/>
              <a:rect l="l" t="t" r="r" b="b"/>
              <a:pathLst>
                <a:path w="4251959" h="274319">
                  <a:moveTo>
                    <a:pt x="2125802" y="273964"/>
                  </a:moveTo>
                  <a:lnTo>
                    <a:pt x="0" y="273964"/>
                  </a:lnTo>
                  <a:lnTo>
                    <a:pt x="0" y="0"/>
                  </a:lnTo>
                  <a:lnTo>
                    <a:pt x="4251604" y="0"/>
                  </a:lnTo>
                  <a:lnTo>
                    <a:pt x="4251604" y="273964"/>
                  </a:lnTo>
                  <a:lnTo>
                    <a:pt x="2125802" y="273964"/>
                  </a:lnTo>
                  <a:close/>
                </a:path>
              </a:pathLst>
            </a:custGeom>
            <a:ln w="1259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29579" y="1412546"/>
            <a:ext cx="848487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100"/>
              </a:spcBef>
              <a:tabLst>
                <a:tab pos="4333240" algn="l"/>
              </a:tabLst>
            </a:pPr>
            <a:r>
              <a:rPr sz="850" b="1" dirty="0">
                <a:solidFill>
                  <a:srgbClr val="FFFFFF"/>
                </a:solidFill>
                <a:latin typeface="Calibri"/>
                <a:cs typeface="Calibri"/>
              </a:rPr>
              <a:t>Standard</a:t>
            </a:r>
            <a:r>
              <a:rPr sz="85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FFFFFF"/>
                </a:solidFill>
                <a:latin typeface="Calibri"/>
                <a:cs typeface="Calibri"/>
              </a:rPr>
              <a:t>KD</a:t>
            </a:r>
            <a:r>
              <a:rPr sz="85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85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FFFFFF"/>
                </a:solidFill>
                <a:latin typeface="Calibri"/>
                <a:cs typeface="Calibri"/>
              </a:rPr>
              <a:t>Answer Only</a:t>
            </a:r>
            <a:r>
              <a:rPr sz="850" b="1" spc="-10" dirty="0">
                <a:solidFill>
                  <a:srgbClr val="FFFFFF"/>
                </a:solidFill>
                <a:latin typeface="Calibri"/>
                <a:cs typeface="Calibri"/>
              </a:rPr>
              <a:t> (INEFFECTIVE </a:t>
            </a:r>
            <a:r>
              <a:rPr sz="850" b="1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85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FFFFFF"/>
                </a:solidFill>
                <a:latin typeface="Calibri"/>
                <a:cs typeface="Calibri"/>
              </a:rPr>
              <a:t>reasoning)</a:t>
            </a:r>
            <a:r>
              <a:rPr sz="850" b="1" dirty="0">
                <a:solidFill>
                  <a:srgbClr val="FFFFFF"/>
                </a:solidFill>
                <a:latin typeface="Calibri"/>
                <a:cs typeface="Calibri"/>
              </a:rPr>
              <a:t>	CoT</a:t>
            </a:r>
            <a:r>
              <a:rPr sz="85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FFFFFF"/>
                </a:solidFill>
                <a:latin typeface="Calibri"/>
                <a:cs typeface="Calibri"/>
              </a:rPr>
              <a:t>Distillation</a:t>
            </a:r>
            <a:r>
              <a:rPr sz="85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85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FFFFFF"/>
                </a:solidFill>
                <a:latin typeface="Calibri"/>
                <a:cs typeface="Calibri"/>
              </a:rPr>
              <a:t>Reasoning</a:t>
            </a:r>
            <a:r>
              <a:rPr sz="85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FFFFFF"/>
                </a:solidFill>
                <a:latin typeface="Calibri"/>
                <a:cs typeface="Calibri"/>
              </a:rPr>
              <a:t>Trace (EFFECTIVE)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81539" y="1925182"/>
            <a:ext cx="4232910" cy="1581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08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Q:</a:t>
            </a:r>
            <a:r>
              <a:rPr sz="85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"If</a:t>
            </a:r>
            <a:r>
              <a:rPr sz="85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Alice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has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3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apples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and</a:t>
            </a:r>
            <a:r>
              <a:rPr sz="85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gives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half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to</a:t>
            </a:r>
            <a:r>
              <a:rPr sz="85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Bob..."</a:t>
            </a:r>
            <a:endParaRPr sz="850">
              <a:latin typeface="Calibri"/>
              <a:cs typeface="Calibri"/>
            </a:endParaRPr>
          </a:p>
          <a:p>
            <a:pPr marL="132080">
              <a:lnSpc>
                <a:spcPct val="100000"/>
              </a:lnSpc>
              <a:spcBef>
                <a:spcPts val="1019"/>
              </a:spcBef>
            </a:pP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Teacher</a:t>
            </a:r>
            <a:r>
              <a:rPr sz="850" spc="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output:</a:t>
            </a:r>
            <a:endParaRPr sz="850">
              <a:latin typeface="Calibri"/>
              <a:cs typeface="Calibri"/>
            </a:endParaRPr>
          </a:p>
          <a:p>
            <a:pPr marL="132080">
              <a:lnSpc>
                <a:spcPct val="100000"/>
              </a:lnSpc>
            </a:pP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&lt;think&gt;</a:t>
            </a:r>
            <a:endParaRPr sz="850">
              <a:latin typeface="Calibri"/>
              <a:cs typeface="Calibri"/>
            </a:endParaRPr>
          </a:p>
          <a:p>
            <a:pPr marL="180975" marR="2600325">
              <a:lnSpc>
                <a:spcPct val="100000"/>
              </a:lnSpc>
            </a:pP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Step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1: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Alice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starts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with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3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apples.</a:t>
            </a:r>
            <a:r>
              <a:rPr sz="850" spc="5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Step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2: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Half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of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3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=</a:t>
            </a:r>
            <a:r>
              <a:rPr sz="8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3/2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=</a:t>
            </a:r>
            <a:r>
              <a:rPr sz="8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191F2B"/>
                </a:solidFill>
                <a:latin typeface="Calibri"/>
                <a:cs typeface="Calibri"/>
              </a:rPr>
              <a:t>1.5</a:t>
            </a:r>
            <a:endParaRPr sz="850">
              <a:latin typeface="Calibri"/>
              <a:cs typeface="Calibri"/>
            </a:endParaRPr>
          </a:p>
          <a:p>
            <a:pPr marL="180975" marR="1882775">
              <a:lnSpc>
                <a:spcPct val="100000"/>
              </a:lnSpc>
            </a:pP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Step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3:</a:t>
            </a:r>
            <a:r>
              <a:rPr sz="85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Giving</a:t>
            </a:r>
            <a:r>
              <a:rPr sz="85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1.5</a:t>
            </a:r>
            <a:r>
              <a:rPr sz="85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to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Bob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means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Alice</a:t>
            </a:r>
            <a:r>
              <a:rPr sz="85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has</a:t>
            </a:r>
            <a:r>
              <a:rPr sz="85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1.5</a:t>
            </a:r>
            <a:r>
              <a:rPr sz="85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left.</a:t>
            </a:r>
            <a:r>
              <a:rPr sz="850" spc="5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Therefore: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Alice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has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1.5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apples.</a:t>
            </a:r>
            <a:endParaRPr sz="850">
              <a:latin typeface="Calibri"/>
              <a:cs typeface="Calibri"/>
            </a:endParaRPr>
          </a:p>
          <a:p>
            <a:pPr marL="132080">
              <a:lnSpc>
                <a:spcPct val="100000"/>
              </a:lnSpc>
              <a:spcBef>
                <a:spcPts val="5"/>
              </a:spcBef>
            </a:pP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&lt;/think&gt;</a:t>
            </a:r>
            <a:endParaRPr sz="850">
              <a:latin typeface="Calibri"/>
              <a:cs typeface="Calibri"/>
            </a:endParaRPr>
          </a:p>
          <a:p>
            <a:pPr marL="132080">
              <a:lnSpc>
                <a:spcPct val="100000"/>
              </a:lnSpc>
            </a:pP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-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-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&gt; "1.5</a:t>
            </a:r>
            <a:r>
              <a:rPr sz="85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apples"</a:t>
            </a:r>
            <a:endParaRPr sz="850">
              <a:latin typeface="Calibri"/>
              <a:cs typeface="Calibri"/>
            </a:endParaRPr>
          </a:p>
          <a:p>
            <a:pPr marL="132080">
              <a:lnSpc>
                <a:spcPct val="100000"/>
              </a:lnSpc>
              <a:spcBef>
                <a:spcPts val="1019"/>
              </a:spcBef>
            </a:pP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Student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learns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the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step-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by-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step</a:t>
            </a:r>
            <a:r>
              <a:rPr sz="8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reasoning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strategy.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126496" y="2389138"/>
            <a:ext cx="469900" cy="469900"/>
            <a:chOff x="4126496" y="2389138"/>
            <a:chExt cx="469900" cy="469900"/>
          </a:xfrm>
        </p:grpSpPr>
        <p:sp>
          <p:nvSpPr>
            <p:cNvPr id="25" name="object 25"/>
            <p:cNvSpPr/>
            <p:nvPr/>
          </p:nvSpPr>
          <p:spPr>
            <a:xfrm>
              <a:off x="4132796" y="239543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9" y="7740"/>
                  </a:lnTo>
                  <a:lnTo>
                    <a:pt x="114477" y="30606"/>
                  </a:lnTo>
                  <a:lnTo>
                    <a:pt x="67008" y="67008"/>
                  </a:lnTo>
                  <a:lnTo>
                    <a:pt x="30607" y="114477"/>
                  </a:lnTo>
                  <a:lnTo>
                    <a:pt x="7740" y="169519"/>
                  </a:lnTo>
                  <a:lnTo>
                    <a:pt x="0" y="228600"/>
                  </a:lnTo>
                  <a:lnTo>
                    <a:pt x="1946" y="258438"/>
                  </a:lnTo>
                  <a:lnTo>
                    <a:pt x="17316" y="316082"/>
                  </a:lnTo>
                  <a:lnTo>
                    <a:pt x="47305" y="367876"/>
                  </a:lnTo>
                  <a:lnTo>
                    <a:pt x="89478" y="409907"/>
                  </a:lnTo>
                  <a:lnTo>
                    <a:pt x="141274" y="439888"/>
                  </a:lnTo>
                  <a:lnTo>
                    <a:pt x="198774" y="455253"/>
                  </a:lnTo>
                  <a:lnTo>
                    <a:pt x="228600" y="457200"/>
                  </a:lnTo>
                  <a:lnTo>
                    <a:pt x="258438" y="455253"/>
                  </a:lnTo>
                  <a:lnTo>
                    <a:pt x="316082" y="439888"/>
                  </a:lnTo>
                  <a:lnTo>
                    <a:pt x="367876" y="409907"/>
                  </a:lnTo>
                  <a:lnTo>
                    <a:pt x="409907" y="367876"/>
                  </a:lnTo>
                  <a:lnTo>
                    <a:pt x="439888" y="316082"/>
                  </a:lnTo>
                  <a:lnTo>
                    <a:pt x="455253" y="258438"/>
                  </a:lnTo>
                  <a:lnTo>
                    <a:pt x="457200" y="228600"/>
                  </a:lnTo>
                  <a:lnTo>
                    <a:pt x="455253" y="198774"/>
                  </a:lnTo>
                  <a:lnTo>
                    <a:pt x="439888" y="141274"/>
                  </a:lnTo>
                  <a:lnTo>
                    <a:pt x="409907" y="89478"/>
                  </a:lnTo>
                  <a:lnTo>
                    <a:pt x="367876" y="47305"/>
                  </a:lnTo>
                  <a:lnTo>
                    <a:pt x="316082" y="17316"/>
                  </a:lnTo>
                  <a:lnTo>
                    <a:pt x="258438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132796" y="239543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946" y="198774"/>
                  </a:lnTo>
                  <a:lnTo>
                    <a:pt x="7740" y="169519"/>
                  </a:lnTo>
                  <a:lnTo>
                    <a:pt x="30607" y="114477"/>
                  </a:lnTo>
                  <a:lnTo>
                    <a:pt x="67008" y="67008"/>
                  </a:lnTo>
                  <a:lnTo>
                    <a:pt x="114477" y="30606"/>
                  </a:lnTo>
                  <a:lnTo>
                    <a:pt x="169519" y="7740"/>
                  </a:lnTo>
                  <a:lnTo>
                    <a:pt x="228600" y="0"/>
                  </a:lnTo>
                  <a:lnTo>
                    <a:pt x="287734" y="7740"/>
                  </a:lnTo>
                  <a:lnTo>
                    <a:pt x="343077" y="30606"/>
                  </a:lnTo>
                  <a:lnTo>
                    <a:pt x="390242" y="67008"/>
                  </a:lnTo>
                  <a:lnTo>
                    <a:pt x="426605" y="114477"/>
                  </a:lnTo>
                  <a:lnTo>
                    <a:pt x="449460" y="169519"/>
                  </a:lnTo>
                  <a:lnTo>
                    <a:pt x="457200" y="228600"/>
                  </a:lnTo>
                  <a:lnTo>
                    <a:pt x="455253" y="258438"/>
                  </a:lnTo>
                  <a:lnTo>
                    <a:pt x="449460" y="287734"/>
                  </a:lnTo>
                  <a:lnTo>
                    <a:pt x="426605" y="343077"/>
                  </a:lnTo>
                  <a:lnTo>
                    <a:pt x="390242" y="390242"/>
                  </a:lnTo>
                  <a:lnTo>
                    <a:pt x="343077" y="426605"/>
                  </a:lnTo>
                  <a:lnTo>
                    <a:pt x="287734" y="449460"/>
                  </a:lnTo>
                  <a:lnTo>
                    <a:pt x="228600" y="457200"/>
                  </a:lnTo>
                  <a:lnTo>
                    <a:pt x="169519" y="449460"/>
                  </a:lnTo>
                  <a:lnTo>
                    <a:pt x="114477" y="426605"/>
                  </a:lnTo>
                  <a:lnTo>
                    <a:pt x="67008" y="390242"/>
                  </a:lnTo>
                  <a:lnTo>
                    <a:pt x="30607" y="343077"/>
                  </a:lnTo>
                  <a:lnTo>
                    <a:pt x="7740" y="287734"/>
                  </a:lnTo>
                  <a:lnTo>
                    <a:pt x="1946" y="258438"/>
                  </a:lnTo>
                  <a:lnTo>
                    <a:pt x="0" y="228600"/>
                  </a:lnTo>
                  <a:close/>
                </a:path>
              </a:pathLst>
            </a:custGeom>
            <a:ln w="12599">
              <a:solidFill>
                <a:srgbClr val="00C1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288218" y="2542580"/>
            <a:ext cx="14541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00C1CA"/>
                </a:solidFill>
                <a:latin typeface="Calibri"/>
                <a:cs typeface="Calibri"/>
              </a:rPr>
              <a:t>VS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06984" y="3950908"/>
            <a:ext cx="215519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1A396A"/>
                </a:solidFill>
                <a:latin typeface="Calibri"/>
                <a:cs typeface="Calibri"/>
              </a:rPr>
              <a:t>CoT</a:t>
            </a:r>
            <a:r>
              <a:rPr sz="900" b="1" spc="-15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1A396A"/>
                </a:solidFill>
                <a:latin typeface="Calibri"/>
                <a:cs typeface="Calibri"/>
              </a:rPr>
              <a:t>Distillation</a:t>
            </a:r>
            <a:r>
              <a:rPr sz="900" b="1" spc="-15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1A396A"/>
                </a:solidFill>
                <a:latin typeface="Calibri"/>
                <a:cs typeface="Calibri"/>
              </a:rPr>
              <a:t>Pipeline</a:t>
            </a:r>
            <a:r>
              <a:rPr sz="900" b="1" spc="-10" dirty="0">
                <a:solidFill>
                  <a:srgbClr val="1A396A"/>
                </a:solidFill>
                <a:latin typeface="Calibri"/>
                <a:cs typeface="Calibri"/>
              </a:rPr>
              <a:t> (DeepSeek-</a:t>
            </a:r>
            <a:r>
              <a:rPr sz="900" b="1" dirty="0">
                <a:solidFill>
                  <a:srgbClr val="1A396A"/>
                </a:solidFill>
                <a:latin typeface="Calibri"/>
                <a:cs typeface="Calibri"/>
              </a:rPr>
              <a:t>R1</a:t>
            </a:r>
            <a:r>
              <a:rPr sz="900" b="1" spc="-10" dirty="0">
                <a:solidFill>
                  <a:srgbClr val="1A396A"/>
                </a:solidFill>
                <a:latin typeface="Calibri"/>
                <a:cs typeface="Calibri"/>
              </a:rPr>
              <a:t> style):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86842" y="4089592"/>
            <a:ext cx="8689340" cy="715645"/>
            <a:chOff x="186842" y="4089592"/>
            <a:chExt cx="8689340" cy="715645"/>
          </a:xfrm>
        </p:grpSpPr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6842" y="4089592"/>
              <a:ext cx="2242794" cy="715327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20039" y="4169526"/>
              <a:ext cx="2030095" cy="502920"/>
            </a:xfrm>
            <a:custGeom>
              <a:avLst/>
              <a:gdLst/>
              <a:ahLst/>
              <a:cxnLst/>
              <a:rect l="l" t="t" r="r" b="b"/>
              <a:pathLst>
                <a:path w="2030095" h="502920">
                  <a:moveTo>
                    <a:pt x="2029675" y="0"/>
                  </a:moveTo>
                  <a:lnTo>
                    <a:pt x="0" y="0"/>
                  </a:lnTo>
                  <a:lnTo>
                    <a:pt x="0" y="502551"/>
                  </a:lnTo>
                  <a:lnTo>
                    <a:pt x="1014844" y="502551"/>
                  </a:lnTo>
                  <a:lnTo>
                    <a:pt x="2029675" y="502551"/>
                  </a:lnTo>
                  <a:lnTo>
                    <a:pt x="2029675" y="0"/>
                  </a:lnTo>
                  <a:close/>
                </a:path>
              </a:pathLst>
            </a:custGeom>
            <a:solidFill>
              <a:srgbClr val="1A39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35682" y="4089592"/>
              <a:ext cx="2242794" cy="71532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468880" y="4169526"/>
              <a:ext cx="2030095" cy="502920"/>
            </a:xfrm>
            <a:custGeom>
              <a:avLst/>
              <a:gdLst/>
              <a:ahLst/>
              <a:cxnLst/>
              <a:rect l="l" t="t" r="r" b="b"/>
              <a:pathLst>
                <a:path w="2030095" h="502920">
                  <a:moveTo>
                    <a:pt x="2029675" y="0"/>
                  </a:moveTo>
                  <a:lnTo>
                    <a:pt x="0" y="0"/>
                  </a:lnTo>
                  <a:lnTo>
                    <a:pt x="0" y="502551"/>
                  </a:lnTo>
                  <a:lnTo>
                    <a:pt x="1014844" y="502551"/>
                  </a:lnTo>
                  <a:lnTo>
                    <a:pt x="2029675" y="502551"/>
                  </a:lnTo>
                  <a:lnTo>
                    <a:pt x="2029675" y="0"/>
                  </a:lnTo>
                  <a:close/>
                </a:path>
              </a:pathLst>
            </a:custGeom>
            <a:solidFill>
              <a:srgbClr val="1A39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4522" y="4089592"/>
              <a:ext cx="2242794" cy="71532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617720" y="4169526"/>
              <a:ext cx="2030095" cy="502920"/>
            </a:xfrm>
            <a:custGeom>
              <a:avLst/>
              <a:gdLst/>
              <a:ahLst/>
              <a:cxnLst/>
              <a:rect l="l" t="t" r="r" b="b"/>
              <a:pathLst>
                <a:path w="2030095" h="502920">
                  <a:moveTo>
                    <a:pt x="2029675" y="0"/>
                  </a:moveTo>
                  <a:lnTo>
                    <a:pt x="0" y="0"/>
                  </a:lnTo>
                  <a:lnTo>
                    <a:pt x="0" y="502551"/>
                  </a:lnTo>
                  <a:lnTo>
                    <a:pt x="1014844" y="502551"/>
                  </a:lnTo>
                  <a:lnTo>
                    <a:pt x="2029675" y="502551"/>
                  </a:lnTo>
                  <a:lnTo>
                    <a:pt x="2029675" y="0"/>
                  </a:lnTo>
                  <a:close/>
                </a:path>
              </a:pathLst>
            </a:custGeom>
            <a:solidFill>
              <a:srgbClr val="1A39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33362" y="4089592"/>
              <a:ext cx="2242794" cy="715327"/>
            </a:xfrm>
            <a:prstGeom prst="rect">
              <a:avLst/>
            </a:prstGeom>
          </p:spPr>
        </p:pic>
      </p:grpSp>
      <p:sp>
        <p:nvSpPr>
          <p:cNvPr id="37" name="object 37"/>
          <p:cNvSpPr/>
          <p:nvPr/>
        </p:nvSpPr>
        <p:spPr>
          <a:xfrm>
            <a:off x="6766559" y="4169526"/>
            <a:ext cx="2030095" cy="502920"/>
          </a:xfrm>
          <a:custGeom>
            <a:avLst/>
            <a:gdLst/>
            <a:ahLst/>
            <a:cxnLst/>
            <a:rect l="l" t="t" r="r" b="b"/>
            <a:pathLst>
              <a:path w="2030095" h="502920">
                <a:moveTo>
                  <a:pt x="2029675" y="0"/>
                </a:moveTo>
                <a:lnTo>
                  <a:pt x="0" y="0"/>
                </a:lnTo>
                <a:lnTo>
                  <a:pt x="0" y="502551"/>
                </a:lnTo>
                <a:lnTo>
                  <a:pt x="1014844" y="502551"/>
                </a:lnTo>
                <a:lnTo>
                  <a:pt x="2029675" y="502551"/>
                </a:lnTo>
                <a:lnTo>
                  <a:pt x="2029675" y="0"/>
                </a:lnTo>
                <a:close/>
              </a:path>
            </a:pathLst>
          </a:custGeom>
          <a:solidFill>
            <a:srgbClr val="1A396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315000" y="4164486"/>
          <a:ext cx="8474074" cy="501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9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9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94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7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94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082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2235" marR="273685">
                        <a:lnSpc>
                          <a:spcPct val="100000"/>
                        </a:lnSpc>
                      </a:pPr>
                      <a:r>
                        <a:rPr sz="7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1.</a:t>
                      </a:r>
                      <a:r>
                        <a:rPr sz="7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Train</a:t>
                      </a:r>
                      <a:r>
                        <a:rPr sz="75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teacher</a:t>
                      </a:r>
                      <a:r>
                        <a:rPr sz="7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sz="75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RL/GRPO</a:t>
                      </a:r>
                      <a:r>
                        <a:rPr sz="7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7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generate</a:t>
                      </a:r>
                      <a:r>
                        <a:rPr sz="75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explicit</a:t>
                      </a:r>
                      <a:r>
                        <a:rPr sz="750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reasoning</a:t>
                      </a:r>
                      <a:r>
                        <a:rPr sz="75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traces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C1CA"/>
                      </a:solidFill>
                      <a:prstDash val="solid"/>
                    </a:lnL>
                    <a:lnR w="12700">
                      <a:solidFill>
                        <a:srgbClr val="00C1CA"/>
                      </a:solidFill>
                      <a:prstDash val="solid"/>
                    </a:lnR>
                    <a:lnT w="12700">
                      <a:solidFill>
                        <a:srgbClr val="00C1CA"/>
                      </a:solidFill>
                      <a:prstDash val="solid"/>
                    </a:lnT>
                    <a:lnB w="12700">
                      <a:solidFill>
                        <a:srgbClr val="00C1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C1CA"/>
                      </a:solidFill>
                      <a:prstDash val="solid"/>
                    </a:lnL>
                    <a:lnR w="12700">
                      <a:solidFill>
                        <a:srgbClr val="00C1CA"/>
                      </a:solidFill>
                      <a:prstDash val="solid"/>
                    </a:lnR>
                    <a:lnB w="28575">
                      <a:solidFill>
                        <a:srgbClr val="00C1CA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7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2.</a:t>
                      </a:r>
                      <a:r>
                        <a:rPr sz="75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Prompt</a:t>
                      </a:r>
                      <a:r>
                        <a:rPr sz="75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teacher</a:t>
                      </a:r>
                      <a:r>
                        <a:rPr sz="75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75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(Q,</a:t>
                      </a:r>
                      <a:endParaRPr sz="750">
                        <a:latin typeface="Calibri"/>
                        <a:cs typeface="Calibri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</a:pPr>
                      <a:r>
                        <a:rPr sz="7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&lt;think&gt;...reasoning...&lt;/think&gt;,</a:t>
                      </a:r>
                      <a:r>
                        <a:rPr sz="750" spc="9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Answer)</a:t>
                      </a:r>
                      <a:r>
                        <a:rPr sz="750" spc="9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triples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C1CA"/>
                      </a:solidFill>
                      <a:prstDash val="solid"/>
                    </a:lnL>
                    <a:lnR w="12700">
                      <a:solidFill>
                        <a:srgbClr val="00C1CA"/>
                      </a:solidFill>
                      <a:prstDash val="solid"/>
                    </a:lnR>
                    <a:lnT w="12700">
                      <a:solidFill>
                        <a:srgbClr val="00C1CA"/>
                      </a:solidFill>
                      <a:prstDash val="solid"/>
                    </a:lnT>
                    <a:lnB w="12700">
                      <a:solidFill>
                        <a:srgbClr val="00C1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C1CA"/>
                      </a:solidFill>
                      <a:prstDash val="solid"/>
                    </a:lnL>
                    <a:lnR w="12700">
                      <a:solidFill>
                        <a:srgbClr val="00C1CA"/>
                      </a:solidFill>
                      <a:prstDash val="solid"/>
                    </a:lnR>
                    <a:lnB w="28575">
                      <a:solidFill>
                        <a:srgbClr val="00C1CA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1600" marR="353060">
                        <a:lnSpc>
                          <a:spcPct val="100000"/>
                        </a:lnSpc>
                      </a:pPr>
                      <a:r>
                        <a:rPr sz="7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3.</a:t>
                      </a:r>
                      <a:r>
                        <a:rPr sz="75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Filter</a:t>
                      </a:r>
                      <a:r>
                        <a:rPr sz="7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traces</a:t>
                      </a:r>
                      <a:r>
                        <a:rPr sz="7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sz="7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outcome-supervised</a:t>
                      </a:r>
                      <a:r>
                        <a:rPr sz="75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reward</a:t>
                      </a:r>
                      <a:r>
                        <a:rPr sz="7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model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C1CA"/>
                      </a:solidFill>
                      <a:prstDash val="solid"/>
                    </a:lnL>
                    <a:lnR w="12700">
                      <a:solidFill>
                        <a:srgbClr val="00C1CA"/>
                      </a:solidFill>
                      <a:prstDash val="solid"/>
                    </a:lnR>
                    <a:lnT w="12700">
                      <a:solidFill>
                        <a:srgbClr val="00C1CA"/>
                      </a:solidFill>
                      <a:prstDash val="solid"/>
                    </a:lnT>
                    <a:lnB w="12700">
                      <a:solidFill>
                        <a:srgbClr val="00C1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C1CA"/>
                      </a:solidFill>
                      <a:prstDash val="solid"/>
                    </a:lnL>
                    <a:lnR w="12700">
                      <a:solidFill>
                        <a:srgbClr val="00C1CA"/>
                      </a:solidFill>
                      <a:prstDash val="solid"/>
                    </a:lnR>
                    <a:lnB w="28575">
                      <a:solidFill>
                        <a:srgbClr val="00C1CA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2235" marR="132715">
                        <a:lnSpc>
                          <a:spcPct val="100000"/>
                        </a:lnSpc>
                      </a:pPr>
                      <a:r>
                        <a:rPr sz="7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4. SFT</a:t>
                      </a:r>
                      <a:r>
                        <a:rPr sz="7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student</a:t>
                      </a:r>
                      <a:r>
                        <a:rPr sz="7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sz="75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50K-800K</a:t>
                      </a:r>
                      <a:r>
                        <a:rPr sz="75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curated reasoning</a:t>
                      </a:r>
                      <a:r>
                        <a:rPr sz="75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trace-answer</a:t>
                      </a:r>
                      <a:r>
                        <a:rPr sz="750" spc="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pairs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C1CA"/>
                      </a:solidFill>
                      <a:prstDash val="solid"/>
                    </a:lnL>
                    <a:lnR w="12700">
                      <a:solidFill>
                        <a:srgbClr val="00C1CA"/>
                      </a:solidFill>
                      <a:prstDash val="solid"/>
                    </a:lnR>
                    <a:lnT w="12700">
                      <a:solidFill>
                        <a:srgbClr val="00C1CA"/>
                      </a:solidFill>
                      <a:prstDash val="solid"/>
                    </a:lnT>
                    <a:lnB w="12700">
                      <a:solidFill>
                        <a:srgbClr val="00C1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305" marB="0">
                    <a:lnL w="12700">
                      <a:solidFill>
                        <a:srgbClr val="00C1CA"/>
                      </a:solidFill>
                      <a:prstDash val="solid"/>
                    </a:lnL>
                    <a:lnR w="12700">
                      <a:solidFill>
                        <a:srgbClr val="00C1CA"/>
                      </a:solidFill>
                      <a:prstDash val="solid"/>
                    </a:lnR>
                    <a:lnT w="12700">
                      <a:solidFill>
                        <a:srgbClr val="00C1CA"/>
                      </a:solidFill>
                      <a:prstDash val="solid"/>
                    </a:lnT>
                    <a:lnB w="12700">
                      <a:solidFill>
                        <a:srgbClr val="00C1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C1CA"/>
                      </a:solidFill>
                      <a:prstDash val="solid"/>
                    </a:lnL>
                    <a:lnR w="12700">
                      <a:solidFill>
                        <a:srgbClr val="00C1CA"/>
                      </a:solidFill>
                      <a:prstDash val="solid"/>
                    </a:lnR>
                    <a:lnT w="28575">
                      <a:solidFill>
                        <a:srgbClr val="00C1CA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305" marB="0">
                    <a:lnL w="12700">
                      <a:solidFill>
                        <a:srgbClr val="00C1CA"/>
                      </a:solidFill>
                      <a:prstDash val="solid"/>
                    </a:lnL>
                    <a:lnR w="12700">
                      <a:solidFill>
                        <a:srgbClr val="00C1CA"/>
                      </a:solidFill>
                      <a:prstDash val="solid"/>
                    </a:lnR>
                    <a:lnT w="12700">
                      <a:solidFill>
                        <a:srgbClr val="00C1CA"/>
                      </a:solidFill>
                      <a:prstDash val="solid"/>
                    </a:lnT>
                    <a:lnB w="12700">
                      <a:solidFill>
                        <a:srgbClr val="00C1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C1CA"/>
                      </a:solidFill>
                      <a:prstDash val="solid"/>
                    </a:lnL>
                    <a:lnR w="12700">
                      <a:solidFill>
                        <a:srgbClr val="00C1CA"/>
                      </a:solidFill>
                      <a:prstDash val="solid"/>
                    </a:lnR>
                    <a:lnT w="28575">
                      <a:solidFill>
                        <a:srgbClr val="00C1CA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305" marB="0">
                    <a:lnL w="12700">
                      <a:solidFill>
                        <a:srgbClr val="00C1CA"/>
                      </a:solidFill>
                      <a:prstDash val="solid"/>
                    </a:lnL>
                    <a:lnR w="12700">
                      <a:solidFill>
                        <a:srgbClr val="00C1CA"/>
                      </a:solidFill>
                      <a:prstDash val="solid"/>
                    </a:lnR>
                    <a:lnT w="12700">
                      <a:solidFill>
                        <a:srgbClr val="00C1CA"/>
                      </a:solidFill>
                      <a:prstDash val="solid"/>
                    </a:lnT>
                    <a:lnB w="12700">
                      <a:solidFill>
                        <a:srgbClr val="00C1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C1CA"/>
                      </a:solidFill>
                      <a:prstDash val="solid"/>
                    </a:lnL>
                    <a:lnR w="12700">
                      <a:solidFill>
                        <a:srgbClr val="00C1CA"/>
                      </a:solidFill>
                      <a:prstDash val="solid"/>
                    </a:lnR>
                    <a:lnT w="28575">
                      <a:solidFill>
                        <a:srgbClr val="00C1CA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305" marB="0">
                    <a:lnL w="12700">
                      <a:solidFill>
                        <a:srgbClr val="00C1CA"/>
                      </a:solidFill>
                      <a:prstDash val="solid"/>
                    </a:lnL>
                    <a:lnR w="12700">
                      <a:solidFill>
                        <a:srgbClr val="00C1CA"/>
                      </a:solidFill>
                      <a:prstDash val="solid"/>
                    </a:lnR>
                    <a:lnT w="12700">
                      <a:solidFill>
                        <a:srgbClr val="00C1CA"/>
                      </a:solidFill>
                      <a:prstDash val="solid"/>
                    </a:lnT>
                    <a:lnB w="12700">
                      <a:solidFill>
                        <a:srgbClr val="00C1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10" dirty="0"/>
              <a:t>Knowledge</a:t>
            </a:r>
            <a:r>
              <a:rPr dirty="0"/>
              <a:t> </a:t>
            </a:r>
            <a:r>
              <a:rPr spc="-10" dirty="0"/>
              <a:t>Distillation</a:t>
            </a:r>
            <a:r>
              <a:rPr spc="-5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LLMs</a:t>
            </a:r>
            <a:r>
              <a:rPr spc="170" dirty="0"/>
              <a:t> </a:t>
            </a:r>
            <a:r>
              <a:rPr dirty="0"/>
              <a:t>|</a:t>
            </a:r>
            <a:r>
              <a:rPr spc="180" dirty="0"/>
              <a:t> </a:t>
            </a:r>
            <a:r>
              <a:rPr spc="-10" dirty="0"/>
              <a:t>Manisa</a:t>
            </a:r>
            <a:r>
              <a:rPr spc="-5" dirty="0"/>
              <a:t> </a:t>
            </a:r>
            <a:r>
              <a:rPr dirty="0"/>
              <a:t>Celal </a:t>
            </a:r>
            <a:r>
              <a:rPr spc="-10" dirty="0"/>
              <a:t>Bayar</a:t>
            </a:r>
            <a:r>
              <a:rPr spc="-5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6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18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306984" y="4785374"/>
            <a:ext cx="186182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i="1" spc="-55" dirty="0">
                <a:solidFill>
                  <a:srgbClr val="63738A"/>
                </a:solidFill>
                <a:latin typeface="Arial"/>
                <a:cs typeface="Arial"/>
              </a:rPr>
              <a:t>Reference:</a:t>
            </a:r>
            <a:r>
              <a:rPr sz="750" i="1" spc="-10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750" i="1" spc="-60" dirty="0">
                <a:solidFill>
                  <a:srgbClr val="63738A"/>
                </a:solidFill>
                <a:latin typeface="Arial"/>
                <a:cs typeface="Arial"/>
              </a:rPr>
              <a:t>Ho</a:t>
            </a:r>
            <a:r>
              <a:rPr sz="750" i="1" spc="10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750" i="1" spc="-10" dirty="0">
                <a:solidFill>
                  <a:srgbClr val="63738A"/>
                </a:solidFill>
                <a:latin typeface="Arial"/>
                <a:cs typeface="Arial"/>
              </a:rPr>
              <a:t>et</a:t>
            </a:r>
            <a:r>
              <a:rPr sz="750" i="1" spc="-15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750" i="1" spc="-20" dirty="0">
                <a:solidFill>
                  <a:srgbClr val="63738A"/>
                </a:solidFill>
                <a:latin typeface="Arial"/>
                <a:cs typeface="Arial"/>
              </a:rPr>
              <a:t>al.</a:t>
            </a:r>
            <a:r>
              <a:rPr sz="750" i="1" spc="-5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750" i="1" spc="-35" dirty="0">
                <a:solidFill>
                  <a:srgbClr val="63738A"/>
                </a:solidFill>
                <a:latin typeface="Arial"/>
                <a:cs typeface="Arial"/>
              </a:rPr>
              <a:t>(2023);</a:t>
            </a:r>
            <a:r>
              <a:rPr sz="750" i="1" spc="-5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750" i="1" spc="-70" dirty="0">
                <a:solidFill>
                  <a:srgbClr val="63738A"/>
                </a:solidFill>
                <a:latin typeface="Arial"/>
                <a:cs typeface="Arial"/>
              </a:rPr>
              <a:t>DeepSeek-</a:t>
            </a:r>
            <a:r>
              <a:rPr sz="750" i="1" spc="-50" dirty="0">
                <a:solidFill>
                  <a:srgbClr val="63738A"/>
                </a:solidFill>
                <a:latin typeface="Arial"/>
                <a:cs typeface="Arial"/>
              </a:rPr>
              <a:t>AI</a:t>
            </a:r>
            <a:r>
              <a:rPr sz="750" i="1" spc="-5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750" i="1" spc="-10" dirty="0">
                <a:solidFill>
                  <a:srgbClr val="63738A"/>
                </a:solidFill>
                <a:latin typeface="Arial"/>
                <a:cs typeface="Arial"/>
              </a:rPr>
              <a:t>(2025)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/>
              <a:t>RLKD</a:t>
            </a:r>
            <a:r>
              <a:rPr sz="2000" spc="-30" dirty="0"/>
              <a:t> </a:t>
            </a:r>
            <a:r>
              <a:rPr sz="2000" dirty="0"/>
              <a:t>&amp;</a:t>
            </a:r>
            <a:r>
              <a:rPr sz="2000" spc="-25" dirty="0"/>
              <a:t> </a:t>
            </a:r>
            <a:r>
              <a:rPr sz="2000" spc="-10" dirty="0"/>
              <a:t>Speculative</a:t>
            </a:r>
            <a:r>
              <a:rPr sz="2000" spc="-30" dirty="0"/>
              <a:t> </a:t>
            </a:r>
            <a:r>
              <a:rPr sz="2000" spc="-10" dirty="0"/>
              <a:t>Decoding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6442455" y="232107"/>
            <a:ext cx="23920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spc="-65" dirty="0">
                <a:solidFill>
                  <a:srgbClr val="00C1CA"/>
                </a:solidFill>
                <a:latin typeface="Arial"/>
                <a:cs typeface="Arial"/>
              </a:rPr>
              <a:t>04</a:t>
            </a:r>
            <a:r>
              <a:rPr sz="1100" i="1" spc="-30" dirty="0">
                <a:solidFill>
                  <a:srgbClr val="00C1CA"/>
                </a:solidFill>
                <a:latin typeface="Arial"/>
                <a:cs typeface="Arial"/>
              </a:rPr>
              <a:t> -</a:t>
            </a:r>
            <a:r>
              <a:rPr sz="1100" i="1" spc="-3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75" dirty="0">
                <a:solidFill>
                  <a:srgbClr val="00C1CA"/>
                </a:solidFill>
                <a:latin typeface="Arial"/>
                <a:cs typeface="Arial"/>
              </a:rPr>
              <a:t>Advanced</a:t>
            </a:r>
            <a:r>
              <a:rPr sz="1100" i="1" spc="-40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95" dirty="0">
                <a:solidFill>
                  <a:srgbClr val="00C1CA"/>
                </a:solidFill>
                <a:latin typeface="Arial"/>
                <a:cs typeface="Arial"/>
              </a:rPr>
              <a:t>LLM</a:t>
            </a:r>
            <a:r>
              <a:rPr sz="1100" i="1" spc="-4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30" dirty="0">
                <a:solidFill>
                  <a:srgbClr val="00C1CA"/>
                </a:solidFill>
                <a:latin typeface="Arial"/>
                <a:cs typeface="Arial"/>
              </a:rPr>
              <a:t>Distillation</a:t>
            </a:r>
            <a:r>
              <a:rPr sz="1100" i="1" spc="-3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65" dirty="0">
                <a:solidFill>
                  <a:srgbClr val="00C1CA"/>
                </a:solidFill>
                <a:latin typeface="Arial"/>
                <a:cs typeface="Arial"/>
              </a:rPr>
              <a:t>Techniques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6655" y="4885742"/>
            <a:ext cx="9156700" cy="264160"/>
            <a:chOff x="-6655" y="4885742"/>
            <a:chExt cx="9156700" cy="264160"/>
          </a:xfrm>
        </p:grpSpPr>
        <p:sp>
          <p:nvSpPr>
            <p:cNvPr id="5" name="object 5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631" y="0"/>
                  </a:moveTo>
                  <a:lnTo>
                    <a:pt x="0" y="0"/>
                  </a:lnTo>
                  <a:lnTo>
                    <a:pt x="0" y="251282"/>
                  </a:lnTo>
                  <a:lnTo>
                    <a:pt x="4572000" y="251282"/>
                  </a:lnTo>
                  <a:lnTo>
                    <a:pt x="9143631" y="251282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4572000" y="251282"/>
                  </a:moveTo>
                  <a:lnTo>
                    <a:pt x="0" y="251282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251282"/>
                  </a:lnTo>
                  <a:lnTo>
                    <a:pt x="4572000" y="251282"/>
                  </a:lnTo>
                  <a:close/>
                </a:path>
              </a:pathLst>
            </a:custGeom>
            <a:ln w="12599">
              <a:solidFill>
                <a:srgbClr val="0C1A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38239" y="804597"/>
            <a:ext cx="4424045" cy="3427095"/>
            <a:chOff x="138239" y="804597"/>
            <a:chExt cx="4424045" cy="3427095"/>
          </a:xfrm>
        </p:grpSpPr>
        <p:sp>
          <p:nvSpPr>
            <p:cNvPr id="8" name="object 8"/>
            <p:cNvSpPr/>
            <p:nvPr/>
          </p:nvSpPr>
          <p:spPr>
            <a:xfrm>
              <a:off x="273964" y="804597"/>
              <a:ext cx="4206240" cy="292735"/>
            </a:xfrm>
            <a:custGeom>
              <a:avLst/>
              <a:gdLst/>
              <a:ahLst/>
              <a:cxnLst/>
              <a:rect l="l" t="t" r="r" b="b"/>
              <a:pathLst>
                <a:path w="4206240" h="292734">
                  <a:moveTo>
                    <a:pt x="4205871" y="0"/>
                  </a:moveTo>
                  <a:lnTo>
                    <a:pt x="0" y="0"/>
                  </a:lnTo>
                  <a:lnTo>
                    <a:pt x="0" y="292328"/>
                  </a:lnTo>
                  <a:lnTo>
                    <a:pt x="2103120" y="292328"/>
                  </a:lnTo>
                  <a:lnTo>
                    <a:pt x="4205871" y="292328"/>
                  </a:lnTo>
                  <a:lnTo>
                    <a:pt x="4205871" y="0"/>
                  </a:lnTo>
                  <a:close/>
                </a:path>
              </a:pathLst>
            </a:custGeom>
            <a:solidFill>
              <a:srgbClr val="8A5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239" y="1014833"/>
              <a:ext cx="4424045" cy="3216605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273964" y="1097282"/>
            <a:ext cx="4206240" cy="2999105"/>
          </a:xfrm>
          <a:custGeom>
            <a:avLst/>
            <a:gdLst/>
            <a:ahLst/>
            <a:cxnLst/>
            <a:rect l="l" t="t" r="r" b="b"/>
            <a:pathLst>
              <a:path w="4206240" h="2999104">
                <a:moveTo>
                  <a:pt x="4205871" y="0"/>
                </a:moveTo>
                <a:lnTo>
                  <a:pt x="0" y="0"/>
                </a:lnTo>
                <a:lnTo>
                  <a:pt x="0" y="2998800"/>
                </a:lnTo>
                <a:lnTo>
                  <a:pt x="2103120" y="2998800"/>
                </a:lnTo>
                <a:lnTo>
                  <a:pt x="4205871" y="2998800"/>
                </a:lnTo>
                <a:lnTo>
                  <a:pt x="42058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66404" y="797037"/>
          <a:ext cx="4205605" cy="3290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05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9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Reinforcement Learning</a:t>
                      </a:r>
                      <a:r>
                        <a:rPr sz="95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sz="9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Knowledge</a:t>
                      </a:r>
                      <a:r>
                        <a:rPr sz="9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Distillation</a:t>
                      </a:r>
                      <a:r>
                        <a:rPr sz="95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(RLKD)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8A5BF5"/>
                      </a:solidFill>
                      <a:prstDash val="solid"/>
                    </a:lnL>
                    <a:lnR w="12700">
                      <a:solidFill>
                        <a:srgbClr val="8A5BF5"/>
                      </a:solidFill>
                      <a:prstDash val="solid"/>
                    </a:lnR>
                    <a:lnT w="12700">
                      <a:solidFill>
                        <a:srgbClr val="8A5BF5"/>
                      </a:solidFill>
                      <a:prstDash val="solid"/>
                    </a:lnT>
                    <a:lnB w="19050">
                      <a:solidFill>
                        <a:srgbClr val="8A5BF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84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950" b="1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Core</a:t>
                      </a:r>
                      <a:r>
                        <a:rPr sz="950" b="1" spc="-4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b="1" spc="-2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Idea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41605" marR="283210">
                        <a:lnSpc>
                          <a:spcPct val="100000"/>
                        </a:lnSpc>
                      </a:pP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Instead</a:t>
                      </a:r>
                      <a:r>
                        <a:rPr sz="85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SFT</a:t>
                      </a:r>
                      <a:r>
                        <a:rPr sz="85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mimicry,</a:t>
                      </a:r>
                      <a:r>
                        <a:rPr sz="85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student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trained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via</a:t>
                      </a:r>
                      <a:r>
                        <a:rPr sz="85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policy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gradient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RL</a:t>
                      </a:r>
                      <a:r>
                        <a:rPr sz="85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where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rewards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are</a:t>
                      </a:r>
                      <a:r>
                        <a:rPr sz="850" spc="5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derived</a:t>
                      </a:r>
                      <a:r>
                        <a:rPr sz="85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teacher evaluation</a:t>
                      </a:r>
                      <a:r>
                        <a:rPr sz="85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not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human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feedback.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8A5BF5"/>
                          </a:solidFill>
                          <a:latin typeface="Calibri"/>
                          <a:cs typeface="Calibri"/>
                        </a:rPr>
                        <a:t>GRPO</a:t>
                      </a:r>
                      <a:r>
                        <a:rPr sz="900" b="1" spc="-35" dirty="0">
                          <a:solidFill>
                            <a:srgbClr val="8A5BF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dirty="0">
                          <a:solidFill>
                            <a:srgbClr val="8A5BF5"/>
                          </a:solidFill>
                          <a:latin typeface="Calibri"/>
                          <a:cs typeface="Calibri"/>
                        </a:rPr>
                        <a:t>(Group</a:t>
                      </a:r>
                      <a:r>
                        <a:rPr sz="900" b="1" spc="-35" dirty="0">
                          <a:solidFill>
                            <a:srgbClr val="8A5BF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8A5BF5"/>
                          </a:solidFill>
                          <a:latin typeface="Calibri"/>
                          <a:cs typeface="Calibri"/>
                        </a:rPr>
                        <a:t>Relative</a:t>
                      </a:r>
                      <a:r>
                        <a:rPr sz="900" b="1" spc="-30" dirty="0">
                          <a:solidFill>
                            <a:srgbClr val="8A5BF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dirty="0">
                          <a:solidFill>
                            <a:srgbClr val="8A5BF5"/>
                          </a:solidFill>
                          <a:latin typeface="Calibri"/>
                          <a:cs typeface="Calibri"/>
                        </a:rPr>
                        <a:t>Policy</a:t>
                      </a:r>
                      <a:r>
                        <a:rPr sz="900" b="1" spc="-30" dirty="0">
                          <a:solidFill>
                            <a:srgbClr val="8A5BF5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8A5BF5"/>
                          </a:solidFill>
                          <a:latin typeface="Calibri"/>
                          <a:cs typeface="Calibri"/>
                        </a:rPr>
                        <a:t>Optimization)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44475" indent="-102870">
                        <a:lnSpc>
                          <a:spcPct val="100000"/>
                        </a:lnSpc>
                        <a:buAutoNum type="arabicPeriod"/>
                        <a:tabLst>
                          <a:tab pos="244475" algn="l"/>
                        </a:tabLst>
                      </a:pP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Generate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K</a:t>
                      </a:r>
                      <a:r>
                        <a:rPr sz="85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candidate</a:t>
                      </a:r>
                      <a:r>
                        <a:rPr sz="85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responses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per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prompt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 marL="244475" indent="-102870">
                        <a:lnSpc>
                          <a:spcPct val="100000"/>
                        </a:lnSpc>
                        <a:buAutoNum type="arabicPeriod"/>
                        <a:tabLst>
                          <a:tab pos="244475" algn="l"/>
                        </a:tabLst>
                      </a:pP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Score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each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relative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to </a:t>
                      </a:r>
                      <a:r>
                        <a:rPr sz="85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teacher-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generated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references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 marL="244475" indent="-102870">
                        <a:lnSpc>
                          <a:spcPct val="100000"/>
                        </a:lnSpc>
                        <a:buAutoNum type="arabicPeriod"/>
                        <a:tabLst>
                          <a:tab pos="244475" algn="l"/>
                        </a:tabLst>
                      </a:pP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Reward</a:t>
                      </a:r>
                      <a:r>
                        <a:rPr sz="85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850" spc="-3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advantage</a:t>
                      </a:r>
                      <a:r>
                        <a:rPr sz="850" spc="-3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over</a:t>
                      </a:r>
                      <a:r>
                        <a:rPr sz="85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group</a:t>
                      </a:r>
                      <a:r>
                        <a:rPr sz="850" spc="-3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mean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 marL="244475" indent="-102870">
                        <a:lnSpc>
                          <a:spcPct val="100000"/>
                        </a:lnSpc>
                        <a:spcBef>
                          <a:spcPts val="5"/>
                        </a:spcBef>
                        <a:buAutoNum type="arabicPeriod"/>
                        <a:tabLst>
                          <a:tab pos="244475" algn="l"/>
                        </a:tabLst>
                      </a:pP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No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critic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network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required</a:t>
                      </a:r>
                      <a:r>
                        <a:rPr sz="85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(unlike</a:t>
                      </a:r>
                      <a:r>
                        <a:rPr sz="85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PPO)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 marL="244475" indent="-102870">
                        <a:lnSpc>
                          <a:spcPct val="100000"/>
                        </a:lnSpc>
                        <a:buAutoNum type="arabicPeriod"/>
                        <a:tabLst>
                          <a:tab pos="244475" algn="l"/>
                        </a:tabLst>
                      </a:pP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Memory-efficient:</a:t>
                      </a:r>
                      <a:r>
                        <a:rPr sz="85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sz="85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value</a:t>
                      </a:r>
                      <a:r>
                        <a:rPr sz="850" spc="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network</a:t>
                      </a:r>
                      <a:endParaRPr sz="8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sz="900" b="1" spc="-20" dirty="0">
                          <a:solidFill>
                            <a:srgbClr val="21C45D"/>
                          </a:solidFill>
                          <a:latin typeface="Calibri"/>
                          <a:cs typeface="Calibri"/>
                        </a:rPr>
                        <a:t>Student-Exceeds-Teacher</a:t>
                      </a:r>
                      <a:r>
                        <a:rPr sz="900" b="1" spc="140" dirty="0">
                          <a:solidFill>
                            <a:srgbClr val="21C45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21C45D"/>
                          </a:solidFill>
                          <a:latin typeface="Calibri"/>
                          <a:cs typeface="Calibri"/>
                        </a:rPr>
                        <a:t>Phenomenon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41605" marR="168275">
                        <a:lnSpc>
                          <a:spcPct val="100000"/>
                        </a:lnSpc>
                      </a:pP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RL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exploration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enables</a:t>
                      </a:r>
                      <a:r>
                        <a:rPr sz="85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85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student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85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discover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more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efficient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reasoning</a:t>
                      </a:r>
                      <a:r>
                        <a:rPr sz="85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paths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than</a:t>
                      </a:r>
                      <a:r>
                        <a:rPr sz="85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those</a:t>
                      </a:r>
                      <a:r>
                        <a:rPr sz="850" spc="5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exhibited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by the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teacher.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Used</a:t>
                      </a:r>
                      <a:r>
                        <a:rPr sz="85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DeepSeek-R1-Zero. (Agarwal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et</a:t>
                      </a:r>
                      <a:r>
                        <a:rPr sz="85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al.,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2024)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T="84455" marB="0">
                    <a:lnL w="19050">
                      <a:solidFill>
                        <a:srgbClr val="8A5BF5"/>
                      </a:solidFill>
                      <a:prstDash val="solid"/>
                    </a:lnL>
                    <a:lnR w="19050">
                      <a:solidFill>
                        <a:srgbClr val="8A5BF5"/>
                      </a:solidFill>
                      <a:prstDash val="solid"/>
                    </a:lnR>
                    <a:lnT w="19050">
                      <a:solidFill>
                        <a:srgbClr val="8A5BF5"/>
                      </a:solidFill>
                      <a:prstDash val="solid"/>
                    </a:lnT>
                    <a:lnB w="19050">
                      <a:solidFill>
                        <a:srgbClr val="8A5BF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2" name="object 12"/>
          <p:cNvGrpSpPr/>
          <p:nvPr/>
        </p:nvGrpSpPr>
        <p:grpSpPr>
          <a:xfrm>
            <a:off x="4656734" y="798247"/>
            <a:ext cx="4218940" cy="305435"/>
            <a:chOff x="4656734" y="798247"/>
            <a:chExt cx="4218940" cy="305435"/>
          </a:xfrm>
        </p:grpSpPr>
        <p:sp>
          <p:nvSpPr>
            <p:cNvPr id="13" name="object 13"/>
            <p:cNvSpPr/>
            <p:nvPr/>
          </p:nvSpPr>
          <p:spPr>
            <a:xfrm>
              <a:off x="4663084" y="804597"/>
              <a:ext cx="4206240" cy="292735"/>
            </a:xfrm>
            <a:custGeom>
              <a:avLst/>
              <a:gdLst/>
              <a:ahLst/>
              <a:cxnLst/>
              <a:rect l="l" t="t" r="r" b="b"/>
              <a:pathLst>
                <a:path w="4206240" h="292734">
                  <a:moveTo>
                    <a:pt x="4205871" y="0"/>
                  </a:moveTo>
                  <a:lnTo>
                    <a:pt x="0" y="0"/>
                  </a:lnTo>
                  <a:lnTo>
                    <a:pt x="0" y="292328"/>
                  </a:lnTo>
                  <a:lnTo>
                    <a:pt x="2103120" y="292328"/>
                  </a:lnTo>
                  <a:lnTo>
                    <a:pt x="4205871" y="292328"/>
                  </a:lnTo>
                  <a:lnTo>
                    <a:pt x="4205871" y="0"/>
                  </a:lnTo>
                  <a:close/>
                </a:path>
              </a:pathLst>
            </a:custGeom>
            <a:solidFill>
              <a:srgbClr val="1D5E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63084" y="804597"/>
              <a:ext cx="4206240" cy="292735"/>
            </a:xfrm>
            <a:custGeom>
              <a:avLst/>
              <a:gdLst/>
              <a:ahLst/>
              <a:cxnLst/>
              <a:rect l="l" t="t" r="r" b="b"/>
              <a:pathLst>
                <a:path w="4206240" h="292734">
                  <a:moveTo>
                    <a:pt x="2103120" y="292328"/>
                  </a:moveTo>
                  <a:lnTo>
                    <a:pt x="0" y="292328"/>
                  </a:lnTo>
                  <a:lnTo>
                    <a:pt x="0" y="0"/>
                  </a:lnTo>
                  <a:lnTo>
                    <a:pt x="4205871" y="0"/>
                  </a:lnTo>
                  <a:lnTo>
                    <a:pt x="4205871" y="292328"/>
                  </a:lnTo>
                  <a:lnTo>
                    <a:pt x="2103120" y="292328"/>
                  </a:lnTo>
                  <a:close/>
                </a:path>
              </a:pathLst>
            </a:custGeom>
            <a:ln w="12599">
              <a:solidFill>
                <a:srgbClr val="1D5E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669384" y="865697"/>
            <a:ext cx="419354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Speculative</a:t>
            </a:r>
            <a:r>
              <a:rPr sz="95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Decoding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via</a:t>
            </a:r>
            <a:r>
              <a:rPr sz="95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Distillation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27359" y="1014833"/>
            <a:ext cx="4424045" cy="3216910"/>
            <a:chOff x="4527359" y="1014833"/>
            <a:chExt cx="4424045" cy="321691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27359" y="1014833"/>
              <a:ext cx="4424045" cy="321660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663084" y="1097281"/>
              <a:ext cx="4206240" cy="2999105"/>
            </a:xfrm>
            <a:custGeom>
              <a:avLst/>
              <a:gdLst/>
              <a:ahLst/>
              <a:cxnLst/>
              <a:rect l="l" t="t" r="r" b="b"/>
              <a:pathLst>
                <a:path w="4206240" h="2999104">
                  <a:moveTo>
                    <a:pt x="4205871" y="0"/>
                  </a:moveTo>
                  <a:lnTo>
                    <a:pt x="0" y="0"/>
                  </a:lnTo>
                  <a:lnTo>
                    <a:pt x="0" y="2998800"/>
                  </a:lnTo>
                  <a:lnTo>
                    <a:pt x="2103120" y="2998800"/>
                  </a:lnTo>
                  <a:lnTo>
                    <a:pt x="4205871" y="2998800"/>
                  </a:lnTo>
                  <a:lnTo>
                    <a:pt x="42058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63084" y="1097281"/>
              <a:ext cx="4206240" cy="2999105"/>
            </a:xfrm>
            <a:custGeom>
              <a:avLst/>
              <a:gdLst/>
              <a:ahLst/>
              <a:cxnLst/>
              <a:rect l="l" t="t" r="r" b="b"/>
              <a:pathLst>
                <a:path w="4206240" h="2999104">
                  <a:moveTo>
                    <a:pt x="2103120" y="2998800"/>
                  </a:moveTo>
                  <a:lnTo>
                    <a:pt x="0" y="2998800"/>
                  </a:lnTo>
                  <a:lnTo>
                    <a:pt x="0" y="0"/>
                  </a:lnTo>
                  <a:lnTo>
                    <a:pt x="4205871" y="0"/>
                  </a:lnTo>
                  <a:lnTo>
                    <a:pt x="4205871" y="2998800"/>
                  </a:lnTo>
                  <a:lnTo>
                    <a:pt x="2103120" y="2998800"/>
                  </a:lnTo>
                  <a:close/>
                </a:path>
              </a:pathLst>
            </a:custGeom>
            <a:ln w="15119">
              <a:solidFill>
                <a:srgbClr val="1D5E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741824" y="1203022"/>
            <a:ext cx="15640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1A396A"/>
                </a:solidFill>
                <a:latin typeface="Calibri"/>
                <a:cs typeface="Calibri"/>
              </a:rPr>
              <a:t>Protocol</a:t>
            </a:r>
            <a:r>
              <a:rPr sz="900" b="1" spc="5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1A396A"/>
                </a:solidFill>
                <a:latin typeface="Calibri"/>
                <a:cs typeface="Calibri"/>
              </a:rPr>
              <a:t>(Leviathan</a:t>
            </a:r>
            <a:r>
              <a:rPr sz="900" b="1" spc="-5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1A396A"/>
                </a:solidFill>
                <a:latin typeface="Calibri"/>
                <a:cs typeface="Calibri"/>
              </a:rPr>
              <a:t>et</a:t>
            </a:r>
            <a:r>
              <a:rPr sz="900" b="1" spc="-10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1A396A"/>
                </a:solidFill>
                <a:latin typeface="Calibri"/>
                <a:cs typeface="Calibri"/>
              </a:rPr>
              <a:t>al., </a:t>
            </a:r>
            <a:r>
              <a:rPr sz="900" b="1" spc="-10" dirty="0">
                <a:solidFill>
                  <a:srgbClr val="1A396A"/>
                </a:solidFill>
                <a:latin typeface="Calibri"/>
                <a:cs typeface="Calibri"/>
              </a:rPr>
              <a:t>2023):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620602" y="1382028"/>
            <a:ext cx="4220845" cy="992505"/>
            <a:chOff x="4620602" y="1382028"/>
            <a:chExt cx="4220845" cy="992505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20602" y="1382028"/>
              <a:ext cx="1477086" cy="99217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754879" y="1463042"/>
              <a:ext cx="1261745" cy="777240"/>
            </a:xfrm>
            <a:custGeom>
              <a:avLst/>
              <a:gdLst/>
              <a:ahLst/>
              <a:cxnLst/>
              <a:rect l="l" t="t" r="r" b="b"/>
              <a:pathLst>
                <a:path w="1261745" h="777239">
                  <a:moveTo>
                    <a:pt x="1261440" y="0"/>
                  </a:moveTo>
                  <a:lnTo>
                    <a:pt x="0" y="0"/>
                  </a:lnTo>
                  <a:lnTo>
                    <a:pt x="0" y="776884"/>
                  </a:lnTo>
                  <a:lnTo>
                    <a:pt x="630720" y="776884"/>
                  </a:lnTo>
                  <a:lnTo>
                    <a:pt x="1261440" y="776884"/>
                  </a:lnTo>
                  <a:lnTo>
                    <a:pt x="1261440" y="0"/>
                  </a:lnTo>
                  <a:close/>
                </a:path>
              </a:pathLst>
            </a:custGeom>
            <a:solidFill>
              <a:srgbClr val="F3A1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92202" y="1382028"/>
              <a:ext cx="1477086" cy="99217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126479" y="1463042"/>
              <a:ext cx="1261745" cy="777240"/>
            </a:xfrm>
            <a:custGeom>
              <a:avLst/>
              <a:gdLst/>
              <a:ahLst/>
              <a:cxnLst/>
              <a:rect l="l" t="t" r="r" b="b"/>
              <a:pathLst>
                <a:path w="1261745" h="777239">
                  <a:moveTo>
                    <a:pt x="1261440" y="0"/>
                  </a:moveTo>
                  <a:lnTo>
                    <a:pt x="0" y="0"/>
                  </a:lnTo>
                  <a:lnTo>
                    <a:pt x="0" y="776884"/>
                  </a:lnTo>
                  <a:lnTo>
                    <a:pt x="630720" y="776884"/>
                  </a:lnTo>
                  <a:lnTo>
                    <a:pt x="1261440" y="776884"/>
                  </a:lnTo>
                  <a:lnTo>
                    <a:pt x="1261440" y="0"/>
                  </a:lnTo>
                  <a:close/>
                </a:path>
              </a:pathLst>
            </a:custGeom>
            <a:solidFill>
              <a:srgbClr val="1A39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63802" y="1382028"/>
              <a:ext cx="1477086" cy="992174"/>
            </a:xfrm>
            <a:prstGeom prst="rect">
              <a:avLst/>
            </a:prstGeom>
          </p:spPr>
        </p:pic>
      </p:grpSp>
      <p:sp>
        <p:nvSpPr>
          <p:cNvPr id="27" name="object 27"/>
          <p:cNvSpPr/>
          <p:nvPr/>
        </p:nvSpPr>
        <p:spPr>
          <a:xfrm>
            <a:off x="7498080" y="1463041"/>
            <a:ext cx="1261745" cy="777240"/>
          </a:xfrm>
          <a:custGeom>
            <a:avLst/>
            <a:gdLst/>
            <a:ahLst/>
            <a:cxnLst/>
            <a:rect l="l" t="t" r="r" b="b"/>
            <a:pathLst>
              <a:path w="1261745" h="777239">
                <a:moveTo>
                  <a:pt x="1261440" y="0"/>
                </a:moveTo>
                <a:lnTo>
                  <a:pt x="0" y="0"/>
                </a:lnTo>
                <a:lnTo>
                  <a:pt x="0" y="776884"/>
                </a:lnTo>
                <a:lnTo>
                  <a:pt x="630720" y="776884"/>
                </a:lnTo>
                <a:lnTo>
                  <a:pt x="1261440" y="776884"/>
                </a:lnTo>
                <a:lnTo>
                  <a:pt x="1261440" y="0"/>
                </a:lnTo>
                <a:close/>
              </a:path>
            </a:pathLst>
          </a:custGeom>
          <a:solidFill>
            <a:srgbClr val="21C45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4748579" y="1456742"/>
          <a:ext cx="4006212" cy="776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1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4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62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Draft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Model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(KD</a:t>
                      </a:r>
                      <a:r>
                        <a:rPr sz="75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student)</a:t>
                      </a:r>
                      <a:endParaRPr sz="7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13664" marR="107950" algn="ctr">
                        <a:lnSpc>
                          <a:spcPct val="100000"/>
                        </a:lnSpc>
                      </a:pPr>
                      <a:r>
                        <a:rPr sz="7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Autoregressively</a:t>
                      </a:r>
                      <a:r>
                        <a:rPr sz="70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generates</a:t>
                      </a:r>
                      <a:r>
                        <a:rPr sz="7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</a:t>
                      </a:r>
                      <a:r>
                        <a:rPr sz="7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candidate</a:t>
                      </a:r>
                      <a:r>
                        <a:rPr sz="700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tokens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3A160"/>
                      </a:solidFill>
                      <a:prstDash val="solid"/>
                    </a:lnL>
                    <a:lnR w="12700">
                      <a:solidFill>
                        <a:srgbClr val="F3A160"/>
                      </a:solidFill>
                      <a:prstDash val="solid"/>
                    </a:lnR>
                    <a:lnT w="12700">
                      <a:solidFill>
                        <a:srgbClr val="F3A160"/>
                      </a:solidFill>
                      <a:prstDash val="solid"/>
                    </a:lnT>
                    <a:lnB w="12700">
                      <a:solidFill>
                        <a:srgbClr val="F3A1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3A160"/>
                      </a:solidFill>
                      <a:prstDash val="solid"/>
                    </a:lnL>
                    <a:lnR w="12700">
                      <a:solidFill>
                        <a:srgbClr val="1A396A"/>
                      </a:solidFill>
                      <a:prstDash val="solid"/>
                    </a:lnR>
                    <a:lnB w="19050">
                      <a:solidFill>
                        <a:srgbClr val="63738A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Target</a:t>
                      </a:r>
                      <a:r>
                        <a:rPr sz="7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Model</a:t>
                      </a:r>
                      <a:r>
                        <a:rPr sz="75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(Full</a:t>
                      </a:r>
                      <a:r>
                        <a:rPr sz="7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LLM)</a:t>
                      </a:r>
                      <a:endParaRPr sz="7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52069" marR="44450" algn="ctr">
                        <a:lnSpc>
                          <a:spcPct val="100000"/>
                        </a:lnSpc>
                      </a:pPr>
                      <a:r>
                        <a:rPr sz="7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Single</a:t>
                      </a:r>
                      <a:r>
                        <a:rPr sz="7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forward</a:t>
                      </a:r>
                      <a:r>
                        <a:rPr sz="7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pass</a:t>
                      </a:r>
                      <a:r>
                        <a:rPr sz="7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evaluates </a:t>
                      </a:r>
                      <a:r>
                        <a:rPr sz="7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all</a:t>
                      </a:r>
                      <a:r>
                        <a:rPr sz="7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</a:t>
                      </a:r>
                      <a:r>
                        <a:rPr sz="7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tokens</a:t>
                      </a:r>
                      <a:r>
                        <a:rPr sz="7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at</a:t>
                      </a:r>
                      <a:r>
                        <a:rPr sz="7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once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1A396A"/>
                      </a:solidFill>
                      <a:prstDash val="solid"/>
                    </a:lnL>
                    <a:lnR w="12700">
                      <a:solidFill>
                        <a:srgbClr val="1A396A"/>
                      </a:solidFill>
                      <a:prstDash val="solid"/>
                    </a:lnR>
                    <a:lnT w="12700">
                      <a:solidFill>
                        <a:srgbClr val="1A396A"/>
                      </a:solidFill>
                      <a:prstDash val="solid"/>
                    </a:lnT>
                    <a:lnB w="12700">
                      <a:solidFill>
                        <a:srgbClr val="1A39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A396A"/>
                      </a:solidFill>
                      <a:prstDash val="solid"/>
                    </a:lnL>
                    <a:lnR w="12700">
                      <a:solidFill>
                        <a:srgbClr val="21C45D"/>
                      </a:solidFill>
                      <a:prstDash val="solid"/>
                    </a:lnR>
                    <a:lnB w="19050">
                      <a:solidFill>
                        <a:srgbClr val="63738A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7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Accept</a:t>
                      </a:r>
                      <a:r>
                        <a:rPr sz="7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7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Reject</a:t>
                      </a:r>
                      <a:endParaRPr sz="7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54610" marR="46990" algn="ctr">
                        <a:lnSpc>
                          <a:spcPct val="100000"/>
                        </a:lnSpc>
                      </a:pPr>
                      <a:r>
                        <a:rPr sz="7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Accept</a:t>
                      </a:r>
                      <a:r>
                        <a:rPr sz="7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correct</a:t>
                      </a:r>
                      <a:r>
                        <a:rPr sz="7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tokens;</a:t>
                      </a:r>
                      <a:r>
                        <a:rPr sz="7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resample</a:t>
                      </a:r>
                      <a:r>
                        <a:rPr sz="700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sz="7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corrected</a:t>
                      </a:r>
                      <a:r>
                        <a:rPr sz="7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dist.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21C45D"/>
                      </a:solidFill>
                      <a:prstDash val="solid"/>
                    </a:lnL>
                    <a:lnR w="12700">
                      <a:solidFill>
                        <a:srgbClr val="21C45D"/>
                      </a:solidFill>
                      <a:prstDash val="solid"/>
                    </a:lnR>
                    <a:lnT w="12700">
                      <a:solidFill>
                        <a:srgbClr val="21C45D"/>
                      </a:solidFill>
                      <a:prstDash val="solid"/>
                    </a:lnT>
                    <a:lnB w="12700">
                      <a:solidFill>
                        <a:srgbClr val="21C45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9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2700">
                      <a:solidFill>
                        <a:srgbClr val="F3A160"/>
                      </a:solidFill>
                      <a:prstDash val="solid"/>
                    </a:lnL>
                    <a:lnR w="12700">
                      <a:solidFill>
                        <a:srgbClr val="F3A160"/>
                      </a:solidFill>
                      <a:prstDash val="solid"/>
                    </a:lnR>
                    <a:lnT w="12700">
                      <a:solidFill>
                        <a:srgbClr val="F3A160"/>
                      </a:solidFill>
                      <a:prstDash val="solid"/>
                    </a:lnT>
                    <a:lnB w="12700">
                      <a:solidFill>
                        <a:srgbClr val="F3A1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3A160"/>
                      </a:solidFill>
                      <a:prstDash val="solid"/>
                    </a:lnL>
                    <a:lnR w="12700">
                      <a:solidFill>
                        <a:srgbClr val="1A396A"/>
                      </a:solidFill>
                      <a:prstDash val="solid"/>
                    </a:lnR>
                    <a:lnT w="19050">
                      <a:solidFill>
                        <a:srgbClr val="63738A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2700">
                      <a:solidFill>
                        <a:srgbClr val="1A396A"/>
                      </a:solidFill>
                      <a:prstDash val="solid"/>
                    </a:lnL>
                    <a:lnR w="12700">
                      <a:solidFill>
                        <a:srgbClr val="1A396A"/>
                      </a:solidFill>
                      <a:prstDash val="solid"/>
                    </a:lnR>
                    <a:lnT w="12700">
                      <a:solidFill>
                        <a:srgbClr val="1A396A"/>
                      </a:solidFill>
                      <a:prstDash val="solid"/>
                    </a:lnT>
                    <a:lnB w="12700">
                      <a:solidFill>
                        <a:srgbClr val="1A39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A396A"/>
                      </a:solidFill>
                      <a:prstDash val="solid"/>
                    </a:lnL>
                    <a:lnR w="12700">
                      <a:solidFill>
                        <a:srgbClr val="21C45D"/>
                      </a:solidFill>
                      <a:prstDash val="solid"/>
                    </a:lnR>
                    <a:lnT w="19050">
                      <a:solidFill>
                        <a:srgbClr val="63738A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12700">
                      <a:solidFill>
                        <a:srgbClr val="21C45D"/>
                      </a:solidFill>
                      <a:prstDash val="solid"/>
                    </a:lnL>
                    <a:lnR w="12700">
                      <a:solidFill>
                        <a:srgbClr val="21C45D"/>
                      </a:solidFill>
                      <a:prstDash val="solid"/>
                    </a:lnR>
                    <a:lnT w="12700">
                      <a:solidFill>
                        <a:srgbClr val="21C45D"/>
                      </a:solidFill>
                      <a:prstDash val="solid"/>
                    </a:lnT>
                    <a:lnB w="12700">
                      <a:solidFill>
                        <a:srgbClr val="21C45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object 29"/>
          <p:cNvSpPr txBox="1"/>
          <p:nvPr/>
        </p:nvSpPr>
        <p:spPr>
          <a:xfrm>
            <a:off x="4792586" y="2208506"/>
            <a:ext cx="3928745" cy="1938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1A396A"/>
                </a:solidFill>
                <a:latin typeface="Calibri"/>
                <a:cs typeface="Calibri"/>
              </a:rPr>
              <a:t>Speedup:</a:t>
            </a:r>
            <a:r>
              <a:rPr sz="900" b="1" spc="-5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Provably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equivalent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 output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distribution</a:t>
            </a:r>
            <a:r>
              <a:rPr sz="8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to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full model,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 achieving</a:t>
            </a:r>
            <a:r>
              <a:rPr sz="85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21C45D"/>
                </a:solidFill>
                <a:latin typeface="Calibri"/>
                <a:cs typeface="Calibri"/>
              </a:rPr>
              <a:t>2-</a:t>
            </a:r>
            <a:r>
              <a:rPr sz="850" b="1" dirty="0">
                <a:solidFill>
                  <a:srgbClr val="21C45D"/>
                </a:solidFill>
                <a:latin typeface="Calibri"/>
                <a:cs typeface="Calibri"/>
              </a:rPr>
              <a:t>3x </a:t>
            </a:r>
            <a:r>
              <a:rPr sz="850" b="1" spc="-10" dirty="0">
                <a:solidFill>
                  <a:srgbClr val="21C45D"/>
                </a:solidFill>
                <a:latin typeface="Calibri"/>
                <a:cs typeface="Calibri"/>
              </a:rPr>
              <a:t>inference</a:t>
            </a:r>
            <a:r>
              <a:rPr sz="850" b="1" spc="500" dirty="0">
                <a:solidFill>
                  <a:srgbClr val="21C45D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21C45D"/>
                </a:solidFill>
                <a:latin typeface="Calibri"/>
                <a:cs typeface="Calibri"/>
              </a:rPr>
              <a:t>speedup</a:t>
            </a:r>
            <a:r>
              <a:rPr sz="850" b="1" spc="-5" dirty="0">
                <a:solidFill>
                  <a:srgbClr val="21C45D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by</a:t>
            </a:r>
            <a:r>
              <a:rPr sz="8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parallelizing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token verification.</a:t>
            </a:r>
            <a:endParaRPr sz="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850">
              <a:latin typeface="Calibri"/>
              <a:cs typeface="Calibri"/>
            </a:endParaRPr>
          </a:p>
          <a:p>
            <a:pPr marL="12700" marR="313055">
              <a:lnSpc>
                <a:spcPct val="100000"/>
              </a:lnSpc>
            </a:pPr>
            <a:r>
              <a:rPr sz="900" b="1" dirty="0">
                <a:solidFill>
                  <a:srgbClr val="1D5EAC"/>
                </a:solidFill>
                <a:latin typeface="Calibri"/>
                <a:cs typeface="Calibri"/>
              </a:rPr>
              <a:t>Why</a:t>
            </a:r>
            <a:r>
              <a:rPr sz="900" b="1" spc="-15" dirty="0">
                <a:solidFill>
                  <a:srgbClr val="1D5EAC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1D5EAC"/>
                </a:solidFill>
                <a:latin typeface="Calibri"/>
                <a:cs typeface="Calibri"/>
              </a:rPr>
              <a:t>KD</a:t>
            </a:r>
            <a:r>
              <a:rPr sz="900" b="1" spc="-20" dirty="0">
                <a:solidFill>
                  <a:srgbClr val="1D5EAC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1D5EAC"/>
                </a:solidFill>
                <a:latin typeface="Calibri"/>
                <a:cs typeface="Calibri"/>
              </a:rPr>
              <a:t>matters:</a:t>
            </a:r>
            <a:r>
              <a:rPr sz="900" b="1" spc="-20" dirty="0">
                <a:solidFill>
                  <a:srgbClr val="1D5EAC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Draft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models</a:t>
            </a:r>
            <a:r>
              <a:rPr sz="80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trained</a:t>
            </a:r>
            <a:r>
              <a:rPr sz="8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via</a:t>
            </a:r>
            <a:r>
              <a:rPr sz="8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191F2B"/>
                </a:solidFill>
                <a:latin typeface="Calibri"/>
                <a:cs typeface="Calibri"/>
              </a:rPr>
              <a:t>token-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level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KD</a:t>
            </a:r>
            <a:r>
              <a:rPr sz="80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from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the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target</a:t>
            </a:r>
            <a:r>
              <a:rPr sz="8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model</a:t>
            </a:r>
            <a:r>
              <a:rPr sz="800" spc="5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substantially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outperform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independently</a:t>
            </a:r>
            <a:r>
              <a:rPr sz="800" spc="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trained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draft</a:t>
            </a:r>
            <a:r>
              <a:rPr sz="800" spc="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models of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equivalent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 size -</a:t>
            </a:r>
            <a:r>
              <a:rPr sz="800" spc="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higher</a:t>
            </a:r>
            <a:r>
              <a:rPr sz="800" spc="5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acceptance</a:t>
            </a:r>
            <a:r>
              <a:rPr sz="80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rate =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more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 speedup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(Miao et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al.,</a:t>
            </a:r>
            <a:r>
              <a:rPr sz="80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2024).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00" b="1" spc="-20" dirty="0">
                <a:solidFill>
                  <a:srgbClr val="1A396A"/>
                </a:solidFill>
                <a:latin typeface="Calibri"/>
                <a:cs typeface="Calibri"/>
              </a:rPr>
              <a:t>Attention</a:t>
            </a:r>
            <a:r>
              <a:rPr sz="900" b="1" spc="20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1A396A"/>
                </a:solidFill>
                <a:latin typeface="Calibri"/>
                <a:cs typeface="Calibri"/>
              </a:rPr>
              <a:t>&amp;</a:t>
            </a:r>
            <a:r>
              <a:rPr sz="900" b="1" spc="5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1A396A"/>
                </a:solidFill>
                <a:latin typeface="Calibri"/>
                <a:cs typeface="Calibri"/>
              </a:rPr>
              <a:t>Hidden-State</a:t>
            </a:r>
            <a:r>
              <a:rPr sz="900" b="1" spc="20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1A396A"/>
                </a:solidFill>
                <a:latin typeface="Calibri"/>
                <a:cs typeface="Calibri"/>
              </a:rPr>
              <a:t>Alignment</a:t>
            </a:r>
            <a:r>
              <a:rPr sz="900" b="1" spc="5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1A396A"/>
                </a:solidFill>
                <a:latin typeface="Calibri"/>
                <a:cs typeface="Calibri"/>
              </a:rPr>
              <a:t>(TinyBERT):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ts val="960"/>
              </a:lnSpc>
              <a:spcBef>
                <a:spcPts val="1085"/>
              </a:spcBef>
            </a:pP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L_attn</a:t>
            </a:r>
            <a:r>
              <a:rPr sz="80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= (1/h) *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SUM_i</a:t>
            </a:r>
            <a:r>
              <a:rPr sz="80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MSE(A_S^i,</a:t>
            </a:r>
            <a:r>
              <a:rPr sz="8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A_T^i)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ts val="960"/>
              </a:lnSpc>
            </a:pP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where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h</a:t>
            </a:r>
            <a:r>
              <a:rPr sz="80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=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number</a:t>
            </a:r>
            <a:r>
              <a:rPr sz="8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of</a:t>
            </a:r>
            <a:r>
              <a:rPr sz="80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heads,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A</a:t>
            </a:r>
            <a:r>
              <a:rPr sz="80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=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 attention</a:t>
            </a:r>
            <a:r>
              <a:rPr sz="80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probability</a:t>
            </a:r>
            <a:r>
              <a:rPr sz="8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matrix.</a:t>
            </a:r>
            <a:endParaRPr sz="800">
              <a:latin typeface="Calibri"/>
              <a:cs typeface="Calibri"/>
            </a:endParaRPr>
          </a:p>
          <a:p>
            <a:pPr marL="12700" marR="203200">
              <a:lnSpc>
                <a:spcPct val="100000"/>
              </a:lnSpc>
            </a:pP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MiniLMv2:</a:t>
            </a:r>
            <a:r>
              <a:rPr sz="800" spc="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distills</a:t>
            </a:r>
            <a:r>
              <a:rPr sz="800" spc="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only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final-layer</a:t>
            </a:r>
            <a:r>
              <a:rPr sz="800" spc="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191F2B"/>
                </a:solidFill>
                <a:latin typeface="Calibri"/>
                <a:cs typeface="Calibri"/>
              </a:rPr>
              <a:t>self-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attention</a:t>
            </a:r>
            <a:r>
              <a:rPr sz="800" spc="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relation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matrix</a:t>
            </a:r>
            <a:r>
              <a:rPr sz="800" spc="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-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competitive</a:t>
            </a:r>
            <a:r>
              <a:rPr sz="800" spc="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with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reduced</a:t>
            </a:r>
            <a:r>
              <a:rPr sz="800" spc="5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overhead.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73964" y="4206242"/>
            <a:ext cx="8595360" cy="502920"/>
          </a:xfrm>
          <a:custGeom>
            <a:avLst/>
            <a:gdLst/>
            <a:ahLst/>
            <a:cxnLst/>
            <a:rect l="l" t="t" r="r" b="b"/>
            <a:pathLst>
              <a:path w="8595360" h="502920">
                <a:moveTo>
                  <a:pt x="8594991" y="0"/>
                </a:moveTo>
                <a:lnTo>
                  <a:pt x="0" y="0"/>
                </a:lnTo>
                <a:lnTo>
                  <a:pt x="0" y="502564"/>
                </a:lnTo>
                <a:lnTo>
                  <a:pt x="4297680" y="502564"/>
                </a:lnTo>
                <a:lnTo>
                  <a:pt x="8594991" y="502564"/>
                </a:lnTo>
                <a:lnTo>
                  <a:pt x="8594991" y="0"/>
                </a:lnTo>
                <a:close/>
              </a:path>
            </a:pathLst>
          </a:custGeom>
          <a:solidFill>
            <a:srgbClr val="0C1A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73964" y="4206242"/>
            <a:ext cx="8595360" cy="502920"/>
          </a:xfrm>
          <a:prstGeom prst="rect">
            <a:avLst/>
          </a:prstGeom>
          <a:ln w="12599">
            <a:solidFill>
              <a:srgbClr val="00C1CA"/>
            </a:solidFill>
          </a:ln>
        </p:spPr>
        <p:txBody>
          <a:bodyPr vert="horz" wrap="square" lIns="0" tIns="109855" rIns="0" bIns="0" rtlCol="0">
            <a:spAutoFit/>
          </a:bodyPr>
          <a:lstStyle/>
          <a:p>
            <a:pPr marL="226695" marR="220345">
              <a:lnSpc>
                <a:spcPct val="100000"/>
              </a:lnSpc>
              <a:spcBef>
                <a:spcPts val="865"/>
              </a:spcBef>
            </a:pPr>
            <a:r>
              <a:rPr sz="950" b="1" dirty="0">
                <a:solidFill>
                  <a:srgbClr val="00C1CA"/>
                </a:solidFill>
                <a:latin typeface="Calibri"/>
                <a:cs typeface="Calibri"/>
              </a:rPr>
              <a:t>RLKD</a:t>
            </a:r>
            <a:r>
              <a:rPr sz="950" b="1" spc="-25" dirty="0">
                <a:solidFill>
                  <a:srgbClr val="00C1CA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00C1CA"/>
                </a:solidFill>
                <a:latin typeface="Calibri"/>
                <a:cs typeface="Calibri"/>
              </a:rPr>
              <a:t>vs</a:t>
            </a:r>
            <a:r>
              <a:rPr sz="950" b="1" spc="-10" dirty="0">
                <a:solidFill>
                  <a:srgbClr val="00C1CA"/>
                </a:solidFill>
                <a:latin typeface="Calibri"/>
                <a:cs typeface="Calibri"/>
              </a:rPr>
              <a:t> SFT: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SFT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 constrains</a:t>
            </a:r>
            <a:r>
              <a:rPr sz="90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the</a:t>
            </a:r>
            <a:r>
              <a:rPr sz="90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student</a:t>
            </a:r>
            <a:r>
              <a:rPr sz="90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to</a:t>
            </a:r>
            <a:r>
              <a:rPr sz="900" spc="-2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imitate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the</a:t>
            </a:r>
            <a:r>
              <a:rPr sz="90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teacher's</a:t>
            </a:r>
            <a:r>
              <a:rPr sz="90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exact</a:t>
            </a:r>
            <a:r>
              <a:rPr sz="900" spc="-2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demonstrations.</a:t>
            </a:r>
            <a:r>
              <a:rPr sz="900" spc="-2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RLKD</a:t>
            </a:r>
            <a:r>
              <a:rPr sz="90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allows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exploration</a:t>
            </a:r>
            <a:r>
              <a:rPr sz="90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beyond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the</a:t>
            </a:r>
            <a:r>
              <a:rPr sz="90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teacher's</a:t>
            </a:r>
            <a:r>
              <a:rPr sz="90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training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distribution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-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the</a:t>
            </a:r>
            <a:r>
              <a:rPr sz="90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student</a:t>
            </a:r>
            <a:r>
              <a:rPr sz="90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can</a:t>
            </a:r>
            <a:r>
              <a:rPr sz="900" spc="-20" dirty="0">
                <a:solidFill>
                  <a:srgbClr val="CAD4E0"/>
                </a:solidFill>
                <a:latin typeface="Calibri"/>
                <a:cs typeface="Calibri"/>
              </a:rPr>
              <a:t> find</a:t>
            </a:r>
            <a:r>
              <a:rPr sz="900" spc="50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reasoning</a:t>
            </a:r>
            <a:r>
              <a:rPr sz="900" spc="-2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shortcuts</a:t>
            </a:r>
            <a:r>
              <a:rPr sz="90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the</a:t>
            </a:r>
            <a:r>
              <a:rPr sz="90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teacher</a:t>
            </a:r>
            <a:r>
              <a:rPr sz="900" spc="-2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missed.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This</a:t>
            </a:r>
            <a:r>
              <a:rPr sz="90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is</a:t>
            </a:r>
            <a:r>
              <a:rPr sz="90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why</a:t>
            </a:r>
            <a:r>
              <a:rPr sz="90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DeepSeek-R1-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Zero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 developed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emergent</a:t>
            </a:r>
            <a:r>
              <a:rPr sz="900" spc="-2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chain-</a:t>
            </a:r>
            <a:r>
              <a:rPr sz="900" spc="-20" dirty="0">
                <a:solidFill>
                  <a:srgbClr val="CAD4E0"/>
                </a:solidFill>
                <a:latin typeface="Calibri"/>
                <a:cs typeface="Calibri"/>
              </a:rPr>
              <a:t>of-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thought</a:t>
            </a:r>
            <a:r>
              <a:rPr sz="90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reasoning</a:t>
            </a:r>
            <a:r>
              <a:rPr sz="90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purely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through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RL,</a:t>
            </a:r>
            <a:r>
              <a:rPr sz="900" spc="-2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without</a:t>
            </a:r>
            <a:r>
              <a:rPr sz="90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any</a:t>
            </a:r>
            <a:r>
              <a:rPr sz="900" spc="-2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CAD4E0"/>
                </a:solidFill>
                <a:latin typeface="Calibri"/>
                <a:cs typeface="Calibri"/>
              </a:rPr>
              <a:t>SFT.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10" dirty="0"/>
              <a:t>Knowledge</a:t>
            </a:r>
            <a:r>
              <a:rPr dirty="0"/>
              <a:t> </a:t>
            </a:r>
            <a:r>
              <a:rPr spc="-10" dirty="0"/>
              <a:t>Distillation</a:t>
            </a:r>
            <a:r>
              <a:rPr spc="-5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LLMs</a:t>
            </a:r>
            <a:r>
              <a:rPr spc="170" dirty="0"/>
              <a:t> </a:t>
            </a:r>
            <a:r>
              <a:rPr dirty="0"/>
              <a:t>|</a:t>
            </a:r>
            <a:r>
              <a:rPr spc="180" dirty="0"/>
              <a:t> </a:t>
            </a:r>
            <a:r>
              <a:rPr spc="-10" dirty="0"/>
              <a:t>Manisa</a:t>
            </a:r>
            <a:r>
              <a:rPr spc="-5" dirty="0"/>
              <a:t> </a:t>
            </a:r>
            <a:r>
              <a:rPr dirty="0"/>
              <a:t>Celal </a:t>
            </a:r>
            <a:r>
              <a:rPr spc="-10" dirty="0"/>
              <a:t>Bayar</a:t>
            </a:r>
            <a:r>
              <a:rPr spc="-5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7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/>
              <a:t>Distillation</a:t>
            </a:r>
            <a:r>
              <a:rPr sz="2000" spc="-65" dirty="0"/>
              <a:t> </a:t>
            </a:r>
            <a:r>
              <a:rPr sz="2000" dirty="0"/>
              <a:t>Scaling</a:t>
            </a:r>
            <a:r>
              <a:rPr sz="2000" spc="-60" dirty="0"/>
              <a:t> </a:t>
            </a:r>
            <a:r>
              <a:rPr sz="2000" dirty="0"/>
              <a:t>Laws</a:t>
            </a:r>
            <a:r>
              <a:rPr sz="2000" spc="-55" dirty="0"/>
              <a:t> </a:t>
            </a:r>
            <a:r>
              <a:rPr sz="2000" dirty="0"/>
              <a:t>&amp;</a:t>
            </a:r>
            <a:r>
              <a:rPr sz="2000" spc="-60" dirty="0"/>
              <a:t> </a:t>
            </a:r>
            <a:r>
              <a:rPr sz="2000" dirty="0"/>
              <a:t>Capacity</a:t>
            </a:r>
            <a:r>
              <a:rPr sz="2000" spc="-65" dirty="0"/>
              <a:t> </a:t>
            </a:r>
            <a:r>
              <a:rPr sz="2000" spc="-25" dirty="0"/>
              <a:t>Gap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7001903" y="232107"/>
            <a:ext cx="18319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spc="-65" dirty="0">
                <a:solidFill>
                  <a:srgbClr val="00C1CA"/>
                </a:solidFill>
                <a:latin typeface="Arial"/>
                <a:cs typeface="Arial"/>
              </a:rPr>
              <a:t>05</a:t>
            </a:r>
            <a:r>
              <a:rPr sz="1100" i="1" spc="-2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30" dirty="0">
                <a:solidFill>
                  <a:srgbClr val="00C1CA"/>
                </a:solidFill>
                <a:latin typeface="Arial"/>
                <a:cs typeface="Arial"/>
              </a:rPr>
              <a:t>- </a:t>
            </a:r>
            <a:r>
              <a:rPr sz="1100" i="1" spc="-60" dirty="0">
                <a:solidFill>
                  <a:srgbClr val="00C1CA"/>
                </a:solidFill>
                <a:latin typeface="Arial"/>
                <a:cs typeface="Arial"/>
              </a:rPr>
              <a:t>Empirical</a:t>
            </a:r>
            <a:r>
              <a:rPr sz="1100" i="1" spc="-4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80" dirty="0">
                <a:solidFill>
                  <a:srgbClr val="00C1CA"/>
                </a:solidFill>
                <a:latin typeface="Arial"/>
                <a:cs typeface="Arial"/>
              </a:rPr>
              <a:t>Design</a:t>
            </a:r>
            <a:r>
              <a:rPr sz="1100" i="1" spc="-30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45" dirty="0">
                <a:solidFill>
                  <a:srgbClr val="00C1CA"/>
                </a:solidFill>
                <a:latin typeface="Arial"/>
                <a:cs typeface="Arial"/>
              </a:rPr>
              <a:t>Guidelines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6655" y="4885742"/>
            <a:ext cx="9156700" cy="264160"/>
            <a:chOff x="-6655" y="4885742"/>
            <a:chExt cx="9156700" cy="264160"/>
          </a:xfrm>
        </p:grpSpPr>
        <p:sp>
          <p:nvSpPr>
            <p:cNvPr id="5" name="object 5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631" y="0"/>
                  </a:moveTo>
                  <a:lnTo>
                    <a:pt x="0" y="0"/>
                  </a:lnTo>
                  <a:lnTo>
                    <a:pt x="0" y="251282"/>
                  </a:lnTo>
                  <a:lnTo>
                    <a:pt x="4572000" y="251282"/>
                  </a:lnTo>
                  <a:lnTo>
                    <a:pt x="9143631" y="251282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4572000" y="251282"/>
                  </a:moveTo>
                  <a:lnTo>
                    <a:pt x="0" y="251282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251282"/>
                  </a:lnTo>
                  <a:lnTo>
                    <a:pt x="4572000" y="251282"/>
                  </a:lnTo>
                  <a:close/>
                </a:path>
              </a:pathLst>
            </a:custGeom>
            <a:ln w="12599">
              <a:solidFill>
                <a:srgbClr val="0C1A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74320" y="804597"/>
            <a:ext cx="4114800" cy="2651760"/>
            <a:chOff x="274320" y="804597"/>
            <a:chExt cx="4114800" cy="2651760"/>
          </a:xfrm>
        </p:grpSpPr>
        <p:sp>
          <p:nvSpPr>
            <p:cNvPr id="8" name="object 8"/>
            <p:cNvSpPr/>
            <p:nvPr/>
          </p:nvSpPr>
          <p:spPr>
            <a:xfrm>
              <a:off x="274320" y="804597"/>
              <a:ext cx="4114800" cy="2651760"/>
            </a:xfrm>
            <a:custGeom>
              <a:avLst/>
              <a:gdLst/>
              <a:ahLst/>
              <a:cxnLst/>
              <a:rect l="l" t="t" r="r" b="b"/>
              <a:pathLst>
                <a:path w="4114800" h="2651760">
                  <a:moveTo>
                    <a:pt x="4114444" y="0"/>
                  </a:moveTo>
                  <a:lnTo>
                    <a:pt x="0" y="0"/>
                  </a:lnTo>
                  <a:lnTo>
                    <a:pt x="0" y="2651404"/>
                  </a:lnTo>
                  <a:lnTo>
                    <a:pt x="2057044" y="2651404"/>
                  </a:lnTo>
                  <a:lnTo>
                    <a:pt x="4114444" y="2651404"/>
                  </a:lnTo>
                  <a:lnTo>
                    <a:pt x="41144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4436" y="3150719"/>
              <a:ext cx="3612515" cy="0"/>
            </a:xfrm>
            <a:custGeom>
              <a:avLst/>
              <a:gdLst/>
              <a:ahLst/>
              <a:cxnLst/>
              <a:rect l="l" t="t" r="r" b="b"/>
              <a:pathLst>
                <a:path w="3612515">
                  <a:moveTo>
                    <a:pt x="3612248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4436" y="1432803"/>
              <a:ext cx="3612515" cy="1527175"/>
            </a:xfrm>
            <a:custGeom>
              <a:avLst/>
              <a:gdLst/>
              <a:ahLst/>
              <a:cxnLst/>
              <a:rect l="l" t="t" r="r" b="b"/>
              <a:pathLst>
                <a:path w="3612515" h="1527175">
                  <a:moveTo>
                    <a:pt x="0" y="1526755"/>
                  </a:moveTo>
                  <a:lnTo>
                    <a:pt x="180365" y="1526755"/>
                  </a:lnTo>
                </a:path>
                <a:path w="3612515" h="1527175">
                  <a:moveTo>
                    <a:pt x="421208" y="1526755"/>
                  </a:moveTo>
                  <a:lnTo>
                    <a:pt x="782650" y="1526755"/>
                  </a:lnTo>
                </a:path>
                <a:path w="3612515" h="1527175">
                  <a:moveTo>
                    <a:pt x="1023480" y="1526755"/>
                  </a:moveTo>
                  <a:lnTo>
                    <a:pt x="1384566" y="1526755"/>
                  </a:lnTo>
                </a:path>
                <a:path w="3612515" h="1527175">
                  <a:moveTo>
                    <a:pt x="1625409" y="1526755"/>
                  </a:moveTo>
                  <a:lnTo>
                    <a:pt x="1986483" y="1526755"/>
                  </a:lnTo>
                </a:path>
                <a:path w="3612515" h="1527175">
                  <a:moveTo>
                    <a:pt x="2227326" y="1526755"/>
                  </a:moveTo>
                  <a:lnTo>
                    <a:pt x="2588399" y="1526755"/>
                  </a:lnTo>
                </a:path>
                <a:path w="3612515" h="1527175">
                  <a:moveTo>
                    <a:pt x="2829242" y="1526755"/>
                  </a:moveTo>
                  <a:lnTo>
                    <a:pt x="3190684" y="1526755"/>
                  </a:lnTo>
                </a:path>
                <a:path w="3612515" h="1527175">
                  <a:moveTo>
                    <a:pt x="3431527" y="1526755"/>
                  </a:moveTo>
                  <a:lnTo>
                    <a:pt x="3612248" y="1526755"/>
                  </a:lnTo>
                </a:path>
                <a:path w="3612515" h="1527175">
                  <a:moveTo>
                    <a:pt x="0" y="1335963"/>
                  </a:moveTo>
                  <a:lnTo>
                    <a:pt x="180365" y="1335963"/>
                  </a:lnTo>
                </a:path>
                <a:path w="3612515" h="1527175">
                  <a:moveTo>
                    <a:pt x="421208" y="1335963"/>
                  </a:moveTo>
                  <a:lnTo>
                    <a:pt x="782650" y="1335963"/>
                  </a:lnTo>
                </a:path>
                <a:path w="3612515" h="1527175">
                  <a:moveTo>
                    <a:pt x="1023480" y="1335963"/>
                  </a:moveTo>
                  <a:lnTo>
                    <a:pt x="1384566" y="1335963"/>
                  </a:lnTo>
                </a:path>
                <a:path w="3612515" h="1527175">
                  <a:moveTo>
                    <a:pt x="1625409" y="1335963"/>
                  </a:moveTo>
                  <a:lnTo>
                    <a:pt x="1986483" y="1335963"/>
                  </a:lnTo>
                </a:path>
                <a:path w="3612515" h="1527175">
                  <a:moveTo>
                    <a:pt x="2227326" y="1335963"/>
                  </a:moveTo>
                  <a:lnTo>
                    <a:pt x="2588399" y="1335963"/>
                  </a:lnTo>
                </a:path>
                <a:path w="3612515" h="1527175">
                  <a:moveTo>
                    <a:pt x="2829242" y="1335963"/>
                  </a:moveTo>
                  <a:lnTo>
                    <a:pt x="3190684" y="1335963"/>
                  </a:lnTo>
                </a:path>
                <a:path w="3612515" h="1527175">
                  <a:moveTo>
                    <a:pt x="3431527" y="1335963"/>
                  </a:moveTo>
                  <a:lnTo>
                    <a:pt x="3612248" y="1335963"/>
                  </a:lnTo>
                </a:path>
                <a:path w="3612515" h="1527175">
                  <a:moveTo>
                    <a:pt x="0" y="1145158"/>
                  </a:moveTo>
                  <a:lnTo>
                    <a:pt x="180365" y="1145158"/>
                  </a:lnTo>
                </a:path>
                <a:path w="3612515" h="1527175">
                  <a:moveTo>
                    <a:pt x="421208" y="1145158"/>
                  </a:moveTo>
                  <a:lnTo>
                    <a:pt x="782650" y="1145158"/>
                  </a:lnTo>
                </a:path>
                <a:path w="3612515" h="1527175">
                  <a:moveTo>
                    <a:pt x="1023480" y="1145158"/>
                  </a:moveTo>
                  <a:lnTo>
                    <a:pt x="1384566" y="1145158"/>
                  </a:lnTo>
                </a:path>
                <a:path w="3612515" h="1527175">
                  <a:moveTo>
                    <a:pt x="1625409" y="1145158"/>
                  </a:moveTo>
                  <a:lnTo>
                    <a:pt x="1986483" y="1145158"/>
                  </a:lnTo>
                </a:path>
                <a:path w="3612515" h="1527175">
                  <a:moveTo>
                    <a:pt x="2227326" y="1145158"/>
                  </a:moveTo>
                  <a:lnTo>
                    <a:pt x="2588399" y="1145158"/>
                  </a:lnTo>
                </a:path>
                <a:path w="3612515" h="1527175">
                  <a:moveTo>
                    <a:pt x="2829242" y="1145158"/>
                  </a:moveTo>
                  <a:lnTo>
                    <a:pt x="3190684" y="1145158"/>
                  </a:lnTo>
                </a:path>
                <a:path w="3612515" h="1527175">
                  <a:moveTo>
                    <a:pt x="3431527" y="1145158"/>
                  </a:moveTo>
                  <a:lnTo>
                    <a:pt x="3612248" y="1145158"/>
                  </a:lnTo>
                </a:path>
                <a:path w="3612515" h="1527175">
                  <a:moveTo>
                    <a:pt x="0" y="953998"/>
                  </a:moveTo>
                  <a:lnTo>
                    <a:pt x="180365" y="953998"/>
                  </a:lnTo>
                </a:path>
                <a:path w="3612515" h="1527175">
                  <a:moveTo>
                    <a:pt x="421208" y="953998"/>
                  </a:moveTo>
                  <a:lnTo>
                    <a:pt x="782650" y="953998"/>
                  </a:lnTo>
                </a:path>
                <a:path w="3612515" h="1527175">
                  <a:moveTo>
                    <a:pt x="1023480" y="953998"/>
                  </a:moveTo>
                  <a:lnTo>
                    <a:pt x="1384566" y="953998"/>
                  </a:lnTo>
                </a:path>
                <a:path w="3612515" h="1527175">
                  <a:moveTo>
                    <a:pt x="1625409" y="953998"/>
                  </a:moveTo>
                  <a:lnTo>
                    <a:pt x="1986483" y="953998"/>
                  </a:lnTo>
                </a:path>
                <a:path w="3612515" h="1527175">
                  <a:moveTo>
                    <a:pt x="2227326" y="953998"/>
                  </a:moveTo>
                  <a:lnTo>
                    <a:pt x="2588399" y="953998"/>
                  </a:lnTo>
                </a:path>
                <a:path w="3612515" h="1527175">
                  <a:moveTo>
                    <a:pt x="2829242" y="953998"/>
                  </a:moveTo>
                  <a:lnTo>
                    <a:pt x="3190684" y="953998"/>
                  </a:lnTo>
                </a:path>
                <a:path w="3612515" h="1527175">
                  <a:moveTo>
                    <a:pt x="3431527" y="953998"/>
                  </a:moveTo>
                  <a:lnTo>
                    <a:pt x="3612248" y="953998"/>
                  </a:lnTo>
                </a:path>
                <a:path w="3612515" h="1527175">
                  <a:moveTo>
                    <a:pt x="0" y="763193"/>
                  </a:moveTo>
                  <a:lnTo>
                    <a:pt x="180365" y="763193"/>
                  </a:lnTo>
                </a:path>
                <a:path w="3612515" h="1527175">
                  <a:moveTo>
                    <a:pt x="421208" y="763193"/>
                  </a:moveTo>
                  <a:lnTo>
                    <a:pt x="782650" y="763193"/>
                  </a:lnTo>
                </a:path>
                <a:path w="3612515" h="1527175">
                  <a:moveTo>
                    <a:pt x="1023480" y="763193"/>
                  </a:moveTo>
                  <a:lnTo>
                    <a:pt x="1384566" y="763193"/>
                  </a:lnTo>
                </a:path>
                <a:path w="3612515" h="1527175">
                  <a:moveTo>
                    <a:pt x="1625409" y="763193"/>
                  </a:moveTo>
                  <a:lnTo>
                    <a:pt x="1986483" y="763193"/>
                  </a:lnTo>
                </a:path>
                <a:path w="3612515" h="1527175">
                  <a:moveTo>
                    <a:pt x="2227326" y="763193"/>
                  </a:moveTo>
                  <a:lnTo>
                    <a:pt x="2588399" y="763193"/>
                  </a:lnTo>
                </a:path>
                <a:path w="3612515" h="1527175">
                  <a:moveTo>
                    <a:pt x="2829242" y="763193"/>
                  </a:moveTo>
                  <a:lnTo>
                    <a:pt x="3190684" y="763193"/>
                  </a:lnTo>
                </a:path>
                <a:path w="3612515" h="1527175">
                  <a:moveTo>
                    <a:pt x="3431527" y="763193"/>
                  </a:moveTo>
                  <a:lnTo>
                    <a:pt x="3612248" y="763193"/>
                  </a:lnTo>
                </a:path>
                <a:path w="3612515" h="1527175">
                  <a:moveTo>
                    <a:pt x="0" y="572757"/>
                  </a:moveTo>
                  <a:lnTo>
                    <a:pt x="180365" y="572757"/>
                  </a:lnTo>
                </a:path>
                <a:path w="3612515" h="1527175">
                  <a:moveTo>
                    <a:pt x="421208" y="572757"/>
                  </a:moveTo>
                  <a:lnTo>
                    <a:pt x="782650" y="572757"/>
                  </a:lnTo>
                </a:path>
                <a:path w="3612515" h="1527175">
                  <a:moveTo>
                    <a:pt x="1023480" y="572757"/>
                  </a:moveTo>
                  <a:lnTo>
                    <a:pt x="1384566" y="572757"/>
                  </a:lnTo>
                </a:path>
                <a:path w="3612515" h="1527175">
                  <a:moveTo>
                    <a:pt x="1625409" y="572757"/>
                  </a:moveTo>
                  <a:lnTo>
                    <a:pt x="1986483" y="572757"/>
                  </a:lnTo>
                </a:path>
                <a:path w="3612515" h="1527175">
                  <a:moveTo>
                    <a:pt x="2227326" y="572757"/>
                  </a:moveTo>
                  <a:lnTo>
                    <a:pt x="2588399" y="572757"/>
                  </a:lnTo>
                </a:path>
                <a:path w="3612515" h="1527175">
                  <a:moveTo>
                    <a:pt x="2829242" y="572757"/>
                  </a:moveTo>
                  <a:lnTo>
                    <a:pt x="3612248" y="572757"/>
                  </a:lnTo>
                </a:path>
                <a:path w="3612515" h="1527175">
                  <a:moveTo>
                    <a:pt x="0" y="381596"/>
                  </a:moveTo>
                  <a:lnTo>
                    <a:pt x="180365" y="381596"/>
                  </a:lnTo>
                </a:path>
                <a:path w="3612515" h="1527175">
                  <a:moveTo>
                    <a:pt x="421208" y="381596"/>
                  </a:moveTo>
                  <a:lnTo>
                    <a:pt x="782650" y="381596"/>
                  </a:lnTo>
                </a:path>
                <a:path w="3612515" h="1527175">
                  <a:moveTo>
                    <a:pt x="1023480" y="381596"/>
                  </a:moveTo>
                  <a:lnTo>
                    <a:pt x="1384566" y="381596"/>
                  </a:lnTo>
                </a:path>
                <a:path w="3612515" h="1527175">
                  <a:moveTo>
                    <a:pt x="1625409" y="381596"/>
                  </a:moveTo>
                  <a:lnTo>
                    <a:pt x="1986483" y="381596"/>
                  </a:lnTo>
                </a:path>
                <a:path w="3612515" h="1527175">
                  <a:moveTo>
                    <a:pt x="2227326" y="381596"/>
                  </a:moveTo>
                  <a:lnTo>
                    <a:pt x="3612248" y="381596"/>
                  </a:lnTo>
                </a:path>
                <a:path w="3612515" h="1527175">
                  <a:moveTo>
                    <a:pt x="0" y="190804"/>
                  </a:moveTo>
                  <a:lnTo>
                    <a:pt x="180365" y="190804"/>
                  </a:lnTo>
                </a:path>
                <a:path w="3612515" h="1527175">
                  <a:moveTo>
                    <a:pt x="421208" y="190804"/>
                  </a:moveTo>
                  <a:lnTo>
                    <a:pt x="782650" y="190804"/>
                  </a:lnTo>
                </a:path>
                <a:path w="3612515" h="1527175">
                  <a:moveTo>
                    <a:pt x="1023480" y="190804"/>
                  </a:moveTo>
                  <a:lnTo>
                    <a:pt x="1384566" y="190804"/>
                  </a:lnTo>
                </a:path>
                <a:path w="3612515" h="1527175">
                  <a:moveTo>
                    <a:pt x="1625409" y="190804"/>
                  </a:moveTo>
                  <a:lnTo>
                    <a:pt x="3612248" y="190804"/>
                  </a:lnTo>
                </a:path>
                <a:path w="3612515" h="1527175">
                  <a:moveTo>
                    <a:pt x="0" y="0"/>
                  </a:moveTo>
                  <a:lnTo>
                    <a:pt x="180365" y="0"/>
                  </a:lnTo>
                </a:path>
                <a:path w="3612515" h="1527175">
                  <a:moveTo>
                    <a:pt x="421208" y="0"/>
                  </a:moveTo>
                  <a:lnTo>
                    <a:pt x="782650" y="0"/>
                  </a:lnTo>
                </a:path>
                <a:path w="3612515" h="1527175">
                  <a:moveTo>
                    <a:pt x="1023480" y="0"/>
                  </a:moveTo>
                  <a:lnTo>
                    <a:pt x="3612248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4436" y="1241998"/>
              <a:ext cx="3612515" cy="0"/>
            </a:xfrm>
            <a:custGeom>
              <a:avLst/>
              <a:gdLst/>
              <a:ahLst/>
              <a:cxnLst/>
              <a:rect l="l" t="t" r="r" b="b"/>
              <a:pathLst>
                <a:path w="3612515">
                  <a:moveTo>
                    <a:pt x="3612248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0435" y="1241998"/>
              <a:ext cx="3666490" cy="1962785"/>
            </a:xfrm>
            <a:custGeom>
              <a:avLst/>
              <a:gdLst/>
              <a:ahLst/>
              <a:cxnLst/>
              <a:rect l="l" t="t" r="r" b="b"/>
              <a:pathLst>
                <a:path w="3666490" h="1962785">
                  <a:moveTo>
                    <a:pt x="54000" y="1962721"/>
                  </a:moveTo>
                  <a:lnTo>
                    <a:pt x="54000" y="1908721"/>
                  </a:lnTo>
                </a:path>
                <a:path w="3666490" h="1962785">
                  <a:moveTo>
                    <a:pt x="655929" y="1962721"/>
                  </a:moveTo>
                  <a:lnTo>
                    <a:pt x="655929" y="1908721"/>
                  </a:lnTo>
                </a:path>
                <a:path w="3666490" h="1962785">
                  <a:moveTo>
                    <a:pt x="1258201" y="1962721"/>
                  </a:moveTo>
                  <a:lnTo>
                    <a:pt x="1258201" y="1908721"/>
                  </a:lnTo>
                </a:path>
                <a:path w="3666490" h="1962785">
                  <a:moveTo>
                    <a:pt x="1859762" y="1962721"/>
                  </a:moveTo>
                  <a:lnTo>
                    <a:pt x="1859762" y="1908721"/>
                  </a:lnTo>
                </a:path>
                <a:path w="3666490" h="1962785">
                  <a:moveTo>
                    <a:pt x="2462047" y="1962721"/>
                  </a:moveTo>
                  <a:lnTo>
                    <a:pt x="2462047" y="1908721"/>
                  </a:lnTo>
                </a:path>
                <a:path w="3666490" h="1962785">
                  <a:moveTo>
                    <a:pt x="3063963" y="1962721"/>
                  </a:moveTo>
                  <a:lnTo>
                    <a:pt x="3063963" y="1908721"/>
                  </a:lnTo>
                </a:path>
                <a:path w="3666490" h="1962785">
                  <a:moveTo>
                    <a:pt x="3666248" y="1962721"/>
                  </a:moveTo>
                  <a:lnTo>
                    <a:pt x="3666248" y="1908721"/>
                  </a:lnTo>
                </a:path>
                <a:path w="3666490" h="1962785">
                  <a:moveTo>
                    <a:pt x="54000" y="1908721"/>
                  </a:moveTo>
                  <a:lnTo>
                    <a:pt x="3666248" y="1908721"/>
                  </a:lnTo>
                </a:path>
                <a:path w="3666490" h="1962785">
                  <a:moveTo>
                    <a:pt x="0" y="1908721"/>
                  </a:moveTo>
                  <a:lnTo>
                    <a:pt x="54000" y="1908721"/>
                  </a:lnTo>
                </a:path>
                <a:path w="3666490" h="1962785">
                  <a:moveTo>
                    <a:pt x="0" y="1717560"/>
                  </a:moveTo>
                  <a:lnTo>
                    <a:pt x="54000" y="1717560"/>
                  </a:lnTo>
                </a:path>
                <a:path w="3666490" h="1962785">
                  <a:moveTo>
                    <a:pt x="0" y="1526768"/>
                  </a:moveTo>
                  <a:lnTo>
                    <a:pt x="54000" y="1526768"/>
                  </a:lnTo>
                </a:path>
                <a:path w="3666490" h="1962785">
                  <a:moveTo>
                    <a:pt x="0" y="1335963"/>
                  </a:moveTo>
                  <a:lnTo>
                    <a:pt x="54000" y="1335963"/>
                  </a:lnTo>
                </a:path>
                <a:path w="3666490" h="1962785">
                  <a:moveTo>
                    <a:pt x="0" y="1144803"/>
                  </a:moveTo>
                  <a:lnTo>
                    <a:pt x="54000" y="1144803"/>
                  </a:lnTo>
                </a:path>
                <a:path w="3666490" h="1962785">
                  <a:moveTo>
                    <a:pt x="0" y="953998"/>
                  </a:moveTo>
                  <a:lnTo>
                    <a:pt x="54000" y="953998"/>
                  </a:lnTo>
                </a:path>
                <a:path w="3666490" h="1962785">
                  <a:moveTo>
                    <a:pt x="0" y="763562"/>
                  </a:moveTo>
                  <a:lnTo>
                    <a:pt x="54000" y="763562"/>
                  </a:lnTo>
                </a:path>
                <a:path w="3666490" h="1962785">
                  <a:moveTo>
                    <a:pt x="0" y="572401"/>
                  </a:moveTo>
                  <a:lnTo>
                    <a:pt x="54000" y="572401"/>
                  </a:lnTo>
                </a:path>
                <a:path w="3666490" h="1962785">
                  <a:moveTo>
                    <a:pt x="0" y="381609"/>
                  </a:moveTo>
                  <a:lnTo>
                    <a:pt x="54000" y="381609"/>
                  </a:lnTo>
                </a:path>
                <a:path w="3666490" h="1962785">
                  <a:moveTo>
                    <a:pt x="0" y="190804"/>
                  </a:moveTo>
                  <a:lnTo>
                    <a:pt x="54000" y="190804"/>
                  </a:lnTo>
                </a:path>
                <a:path w="3666490" h="1962785">
                  <a:moveTo>
                    <a:pt x="0" y="0"/>
                  </a:moveTo>
                  <a:lnTo>
                    <a:pt x="54000" y="0"/>
                  </a:lnTo>
                </a:path>
                <a:path w="3666490" h="1962785">
                  <a:moveTo>
                    <a:pt x="54000" y="1908721"/>
                  </a:moveTo>
                  <a:lnTo>
                    <a:pt x="54000" y="0"/>
                  </a:lnTo>
                </a:path>
              </a:pathLst>
            </a:custGeom>
            <a:ln w="12598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74801" y="1318325"/>
              <a:ext cx="3251200" cy="1832610"/>
            </a:xfrm>
            <a:custGeom>
              <a:avLst/>
              <a:gdLst/>
              <a:ahLst/>
              <a:cxnLst/>
              <a:rect l="l" t="t" r="r" b="b"/>
              <a:pathLst>
                <a:path w="3251200" h="1832610">
                  <a:moveTo>
                    <a:pt x="240842" y="0"/>
                  </a:moveTo>
                  <a:lnTo>
                    <a:pt x="0" y="0"/>
                  </a:lnTo>
                  <a:lnTo>
                    <a:pt x="0" y="1832394"/>
                  </a:lnTo>
                  <a:lnTo>
                    <a:pt x="240842" y="1832394"/>
                  </a:lnTo>
                  <a:lnTo>
                    <a:pt x="240842" y="0"/>
                  </a:lnTo>
                  <a:close/>
                </a:path>
                <a:path w="3251200" h="1832610">
                  <a:moveTo>
                    <a:pt x="843114" y="95402"/>
                  </a:moveTo>
                  <a:lnTo>
                    <a:pt x="602284" y="95402"/>
                  </a:lnTo>
                  <a:lnTo>
                    <a:pt x="602284" y="1832394"/>
                  </a:lnTo>
                  <a:lnTo>
                    <a:pt x="843114" y="1832394"/>
                  </a:lnTo>
                  <a:lnTo>
                    <a:pt x="843114" y="95402"/>
                  </a:lnTo>
                  <a:close/>
                </a:path>
                <a:path w="3251200" h="1832610">
                  <a:moveTo>
                    <a:pt x="1445044" y="209880"/>
                  </a:moveTo>
                  <a:lnTo>
                    <a:pt x="1204201" y="209880"/>
                  </a:lnTo>
                  <a:lnTo>
                    <a:pt x="1204201" y="1832394"/>
                  </a:lnTo>
                  <a:lnTo>
                    <a:pt x="1445044" y="1832394"/>
                  </a:lnTo>
                  <a:lnTo>
                    <a:pt x="1445044" y="209880"/>
                  </a:lnTo>
                  <a:close/>
                </a:path>
                <a:path w="3251200" h="1832610">
                  <a:moveTo>
                    <a:pt x="2046960" y="419760"/>
                  </a:moveTo>
                  <a:lnTo>
                    <a:pt x="1806117" y="419760"/>
                  </a:lnTo>
                  <a:lnTo>
                    <a:pt x="1806117" y="1832394"/>
                  </a:lnTo>
                  <a:lnTo>
                    <a:pt x="2046960" y="1832394"/>
                  </a:lnTo>
                  <a:lnTo>
                    <a:pt x="2046960" y="419760"/>
                  </a:lnTo>
                  <a:close/>
                </a:path>
                <a:path w="3251200" h="1832610">
                  <a:moveTo>
                    <a:pt x="2648877" y="649071"/>
                  </a:moveTo>
                  <a:lnTo>
                    <a:pt x="2408034" y="649071"/>
                  </a:lnTo>
                  <a:lnTo>
                    <a:pt x="2408034" y="1832394"/>
                  </a:lnTo>
                  <a:lnTo>
                    <a:pt x="2648877" y="1832394"/>
                  </a:lnTo>
                  <a:lnTo>
                    <a:pt x="2648877" y="649071"/>
                  </a:lnTo>
                  <a:close/>
                </a:path>
                <a:path w="3251200" h="1832610">
                  <a:moveTo>
                    <a:pt x="3251162" y="858596"/>
                  </a:moveTo>
                  <a:lnTo>
                    <a:pt x="3010319" y="858596"/>
                  </a:lnTo>
                  <a:lnTo>
                    <a:pt x="3010319" y="1832394"/>
                  </a:lnTo>
                  <a:lnTo>
                    <a:pt x="3251162" y="1832394"/>
                  </a:lnTo>
                  <a:lnTo>
                    <a:pt x="3251162" y="858596"/>
                  </a:lnTo>
                  <a:close/>
                </a:path>
              </a:pathLst>
            </a:custGeom>
            <a:solidFill>
              <a:srgbClr val="1D5E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06297" y="3208860"/>
            <a:ext cx="17843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2x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08163" y="3208860"/>
            <a:ext cx="17843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5x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67560" y="3208860"/>
            <a:ext cx="26352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10x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69425" y="3208860"/>
            <a:ext cx="26352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20x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71659" y="3208860"/>
            <a:ext cx="26352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50x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30688" y="3208860"/>
            <a:ext cx="34925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63738A"/>
                </a:solidFill>
                <a:latin typeface="Arial MT"/>
                <a:cs typeface="Arial MT"/>
              </a:rPr>
              <a:t>100x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4030" y="1129070"/>
            <a:ext cx="281940" cy="2117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4604" algn="r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100</a:t>
            </a:r>
            <a:endParaRPr sz="1200">
              <a:latin typeface="Arial MT"/>
              <a:cs typeface="Arial MT"/>
            </a:endParaRPr>
          </a:p>
          <a:p>
            <a:pPr marR="13970" algn="r">
              <a:lnSpc>
                <a:spcPct val="100000"/>
              </a:lnSpc>
              <a:spcBef>
                <a:spcPts val="65"/>
              </a:spcBef>
            </a:pP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90</a:t>
            </a:r>
            <a:endParaRPr sz="1200">
              <a:latin typeface="Arial MT"/>
              <a:cs typeface="Arial MT"/>
            </a:endParaRPr>
          </a:p>
          <a:p>
            <a:pPr marR="13970" algn="r">
              <a:lnSpc>
                <a:spcPct val="100000"/>
              </a:lnSpc>
              <a:spcBef>
                <a:spcPts val="60"/>
              </a:spcBef>
            </a:pP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80</a:t>
            </a:r>
            <a:endParaRPr sz="1200">
              <a:latin typeface="Arial MT"/>
              <a:cs typeface="Arial MT"/>
            </a:endParaRPr>
          </a:p>
          <a:p>
            <a:pPr marR="13970" algn="r">
              <a:lnSpc>
                <a:spcPct val="100000"/>
              </a:lnSpc>
              <a:spcBef>
                <a:spcPts val="65"/>
              </a:spcBef>
            </a:pP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70</a:t>
            </a:r>
            <a:endParaRPr sz="1200">
              <a:latin typeface="Arial MT"/>
              <a:cs typeface="Arial MT"/>
            </a:endParaRPr>
          </a:p>
          <a:p>
            <a:pPr marR="13970" algn="r">
              <a:lnSpc>
                <a:spcPct val="100000"/>
              </a:lnSpc>
              <a:spcBef>
                <a:spcPts val="65"/>
              </a:spcBef>
            </a:pP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60</a:t>
            </a:r>
            <a:endParaRPr sz="1200">
              <a:latin typeface="Arial MT"/>
              <a:cs typeface="Arial MT"/>
            </a:endParaRPr>
          </a:p>
          <a:p>
            <a:pPr marR="13970" algn="r">
              <a:lnSpc>
                <a:spcPct val="100000"/>
              </a:lnSpc>
              <a:spcBef>
                <a:spcPts val="60"/>
              </a:spcBef>
            </a:pP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50</a:t>
            </a:r>
            <a:endParaRPr sz="1200">
              <a:latin typeface="Arial MT"/>
              <a:cs typeface="Arial MT"/>
            </a:endParaRPr>
          </a:p>
          <a:p>
            <a:pPr marR="13970" algn="r">
              <a:lnSpc>
                <a:spcPct val="100000"/>
              </a:lnSpc>
              <a:spcBef>
                <a:spcPts val="65"/>
              </a:spcBef>
            </a:pP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40</a:t>
            </a:r>
            <a:endParaRPr sz="1200">
              <a:latin typeface="Arial MT"/>
              <a:cs typeface="Arial MT"/>
            </a:endParaRPr>
          </a:p>
          <a:p>
            <a:pPr marR="13970" algn="r">
              <a:lnSpc>
                <a:spcPct val="100000"/>
              </a:lnSpc>
              <a:spcBef>
                <a:spcPts val="65"/>
              </a:spcBef>
            </a:pP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30</a:t>
            </a:r>
            <a:endParaRPr sz="1200">
              <a:latin typeface="Arial MT"/>
              <a:cs typeface="Arial MT"/>
            </a:endParaRPr>
          </a:p>
          <a:p>
            <a:pPr marR="13970" algn="r">
              <a:lnSpc>
                <a:spcPct val="100000"/>
              </a:lnSpc>
              <a:spcBef>
                <a:spcPts val="60"/>
              </a:spcBef>
            </a:pP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20</a:t>
            </a:r>
            <a:endParaRPr sz="1200">
              <a:latin typeface="Arial MT"/>
              <a:cs typeface="Arial MT"/>
            </a:endParaRPr>
          </a:p>
          <a:p>
            <a:pPr marR="13970" algn="r">
              <a:lnSpc>
                <a:spcPct val="100000"/>
              </a:lnSpc>
              <a:spcBef>
                <a:spcPts val="65"/>
              </a:spcBef>
            </a:pP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10</a:t>
            </a:r>
            <a:endParaRPr sz="12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65"/>
              </a:spcBef>
            </a:pPr>
            <a:r>
              <a:rPr sz="1200" spc="-50" dirty="0">
                <a:solidFill>
                  <a:srgbClr val="63738A"/>
                </a:solidFill>
                <a:latin typeface="Arial MT"/>
                <a:cs typeface="Arial MT"/>
              </a:rPr>
              <a:t>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01623" y="1088747"/>
            <a:ext cx="1866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96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03489" y="1184137"/>
            <a:ext cx="1866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91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07589" y="1508457"/>
            <a:ext cx="1866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74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11676" y="1947597"/>
            <a:ext cx="18669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51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61440" y="917780"/>
            <a:ext cx="25419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 MT"/>
                <a:cs typeface="Arial MT"/>
              </a:rPr>
              <a:t>Capacity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Gap</a:t>
            </a:r>
            <a:r>
              <a:rPr sz="900" spc="-5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Effect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(Teacher/Student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Size</a:t>
            </a:r>
            <a:r>
              <a:rPr sz="900" spc="-5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Ratio)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572000" y="804597"/>
            <a:ext cx="4297680" cy="2651760"/>
            <a:chOff x="4572000" y="804597"/>
            <a:chExt cx="4297680" cy="2651760"/>
          </a:xfrm>
        </p:grpSpPr>
        <p:sp>
          <p:nvSpPr>
            <p:cNvPr id="27" name="object 27"/>
            <p:cNvSpPr/>
            <p:nvPr/>
          </p:nvSpPr>
          <p:spPr>
            <a:xfrm>
              <a:off x="4572000" y="804597"/>
              <a:ext cx="4297680" cy="2651760"/>
            </a:xfrm>
            <a:custGeom>
              <a:avLst/>
              <a:gdLst/>
              <a:ahLst/>
              <a:cxnLst/>
              <a:rect l="l" t="t" r="r" b="b"/>
              <a:pathLst>
                <a:path w="4297680" h="2651760">
                  <a:moveTo>
                    <a:pt x="4297324" y="0"/>
                  </a:moveTo>
                  <a:lnTo>
                    <a:pt x="0" y="0"/>
                  </a:lnTo>
                  <a:lnTo>
                    <a:pt x="0" y="2651404"/>
                  </a:lnTo>
                  <a:lnTo>
                    <a:pt x="2148840" y="2651404"/>
                  </a:lnTo>
                  <a:lnTo>
                    <a:pt x="4297324" y="2651404"/>
                  </a:lnTo>
                  <a:lnTo>
                    <a:pt x="4297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910035" y="1241998"/>
              <a:ext cx="3874135" cy="1908810"/>
            </a:xfrm>
            <a:custGeom>
              <a:avLst/>
              <a:gdLst/>
              <a:ahLst/>
              <a:cxnLst/>
              <a:rect l="l" t="t" r="r" b="b"/>
              <a:pathLst>
                <a:path w="3874134" h="1908810">
                  <a:moveTo>
                    <a:pt x="3873601" y="1908721"/>
                  </a:moveTo>
                  <a:lnTo>
                    <a:pt x="0" y="1908721"/>
                  </a:lnTo>
                </a:path>
                <a:path w="3874134" h="1908810">
                  <a:moveTo>
                    <a:pt x="3873601" y="1635848"/>
                  </a:moveTo>
                  <a:lnTo>
                    <a:pt x="0" y="1635848"/>
                  </a:lnTo>
                </a:path>
                <a:path w="3874134" h="1908810">
                  <a:moveTo>
                    <a:pt x="3873601" y="1362964"/>
                  </a:moveTo>
                  <a:lnTo>
                    <a:pt x="0" y="1362964"/>
                  </a:lnTo>
                </a:path>
                <a:path w="3874134" h="1908810">
                  <a:moveTo>
                    <a:pt x="3873601" y="1090447"/>
                  </a:moveTo>
                  <a:lnTo>
                    <a:pt x="0" y="1090447"/>
                  </a:lnTo>
                </a:path>
                <a:path w="3874134" h="1908810">
                  <a:moveTo>
                    <a:pt x="3873601" y="817918"/>
                  </a:moveTo>
                  <a:lnTo>
                    <a:pt x="0" y="817918"/>
                  </a:lnTo>
                </a:path>
                <a:path w="3874134" h="1908810">
                  <a:moveTo>
                    <a:pt x="3873601" y="545401"/>
                  </a:moveTo>
                  <a:lnTo>
                    <a:pt x="0" y="545401"/>
                  </a:lnTo>
                </a:path>
                <a:path w="3874134" h="1908810">
                  <a:moveTo>
                    <a:pt x="3873601" y="272529"/>
                  </a:moveTo>
                  <a:lnTo>
                    <a:pt x="0" y="272529"/>
                  </a:lnTo>
                </a:path>
                <a:path w="3874134" h="1908810">
                  <a:moveTo>
                    <a:pt x="3873601" y="0"/>
                  </a:moveTo>
                  <a:lnTo>
                    <a:pt x="0" y="0"/>
                  </a:lnTo>
                </a:path>
              </a:pathLst>
            </a:custGeom>
            <a:ln w="6479">
              <a:solidFill>
                <a:srgbClr val="E1E7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856035" y="1241998"/>
              <a:ext cx="3928110" cy="1962785"/>
            </a:xfrm>
            <a:custGeom>
              <a:avLst/>
              <a:gdLst/>
              <a:ahLst/>
              <a:cxnLst/>
              <a:rect l="l" t="t" r="r" b="b"/>
              <a:pathLst>
                <a:path w="3928109" h="1962785">
                  <a:moveTo>
                    <a:pt x="54000" y="1962721"/>
                  </a:moveTo>
                  <a:lnTo>
                    <a:pt x="54000" y="1908721"/>
                  </a:lnTo>
                </a:path>
                <a:path w="3928109" h="1962785">
                  <a:moveTo>
                    <a:pt x="699490" y="1962721"/>
                  </a:moveTo>
                  <a:lnTo>
                    <a:pt x="699490" y="1908721"/>
                  </a:lnTo>
                </a:path>
                <a:path w="3928109" h="1962785">
                  <a:moveTo>
                    <a:pt x="1345323" y="1962721"/>
                  </a:moveTo>
                  <a:lnTo>
                    <a:pt x="1345323" y="1908721"/>
                  </a:lnTo>
                </a:path>
                <a:path w="3928109" h="1962785">
                  <a:moveTo>
                    <a:pt x="1990445" y="1962721"/>
                  </a:moveTo>
                  <a:lnTo>
                    <a:pt x="1990445" y="1908721"/>
                  </a:lnTo>
                </a:path>
                <a:path w="3928109" h="1962785">
                  <a:moveTo>
                    <a:pt x="2636278" y="1962721"/>
                  </a:moveTo>
                  <a:lnTo>
                    <a:pt x="2636278" y="1908721"/>
                  </a:lnTo>
                </a:path>
                <a:path w="3928109" h="1962785">
                  <a:moveTo>
                    <a:pt x="3281768" y="1962721"/>
                  </a:moveTo>
                  <a:lnTo>
                    <a:pt x="3281768" y="1908721"/>
                  </a:lnTo>
                </a:path>
                <a:path w="3928109" h="1962785">
                  <a:moveTo>
                    <a:pt x="3927602" y="1962721"/>
                  </a:moveTo>
                  <a:lnTo>
                    <a:pt x="3927602" y="1908721"/>
                  </a:lnTo>
                </a:path>
                <a:path w="3928109" h="1962785">
                  <a:moveTo>
                    <a:pt x="54000" y="1908721"/>
                  </a:moveTo>
                  <a:lnTo>
                    <a:pt x="3927602" y="1908721"/>
                  </a:lnTo>
                </a:path>
                <a:path w="3928109" h="1962785">
                  <a:moveTo>
                    <a:pt x="0" y="1908721"/>
                  </a:moveTo>
                  <a:lnTo>
                    <a:pt x="54000" y="1908721"/>
                  </a:lnTo>
                </a:path>
                <a:path w="3928109" h="1962785">
                  <a:moveTo>
                    <a:pt x="0" y="1635848"/>
                  </a:moveTo>
                  <a:lnTo>
                    <a:pt x="54000" y="1635848"/>
                  </a:lnTo>
                </a:path>
                <a:path w="3928109" h="1962785">
                  <a:moveTo>
                    <a:pt x="0" y="1362964"/>
                  </a:moveTo>
                  <a:lnTo>
                    <a:pt x="54000" y="1362964"/>
                  </a:lnTo>
                </a:path>
                <a:path w="3928109" h="1962785">
                  <a:moveTo>
                    <a:pt x="0" y="1090447"/>
                  </a:moveTo>
                  <a:lnTo>
                    <a:pt x="54000" y="1090447"/>
                  </a:lnTo>
                </a:path>
                <a:path w="3928109" h="1962785">
                  <a:moveTo>
                    <a:pt x="0" y="817918"/>
                  </a:moveTo>
                  <a:lnTo>
                    <a:pt x="54000" y="817918"/>
                  </a:lnTo>
                </a:path>
                <a:path w="3928109" h="1962785">
                  <a:moveTo>
                    <a:pt x="0" y="545401"/>
                  </a:moveTo>
                  <a:lnTo>
                    <a:pt x="54000" y="545401"/>
                  </a:lnTo>
                </a:path>
                <a:path w="3928109" h="1962785">
                  <a:moveTo>
                    <a:pt x="0" y="272529"/>
                  </a:moveTo>
                  <a:lnTo>
                    <a:pt x="54000" y="272529"/>
                  </a:lnTo>
                </a:path>
                <a:path w="3928109" h="1962785">
                  <a:moveTo>
                    <a:pt x="0" y="0"/>
                  </a:moveTo>
                  <a:lnTo>
                    <a:pt x="54000" y="0"/>
                  </a:lnTo>
                </a:path>
                <a:path w="3928109" h="1962785">
                  <a:moveTo>
                    <a:pt x="54000" y="1908721"/>
                  </a:moveTo>
                  <a:lnTo>
                    <a:pt x="54000" y="0"/>
                  </a:lnTo>
                </a:path>
              </a:pathLst>
            </a:custGeom>
            <a:ln w="12598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94439" y="1558076"/>
              <a:ext cx="3304438" cy="1139761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5086273" y="3208860"/>
            <a:ext cx="28892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10K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10" dirty="0"/>
              <a:t>Knowledge</a:t>
            </a:r>
            <a:r>
              <a:rPr dirty="0"/>
              <a:t> </a:t>
            </a:r>
            <a:r>
              <a:rPr spc="-10" dirty="0"/>
              <a:t>Distillation</a:t>
            </a:r>
            <a:r>
              <a:rPr spc="-5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LLMs</a:t>
            </a:r>
            <a:r>
              <a:rPr spc="170" dirty="0"/>
              <a:t> </a:t>
            </a:r>
            <a:r>
              <a:rPr dirty="0"/>
              <a:t>|</a:t>
            </a:r>
            <a:r>
              <a:rPr spc="180" dirty="0"/>
              <a:t> </a:t>
            </a:r>
            <a:r>
              <a:rPr spc="-10" dirty="0"/>
              <a:t>Manisa</a:t>
            </a:r>
            <a:r>
              <a:rPr spc="-5" dirty="0"/>
              <a:t> </a:t>
            </a:r>
            <a:r>
              <a:rPr dirty="0"/>
              <a:t>Celal </a:t>
            </a:r>
            <a:r>
              <a:rPr spc="-10" dirty="0"/>
              <a:t>Bayar</a:t>
            </a:r>
            <a:r>
              <a:rPr spc="-5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8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18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5732055" y="3208860"/>
            <a:ext cx="28892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50K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334645" y="3208860"/>
            <a:ext cx="37465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63738A"/>
                </a:solidFill>
                <a:latin typeface="Arial MT"/>
                <a:cs typeface="Arial MT"/>
              </a:rPr>
              <a:t>100K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980428" y="3208860"/>
            <a:ext cx="37465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63738A"/>
                </a:solidFill>
                <a:latin typeface="Arial MT"/>
                <a:cs typeface="Arial MT"/>
              </a:rPr>
              <a:t>200K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625854" y="3208860"/>
            <a:ext cx="37465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63738A"/>
                </a:solidFill>
                <a:latin typeface="Arial MT"/>
                <a:cs typeface="Arial MT"/>
              </a:rPr>
              <a:t>400K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271649" y="3208860"/>
            <a:ext cx="37465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63738A"/>
                </a:solidFill>
                <a:latin typeface="Arial MT"/>
                <a:cs typeface="Arial MT"/>
              </a:rPr>
              <a:t>800K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645304" y="1039303"/>
            <a:ext cx="196215" cy="220726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R="13970" algn="r">
              <a:lnSpc>
                <a:spcPct val="100000"/>
              </a:lnSpc>
              <a:spcBef>
                <a:spcPts val="805"/>
              </a:spcBef>
            </a:pP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70</a:t>
            </a:r>
            <a:endParaRPr sz="1200">
              <a:latin typeface="Arial MT"/>
              <a:cs typeface="Arial MT"/>
            </a:endParaRPr>
          </a:p>
          <a:p>
            <a:pPr marR="13970" algn="r">
              <a:lnSpc>
                <a:spcPct val="100000"/>
              </a:lnSpc>
              <a:spcBef>
                <a:spcPts val="705"/>
              </a:spcBef>
            </a:pP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60</a:t>
            </a:r>
            <a:endParaRPr sz="1200">
              <a:latin typeface="Arial MT"/>
              <a:cs typeface="Arial MT"/>
            </a:endParaRPr>
          </a:p>
          <a:p>
            <a:pPr marR="13970" algn="r">
              <a:lnSpc>
                <a:spcPct val="100000"/>
              </a:lnSpc>
              <a:spcBef>
                <a:spcPts val="710"/>
              </a:spcBef>
            </a:pP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50</a:t>
            </a:r>
            <a:endParaRPr sz="1200">
              <a:latin typeface="Arial MT"/>
              <a:cs typeface="Arial MT"/>
            </a:endParaRPr>
          </a:p>
          <a:p>
            <a:pPr marR="13970" algn="r">
              <a:lnSpc>
                <a:spcPct val="100000"/>
              </a:lnSpc>
              <a:spcBef>
                <a:spcPts val="705"/>
              </a:spcBef>
            </a:pP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40</a:t>
            </a:r>
            <a:endParaRPr sz="1200">
              <a:latin typeface="Arial MT"/>
              <a:cs typeface="Arial MT"/>
            </a:endParaRPr>
          </a:p>
          <a:p>
            <a:pPr marR="13970" algn="r">
              <a:lnSpc>
                <a:spcPct val="100000"/>
              </a:lnSpc>
              <a:spcBef>
                <a:spcPts val="705"/>
              </a:spcBef>
            </a:pP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30</a:t>
            </a:r>
            <a:endParaRPr sz="1200">
              <a:latin typeface="Arial MT"/>
              <a:cs typeface="Arial MT"/>
            </a:endParaRPr>
          </a:p>
          <a:p>
            <a:pPr marR="13970" algn="r">
              <a:lnSpc>
                <a:spcPct val="100000"/>
              </a:lnSpc>
              <a:spcBef>
                <a:spcPts val="710"/>
              </a:spcBef>
            </a:pP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20</a:t>
            </a:r>
            <a:endParaRPr sz="1200">
              <a:latin typeface="Arial MT"/>
              <a:cs typeface="Arial MT"/>
            </a:endParaRPr>
          </a:p>
          <a:p>
            <a:pPr marR="13970" algn="r">
              <a:lnSpc>
                <a:spcPct val="100000"/>
              </a:lnSpc>
              <a:spcBef>
                <a:spcPts val="705"/>
              </a:spcBef>
            </a:pPr>
            <a:r>
              <a:rPr sz="1200" spc="-25" dirty="0">
                <a:solidFill>
                  <a:srgbClr val="63738A"/>
                </a:solidFill>
                <a:latin typeface="Arial MT"/>
                <a:cs typeface="Arial MT"/>
              </a:rPr>
              <a:t>10</a:t>
            </a:r>
            <a:endParaRPr sz="12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spcBef>
                <a:spcPts val="710"/>
              </a:spcBef>
            </a:pPr>
            <a:r>
              <a:rPr sz="1200" spc="-50" dirty="0">
                <a:solidFill>
                  <a:srgbClr val="63738A"/>
                </a:solidFill>
                <a:latin typeface="Arial MT"/>
                <a:cs typeface="Arial MT"/>
              </a:rPr>
              <a:t>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336451" y="917780"/>
            <a:ext cx="277685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 MT"/>
                <a:cs typeface="Arial MT"/>
              </a:rPr>
              <a:t>CoT Distillation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Data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Volume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vs. Student </a:t>
            </a:r>
            <a:r>
              <a:rPr sz="900" spc="-10" dirty="0">
                <a:latin typeface="Arial MT"/>
                <a:cs typeface="Arial MT"/>
              </a:rPr>
              <a:t>Performance</a:t>
            </a:r>
            <a:endParaRPr sz="900">
              <a:latin typeface="Arial MT"/>
              <a:cs typeface="Arial MT"/>
            </a:endParaRPr>
          </a:p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269875" y="3543353"/>
          <a:ext cx="8595359" cy="1260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5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9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Parameter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1A396A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Recommended</a:t>
                      </a:r>
                      <a:r>
                        <a:rPr sz="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Range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1A396A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Effect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of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Deviation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1A39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Temperature</a:t>
                      </a:r>
                      <a:r>
                        <a:rPr sz="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50" dirty="0">
                          <a:latin typeface="Calibri"/>
                          <a:cs typeface="Calibri"/>
                        </a:rPr>
                        <a:t>T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50" dirty="0">
                          <a:latin typeface="Calibri"/>
                          <a:cs typeface="Calibri"/>
                        </a:rPr>
                        <a:t>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dirty="0">
                          <a:latin typeface="Calibri"/>
                          <a:cs typeface="Calibri"/>
                        </a:rPr>
                        <a:t>T&lt;2:</a:t>
                      </a:r>
                      <a:r>
                        <a:rPr sz="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nearly</a:t>
                      </a:r>
                      <a:r>
                        <a:rPr sz="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hard</a:t>
                      </a:r>
                      <a:r>
                        <a:rPr sz="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targets;</a:t>
                      </a:r>
                      <a:r>
                        <a:rPr sz="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T&gt;7:</a:t>
                      </a:r>
                      <a:r>
                        <a:rPr sz="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near-uniform</a:t>
                      </a:r>
                      <a:r>
                        <a:rPr sz="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distribution,</a:t>
                      </a:r>
                      <a:r>
                        <a:rPr sz="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signal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dirty="0">
                          <a:latin typeface="Calibri"/>
                          <a:cs typeface="Calibri"/>
                        </a:rPr>
                        <a:t>Loss</a:t>
                      </a:r>
                      <a:r>
                        <a:rPr sz="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weight</a:t>
                      </a:r>
                      <a:r>
                        <a:rPr sz="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alpha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dirty="0">
                          <a:latin typeface="Calibri"/>
                          <a:cs typeface="Calibri"/>
                        </a:rPr>
                        <a:t>0.5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0.7 (KD</a:t>
                      </a:r>
                      <a:r>
                        <a:rPr sz="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component)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dirty="0">
                          <a:latin typeface="Calibri"/>
                          <a:cs typeface="Calibri"/>
                        </a:rPr>
                        <a:t>High</a:t>
                      </a:r>
                      <a:r>
                        <a:rPr sz="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alpha</a:t>
                      </a:r>
                      <a:r>
                        <a:rPr sz="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small</a:t>
                      </a:r>
                      <a:r>
                        <a:rPr sz="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student</a:t>
                      </a:r>
                      <a:r>
                        <a:rPr sz="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leads</a:t>
                      </a:r>
                      <a:r>
                        <a:rPr sz="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underfitting</a:t>
                      </a:r>
                      <a:r>
                        <a:rPr sz="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hard</a:t>
                      </a:r>
                      <a:r>
                        <a:rPr sz="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labels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Teacher/Student</a:t>
                      </a:r>
                      <a:r>
                        <a:rPr sz="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ratio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dirty="0">
                          <a:latin typeface="Calibri"/>
                          <a:cs typeface="Calibri"/>
                        </a:rPr>
                        <a:t>Less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than</a:t>
                      </a:r>
                      <a:r>
                        <a:rPr sz="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equal</a:t>
                      </a:r>
                      <a:r>
                        <a:rPr sz="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10x</a:t>
                      </a:r>
                      <a:r>
                        <a:rPr sz="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(param</a:t>
                      </a:r>
                      <a:r>
                        <a:rPr sz="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count)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dirty="0">
                          <a:latin typeface="Calibri"/>
                          <a:cs typeface="Calibri"/>
                        </a:rPr>
                        <a:t>Ratio</a:t>
                      </a:r>
                      <a:r>
                        <a:rPr sz="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&gt;10x</a:t>
                      </a:r>
                      <a:r>
                        <a:rPr sz="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activates</a:t>
                      </a:r>
                      <a:r>
                        <a:rPr sz="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capacity</a:t>
                      </a:r>
                      <a:r>
                        <a:rPr sz="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gap;</a:t>
                      </a:r>
                      <a:r>
                        <a:rPr sz="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performance</a:t>
                      </a:r>
                      <a:r>
                        <a:rPr sz="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plateaus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 or</a:t>
                      </a:r>
                      <a:r>
                        <a:rPr sz="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degrades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Distillation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data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(CoT)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dirty="0">
                          <a:latin typeface="Calibri"/>
                          <a:cs typeface="Calibri"/>
                        </a:rPr>
                        <a:t>50K -</a:t>
                      </a:r>
                      <a:r>
                        <a:rPr sz="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800K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examples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dirty="0">
                          <a:latin typeface="Calibri"/>
                          <a:cs typeface="Calibri"/>
                        </a:rPr>
                        <a:t>Below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10K:</a:t>
                      </a:r>
                      <a:r>
                        <a:rPr sz="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insufficient</a:t>
                      </a:r>
                      <a:r>
                        <a:rPr sz="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signal</a:t>
                      </a:r>
                      <a:r>
                        <a:rPr sz="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for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complex</a:t>
                      </a:r>
                      <a:r>
                        <a:rPr sz="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reasoning</a:t>
                      </a:r>
                      <a:r>
                        <a:rPr sz="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transfer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" name="object 40"/>
          <p:cNvSpPr txBox="1"/>
          <p:nvPr/>
        </p:nvSpPr>
        <p:spPr>
          <a:xfrm>
            <a:off x="261264" y="4830739"/>
            <a:ext cx="158242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i="1" spc="-60" dirty="0">
                <a:solidFill>
                  <a:srgbClr val="63738A"/>
                </a:solidFill>
                <a:latin typeface="Arial"/>
                <a:cs typeface="Arial"/>
              </a:rPr>
              <a:t>Source:</a:t>
            </a:r>
            <a:r>
              <a:rPr sz="750" i="1" spc="-25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750" i="1" spc="-40" dirty="0">
                <a:solidFill>
                  <a:srgbClr val="63738A"/>
                </a:solidFill>
                <a:latin typeface="Arial"/>
                <a:cs typeface="Arial"/>
              </a:rPr>
              <a:t>Liu</a:t>
            </a:r>
            <a:r>
              <a:rPr sz="750" i="1" spc="-15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750" i="1" spc="-10" dirty="0">
                <a:solidFill>
                  <a:srgbClr val="63738A"/>
                </a:solidFill>
                <a:latin typeface="Arial"/>
                <a:cs typeface="Arial"/>
              </a:rPr>
              <a:t>et</a:t>
            </a:r>
            <a:r>
              <a:rPr sz="750" i="1" spc="-20" dirty="0">
                <a:solidFill>
                  <a:srgbClr val="63738A"/>
                </a:solidFill>
                <a:latin typeface="Arial"/>
                <a:cs typeface="Arial"/>
              </a:rPr>
              <a:t> al.</a:t>
            </a:r>
            <a:r>
              <a:rPr sz="750" i="1" spc="-25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750" i="1" spc="-35" dirty="0">
                <a:solidFill>
                  <a:srgbClr val="63738A"/>
                </a:solidFill>
                <a:latin typeface="Arial"/>
                <a:cs typeface="Arial"/>
              </a:rPr>
              <a:t>(2023);</a:t>
            </a:r>
            <a:r>
              <a:rPr sz="750" i="1" spc="-20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750" i="1" spc="-75" dirty="0">
                <a:solidFill>
                  <a:srgbClr val="63738A"/>
                </a:solidFill>
                <a:latin typeface="Arial"/>
                <a:cs typeface="Arial"/>
              </a:rPr>
              <a:t>Gu</a:t>
            </a:r>
            <a:r>
              <a:rPr sz="750" i="1" spc="-25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750" i="1" spc="-10" dirty="0">
                <a:solidFill>
                  <a:srgbClr val="63738A"/>
                </a:solidFill>
                <a:latin typeface="Arial"/>
                <a:cs typeface="Arial"/>
              </a:rPr>
              <a:t>et</a:t>
            </a:r>
            <a:r>
              <a:rPr sz="750" i="1" spc="-30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750" i="1" spc="-20" dirty="0">
                <a:solidFill>
                  <a:srgbClr val="63738A"/>
                </a:solidFill>
                <a:latin typeface="Arial"/>
                <a:cs typeface="Arial"/>
              </a:rPr>
              <a:t>al. </a:t>
            </a:r>
            <a:r>
              <a:rPr sz="750" i="1" spc="-10" dirty="0">
                <a:solidFill>
                  <a:srgbClr val="63738A"/>
                </a:solidFill>
                <a:latin typeface="Arial"/>
                <a:cs typeface="Arial"/>
              </a:rPr>
              <a:t>(2023)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/>
              <a:t>Case</a:t>
            </a:r>
            <a:r>
              <a:rPr sz="2000" spc="-15" dirty="0"/>
              <a:t> </a:t>
            </a:r>
            <a:r>
              <a:rPr sz="2000" dirty="0"/>
              <a:t>Study</a:t>
            </a:r>
            <a:r>
              <a:rPr sz="2000" spc="-10" dirty="0"/>
              <a:t> </a:t>
            </a:r>
            <a:r>
              <a:rPr sz="2000" dirty="0"/>
              <a:t>-</a:t>
            </a:r>
            <a:r>
              <a:rPr sz="2000" spc="-15" dirty="0"/>
              <a:t> </a:t>
            </a:r>
            <a:r>
              <a:rPr sz="2000" spc="-25" dirty="0"/>
              <a:t>DeepSeek-</a:t>
            </a:r>
            <a:r>
              <a:rPr sz="2000" dirty="0"/>
              <a:t>R1</a:t>
            </a:r>
            <a:r>
              <a:rPr sz="2000" spc="-5" dirty="0"/>
              <a:t> </a:t>
            </a:r>
            <a:r>
              <a:rPr sz="2000" spc="-10" dirty="0"/>
              <a:t>Distillation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6307099" y="232107"/>
            <a:ext cx="25260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spc="-65" dirty="0">
                <a:solidFill>
                  <a:srgbClr val="00C1CA"/>
                </a:solidFill>
                <a:latin typeface="Arial"/>
                <a:cs typeface="Arial"/>
              </a:rPr>
              <a:t>06</a:t>
            </a:r>
            <a:r>
              <a:rPr sz="1100" i="1" spc="-2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30" dirty="0">
                <a:solidFill>
                  <a:srgbClr val="00C1CA"/>
                </a:solidFill>
                <a:latin typeface="Arial"/>
                <a:cs typeface="Arial"/>
              </a:rPr>
              <a:t>- </a:t>
            </a:r>
            <a:r>
              <a:rPr sz="1100" i="1" spc="-60" dirty="0">
                <a:solidFill>
                  <a:srgbClr val="00C1CA"/>
                </a:solidFill>
                <a:latin typeface="Arial"/>
                <a:cs typeface="Arial"/>
              </a:rPr>
              <a:t>State-</a:t>
            </a:r>
            <a:r>
              <a:rPr sz="1100" i="1" spc="-30" dirty="0">
                <a:solidFill>
                  <a:srgbClr val="00C1CA"/>
                </a:solidFill>
                <a:latin typeface="Arial"/>
                <a:cs typeface="Arial"/>
              </a:rPr>
              <a:t>of-</a:t>
            </a:r>
            <a:r>
              <a:rPr sz="1100" i="1" spc="-35" dirty="0">
                <a:solidFill>
                  <a:srgbClr val="00C1CA"/>
                </a:solidFill>
                <a:latin typeface="Arial"/>
                <a:cs typeface="Arial"/>
              </a:rPr>
              <a:t>the-</a:t>
            </a:r>
            <a:r>
              <a:rPr sz="1100" i="1" spc="-10" dirty="0">
                <a:solidFill>
                  <a:srgbClr val="00C1CA"/>
                </a:solidFill>
                <a:latin typeface="Arial"/>
                <a:cs typeface="Arial"/>
              </a:rPr>
              <a:t>Art</a:t>
            </a:r>
            <a:r>
              <a:rPr sz="1100" i="1" spc="-2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145" dirty="0">
                <a:solidFill>
                  <a:srgbClr val="00C1CA"/>
                </a:solidFill>
                <a:latin typeface="Arial"/>
                <a:cs typeface="Arial"/>
              </a:rPr>
              <a:t>CoT</a:t>
            </a:r>
            <a:r>
              <a:rPr sz="1100" i="1" spc="-2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30" dirty="0">
                <a:solidFill>
                  <a:srgbClr val="00C1CA"/>
                </a:solidFill>
                <a:latin typeface="Arial"/>
                <a:cs typeface="Arial"/>
              </a:rPr>
              <a:t>Distillation</a:t>
            </a:r>
            <a:r>
              <a:rPr sz="1100" i="1" spc="-20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C1CA"/>
                </a:solidFill>
                <a:latin typeface="Arial"/>
                <a:cs typeface="Arial"/>
              </a:rPr>
              <a:t>at</a:t>
            </a:r>
            <a:r>
              <a:rPr sz="1100" i="1" spc="-40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45" dirty="0">
                <a:solidFill>
                  <a:srgbClr val="00C1CA"/>
                </a:solidFill>
                <a:latin typeface="Arial"/>
                <a:cs typeface="Arial"/>
              </a:rPr>
              <a:t>Scale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6655" y="4885742"/>
            <a:ext cx="9156700" cy="264160"/>
            <a:chOff x="-6655" y="4885742"/>
            <a:chExt cx="9156700" cy="264160"/>
          </a:xfrm>
        </p:grpSpPr>
        <p:sp>
          <p:nvSpPr>
            <p:cNvPr id="5" name="object 5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631" y="0"/>
                  </a:moveTo>
                  <a:lnTo>
                    <a:pt x="0" y="0"/>
                  </a:lnTo>
                  <a:lnTo>
                    <a:pt x="0" y="251282"/>
                  </a:lnTo>
                  <a:lnTo>
                    <a:pt x="4572000" y="251282"/>
                  </a:lnTo>
                  <a:lnTo>
                    <a:pt x="9143631" y="251282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4572000" y="251282"/>
                  </a:moveTo>
                  <a:lnTo>
                    <a:pt x="0" y="251282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251282"/>
                  </a:lnTo>
                  <a:lnTo>
                    <a:pt x="4572000" y="251282"/>
                  </a:lnTo>
                  <a:close/>
                </a:path>
              </a:pathLst>
            </a:custGeom>
            <a:ln w="12599">
              <a:solidFill>
                <a:srgbClr val="0C1A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273964" y="804242"/>
            <a:ext cx="8595360" cy="457200"/>
          </a:xfrm>
          <a:custGeom>
            <a:avLst/>
            <a:gdLst/>
            <a:ahLst/>
            <a:cxnLst/>
            <a:rect l="l" t="t" r="r" b="b"/>
            <a:pathLst>
              <a:path w="8595360" h="457200">
                <a:moveTo>
                  <a:pt x="8594991" y="0"/>
                </a:moveTo>
                <a:lnTo>
                  <a:pt x="0" y="0"/>
                </a:lnTo>
                <a:lnTo>
                  <a:pt x="0" y="456844"/>
                </a:lnTo>
                <a:lnTo>
                  <a:pt x="4297680" y="456844"/>
                </a:lnTo>
                <a:lnTo>
                  <a:pt x="8594991" y="456844"/>
                </a:lnTo>
                <a:lnTo>
                  <a:pt x="8594991" y="0"/>
                </a:lnTo>
                <a:close/>
              </a:path>
            </a:pathLst>
          </a:custGeom>
          <a:solidFill>
            <a:srgbClr val="0C1A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73964" y="804242"/>
            <a:ext cx="8595360" cy="457200"/>
          </a:xfrm>
          <a:prstGeom prst="rect">
            <a:avLst/>
          </a:prstGeom>
          <a:ln w="12599">
            <a:solidFill>
              <a:srgbClr val="0C1A29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 marL="226695" marR="508000">
              <a:lnSpc>
                <a:spcPct val="100000"/>
              </a:lnSpc>
              <a:spcBef>
                <a:spcPts val="685"/>
              </a:spcBef>
            </a:pPr>
            <a:r>
              <a:rPr sz="950" b="1" spc="-10" dirty="0">
                <a:solidFill>
                  <a:srgbClr val="00C1CA"/>
                </a:solidFill>
                <a:latin typeface="Calibri"/>
                <a:cs typeface="Calibri"/>
              </a:rPr>
              <a:t>DeepSeek-</a:t>
            </a:r>
            <a:r>
              <a:rPr sz="950" b="1" dirty="0">
                <a:solidFill>
                  <a:srgbClr val="00C1CA"/>
                </a:solidFill>
                <a:latin typeface="Calibri"/>
                <a:cs typeface="Calibri"/>
              </a:rPr>
              <a:t>R1</a:t>
            </a:r>
            <a:r>
              <a:rPr sz="950" b="1" spc="-10" dirty="0">
                <a:solidFill>
                  <a:srgbClr val="00C1CA"/>
                </a:solidFill>
                <a:latin typeface="Calibri"/>
                <a:cs typeface="Calibri"/>
              </a:rPr>
              <a:t> </a:t>
            </a:r>
            <a:r>
              <a:rPr sz="950" b="1" spc="-20" dirty="0">
                <a:solidFill>
                  <a:srgbClr val="00C1CA"/>
                </a:solidFill>
                <a:latin typeface="Calibri"/>
                <a:cs typeface="Calibri"/>
              </a:rPr>
              <a:t>Teacher:</a:t>
            </a:r>
            <a:r>
              <a:rPr sz="950" b="1" spc="15" dirty="0">
                <a:solidFill>
                  <a:srgbClr val="00C1CA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671B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parameter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Mixture-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of-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Experts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LLM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trained</a:t>
            </a:r>
            <a:r>
              <a:rPr sz="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GRPO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reinforcement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learning.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Reasoning</a:t>
            </a:r>
            <a:r>
              <a:rPr sz="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traces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enclosed</a:t>
            </a:r>
            <a:r>
              <a:rPr sz="9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&lt;think&gt;...&lt;/think&gt;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tokens.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800K</a:t>
            </a:r>
            <a:r>
              <a:rPr sz="90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curated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traces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student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distillation.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39674" y="1290220"/>
            <a:ext cx="8774430" cy="855344"/>
            <a:chOff x="139674" y="1290220"/>
            <a:chExt cx="8774430" cy="855344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674" y="1290220"/>
              <a:ext cx="1824482" cy="85502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73964" y="1371246"/>
              <a:ext cx="1609090" cy="640080"/>
            </a:xfrm>
            <a:custGeom>
              <a:avLst/>
              <a:gdLst/>
              <a:ahLst/>
              <a:cxnLst/>
              <a:rect l="l" t="t" r="r" b="b"/>
              <a:pathLst>
                <a:path w="1609089" h="640080">
                  <a:moveTo>
                    <a:pt x="1608836" y="0"/>
                  </a:moveTo>
                  <a:lnTo>
                    <a:pt x="0" y="0"/>
                  </a:lnTo>
                  <a:lnTo>
                    <a:pt x="0" y="639711"/>
                  </a:lnTo>
                  <a:lnTo>
                    <a:pt x="804595" y="639711"/>
                  </a:lnTo>
                  <a:lnTo>
                    <a:pt x="1608836" y="639711"/>
                  </a:lnTo>
                  <a:lnTo>
                    <a:pt x="1608836" y="0"/>
                  </a:lnTo>
                  <a:close/>
                </a:path>
              </a:pathLst>
            </a:custGeom>
            <a:solidFill>
              <a:srgbClr val="1A39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7034" y="1290220"/>
              <a:ext cx="1824481" cy="85502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011324" y="1371246"/>
              <a:ext cx="1609090" cy="640080"/>
            </a:xfrm>
            <a:custGeom>
              <a:avLst/>
              <a:gdLst/>
              <a:ahLst/>
              <a:cxnLst/>
              <a:rect l="l" t="t" r="r" b="b"/>
              <a:pathLst>
                <a:path w="1609089" h="640080">
                  <a:moveTo>
                    <a:pt x="1608836" y="0"/>
                  </a:moveTo>
                  <a:lnTo>
                    <a:pt x="0" y="0"/>
                  </a:lnTo>
                  <a:lnTo>
                    <a:pt x="0" y="639711"/>
                  </a:lnTo>
                  <a:lnTo>
                    <a:pt x="804595" y="639711"/>
                  </a:lnTo>
                  <a:lnTo>
                    <a:pt x="1608836" y="639711"/>
                  </a:lnTo>
                  <a:lnTo>
                    <a:pt x="1608836" y="0"/>
                  </a:lnTo>
                  <a:close/>
                </a:path>
              </a:pathLst>
            </a:custGeom>
            <a:solidFill>
              <a:srgbClr val="8A5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4394" y="1290220"/>
              <a:ext cx="1824482" cy="85502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748684" y="1371246"/>
              <a:ext cx="1609090" cy="640080"/>
            </a:xfrm>
            <a:custGeom>
              <a:avLst/>
              <a:gdLst/>
              <a:ahLst/>
              <a:cxnLst/>
              <a:rect l="l" t="t" r="r" b="b"/>
              <a:pathLst>
                <a:path w="1609089" h="640080">
                  <a:moveTo>
                    <a:pt x="1608835" y="0"/>
                  </a:moveTo>
                  <a:lnTo>
                    <a:pt x="0" y="0"/>
                  </a:lnTo>
                  <a:lnTo>
                    <a:pt x="0" y="639711"/>
                  </a:lnTo>
                  <a:lnTo>
                    <a:pt x="804595" y="639711"/>
                  </a:lnTo>
                  <a:lnTo>
                    <a:pt x="1608835" y="639711"/>
                  </a:lnTo>
                  <a:lnTo>
                    <a:pt x="1608835" y="0"/>
                  </a:lnTo>
                  <a:close/>
                </a:path>
              </a:pathLst>
            </a:custGeom>
            <a:solidFill>
              <a:srgbClr val="1D5E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51754" y="1290220"/>
              <a:ext cx="1824481" cy="85502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486044" y="1371246"/>
              <a:ext cx="1609090" cy="640080"/>
            </a:xfrm>
            <a:custGeom>
              <a:avLst/>
              <a:gdLst/>
              <a:ahLst/>
              <a:cxnLst/>
              <a:rect l="l" t="t" r="r" b="b"/>
              <a:pathLst>
                <a:path w="1609090" h="640080">
                  <a:moveTo>
                    <a:pt x="1608836" y="0"/>
                  </a:moveTo>
                  <a:lnTo>
                    <a:pt x="0" y="0"/>
                  </a:lnTo>
                  <a:lnTo>
                    <a:pt x="0" y="639711"/>
                  </a:lnTo>
                  <a:lnTo>
                    <a:pt x="804595" y="639711"/>
                  </a:lnTo>
                  <a:lnTo>
                    <a:pt x="1608836" y="639711"/>
                  </a:lnTo>
                  <a:lnTo>
                    <a:pt x="1608836" y="0"/>
                  </a:lnTo>
                  <a:close/>
                </a:path>
              </a:pathLst>
            </a:custGeom>
            <a:solidFill>
              <a:srgbClr val="00C1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9114" y="1290220"/>
              <a:ext cx="1824481" cy="855027"/>
            </a:xfrm>
            <a:prstGeom prst="rect">
              <a:avLst/>
            </a:prstGeom>
          </p:spPr>
        </p:pic>
      </p:grpSp>
      <p:sp>
        <p:nvSpPr>
          <p:cNvPr id="19" name="object 19"/>
          <p:cNvSpPr/>
          <p:nvPr/>
        </p:nvSpPr>
        <p:spPr>
          <a:xfrm>
            <a:off x="7223404" y="1371246"/>
            <a:ext cx="1609090" cy="640080"/>
          </a:xfrm>
          <a:custGeom>
            <a:avLst/>
            <a:gdLst/>
            <a:ahLst/>
            <a:cxnLst/>
            <a:rect l="l" t="t" r="r" b="b"/>
            <a:pathLst>
              <a:path w="1609090" h="640080">
                <a:moveTo>
                  <a:pt x="1608835" y="0"/>
                </a:moveTo>
                <a:lnTo>
                  <a:pt x="0" y="0"/>
                </a:lnTo>
                <a:lnTo>
                  <a:pt x="0" y="639711"/>
                </a:lnTo>
                <a:lnTo>
                  <a:pt x="804595" y="639711"/>
                </a:lnTo>
                <a:lnTo>
                  <a:pt x="1608835" y="639711"/>
                </a:lnTo>
                <a:lnTo>
                  <a:pt x="1608835" y="0"/>
                </a:lnTo>
                <a:close/>
              </a:path>
            </a:pathLst>
          </a:custGeom>
          <a:solidFill>
            <a:srgbClr val="F3A16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267664" y="1364946"/>
          <a:ext cx="8589005" cy="638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9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90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9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70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89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090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2004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494030" marR="487680" indent="60960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Base</a:t>
                      </a:r>
                      <a:r>
                        <a:rPr sz="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Model</a:t>
                      </a:r>
                      <a:r>
                        <a:rPr sz="800" b="1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(DeepSeek-</a:t>
                      </a:r>
                      <a:r>
                        <a:rPr sz="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V3)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1A396A"/>
                      </a:solidFill>
                      <a:prstDash val="solid"/>
                    </a:lnL>
                    <a:lnR w="12700">
                      <a:solidFill>
                        <a:srgbClr val="1A396A"/>
                      </a:solidFill>
                      <a:prstDash val="solid"/>
                    </a:lnR>
                    <a:lnT w="12700">
                      <a:solidFill>
                        <a:srgbClr val="1A396A"/>
                      </a:solidFill>
                      <a:prstDash val="solid"/>
                    </a:lnT>
                    <a:lnB w="12700">
                      <a:solidFill>
                        <a:srgbClr val="1A39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A396A"/>
                      </a:solidFill>
                      <a:prstDash val="solid"/>
                    </a:lnL>
                    <a:lnR w="12700">
                      <a:solidFill>
                        <a:srgbClr val="8A5BF5"/>
                      </a:solidFill>
                      <a:prstDash val="solid"/>
                    </a:lnR>
                    <a:lnB w="28575">
                      <a:solidFill>
                        <a:srgbClr val="63738A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471805" marR="466725" indent="102235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RL</a:t>
                      </a:r>
                      <a:r>
                        <a:rPr sz="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Training</a:t>
                      </a:r>
                      <a:r>
                        <a:rPr sz="800" b="1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(GRPO</a:t>
                      </a:r>
                      <a:r>
                        <a:rPr sz="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SFT)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8A5BF5"/>
                      </a:solidFill>
                      <a:prstDash val="solid"/>
                    </a:lnL>
                    <a:lnR w="12700">
                      <a:solidFill>
                        <a:srgbClr val="8A5BF5"/>
                      </a:solidFill>
                      <a:prstDash val="solid"/>
                    </a:lnR>
                    <a:lnT w="12700">
                      <a:solidFill>
                        <a:srgbClr val="8A5BF5"/>
                      </a:solidFill>
                      <a:prstDash val="solid"/>
                    </a:lnT>
                    <a:lnB w="12700">
                      <a:solidFill>
                        <a:srgbClr val="8A5B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8A5BF5"/>
                      </a:solidFill>
                      <a:prstDash val="solid"/>
                    </a:lnL>
                    <a:lnR w="12700">
                      <a:solidFill>
                        <a:srgbClr val="1D5EAC"/>
                      </a:solidFill>
                      <a:prstDash val="solid"/>
                    </a:lnR>
                    <a:lnB w="28575">
                      <a:solidFill>
                        <a:srgbClr val="63738A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476884" marR="410209" indent="-60960">
                        <a:lnSpc>
                          <a:spcPct val="100000"/>
                        </a:lnSpc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DeepSeek-R1-</a:t>
                      </a:r>
                      <a:r>
                        <a:rPr sz="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Zero</a:t>
                      </a:r>
                      <a:r>
                        <a:rPr sz="800" b="1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(emergent</a:t>
                      </a:r>
                      <a:r>
                        <a:rPr sz="800" b="1" spc="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CoT)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1D5EAC"/>
                      </a:solidFill>
                      <a:prstDash val="solid"/>
                    </a:lnL>
                    <a:lnR w="12700">
                      <a:solidFill>
                        <a:srgbClr val="1D5EAC"/>
                      </a:solidFill>
                      <a:prstDash val="solid"/>
                    </a:lnR>
                    <a:lnT w="12700">
                      <a:solidFill>
                        <a:srgbClr val="1D5EAC"/>
                      </a:solidFill>
                      <a:prstDash val="solid"/>
                    </a:lnT>
                    <a:lnB w="12700">
                      <a:solidFill>
                        <a:srgbClr val="1D5EA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D5EAC"/>
                      </a:solidFill>
                      <a:prstDash val="solid"/>
                    </a:lnL>
                    <a:lnR w="12700">
                      <a:solidFill>
                        <a:srgbClr val="00C1CA"/>
                      </a:solidFill>
                      <a:prstDash val="solid"/>
                    </a:lnR>
                    <a:lnB w="28575">
                      <a:solidFill>
                        <a:srgbClr val="63738A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48005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1188085" algn="l"/>
                        </a:tabLst>
                      </a:pPr>
                      <a:r>
                        <a:rPr sz="1200" b="1" baseline="-38194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SFT</a:t>
                      </a:r>
                      <a:r>
                        <a:rPr sz="1200" b="1" spc="-15" baseline="-38194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baseline="-38194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 </a:t>
                      </a:r>
                      <a:r>
                        <a:rPr sz="1200" b="1" spc="-30" baseline="-38194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800K</a:t>
                      </a:r>
                      <a:r>
                        <a:rPr sz="1200" b="1" baseline="-38194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800" i="1" spc="-25" dirty="0">
                          <a:solidFill>
                            <a:srgbClr val="F3A160"/>
                          </a:solidFill>
                          <a:latin typeface="Arial"/>
                          <a:cs typeface="Arial"/>
                        </a:rPr>
                        <a:t>Distill</a:t>
                      </a:r>
                      <a:r>
                        <a:rPr sz="800" i="1" spc="-10" dirty="0">
                          <a:solidFill>
                            <a:srgbClr val="F3A1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35" dirty="0">
                          <a:solidFill>
                            <a:srgbClr val="F3A160"/>
                          </a:solidFill>
                          <a:latin typeface="Arial"/>
                          <a:cs typeface="Arial"/>
                        </a:rPr>
                        <a:t>via</a:t>
                      </a:r>
                      <a:r>
                        <a:rPr sz="800" i="1" spc="-30" dirty="0">
                          <a:solidFill>
                            <a:srgbClr val="F3A16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20" dirty="0">
                          <a:solidFill>
                            <a:srgbClr val="F3A160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457200" marR="2159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reasoning</a:t>
                      </a:r>
                      <a:r>
                        <a:rPr sz="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traces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C1CA"/>
                      </a:solidFill>
                      <a:prstDash val="solid"/>
                    </a:lnL>
                    <a:lnR w="12700">
                      <a:solidFill>
                        <a:srgbClr val="00C1CA"/>
                      </a:solidFill>
                      <a:prstDash val="solid"/>
                    </a:lnR>
                    <a:lnT w="12700">
                      <a:solidFill>
                        <a:srgbClr val="00C1CA"/>
                      </a:solidFill>
                      <a:prstDash val="solid"/>
                    </a:lnT>
                    <a:lnB w="12700">
                      <a:solidFill>
                        <a:srgbClr val="00C1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09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i="1" spc="-95" dirty="0">
                          <a:solidFill>
                            <a:srgbClr val="F3A160"/>
                          </a:solidFill>
                          <a:latin typeface="Arial"/>
                          <a:cs typeface="Arial"/>
                        </a:rPr>
                        <a:t>FT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C1CA"/>
                      </a:solidFill>
                      <a:prstDash val="solid"/>
                    </a:lnL>
                    <a:lnR w="12700">
                      <a:solidFill>
                        <a:srgbClr val="F3A160"/>
                      </a:solidFill>
                      <a:prstDash val="solid"/>
                    </a:lnR>
                    <a:lnB w="28575">
                      <a:solidFill>
                        <a:srgbClr val="63738A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430530">
                        <a:lnSpc>
                          <a:spcPts val="745"/>
                        </a:lnSpc>
                        <a:spcBef>
                          <a:spcPts val="5"/>
                        </a:spcBef>
                      </a:pPr>
                      <a:r>
                        <a:rPr sz="800" i="1" spc="-10" dirty="0">
                          <a:solidFill>
                            <a:srgbClr val="F3A160"/>
                          </a:solidFill>
                          <a:latin typeface="Arial"/>
                          <a:cs typeface="Arial"/>
                        </a:rPr>
                        <a:t>studen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745"/>
                        </a:lnSpc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Full</a:t>
                      </a:r>
                      <a:r>
                        <a:rPr sz="800" b="1" spc="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DeepSeek-</a:t>
                      </a:r>
                      <a:r>
                        <a:rPr sz="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R1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(671B,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MoE)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F3A160"/>
                      </a:solidFill>
                      <a:prstDash val="solid"/>
                    </a:lnL>
                    <a:lnR w="12700">
                      <a:solidFill>
                        <a:srgbClr val="F3A160"/>
                      </a:solidFill>
                      <a:prstDash val="solid"/>
                    </a:lnR>
                    <a:lnT w="12700">
                      <a:solidFill>
                        <a:srgbClr val="F3A160"/>
                      </a:solidFill>
                      <a:prstDash val="solid"/>
                    </a:lnT>
                    <a:lnB w="12700">
                      <a:solidFill>
                        <a:srgbClr val="F3A1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7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1280" marB="0">
                    <a:lnL w="12700">
                      <a:solidFill>
                        <a:srgbClr val="1A396A"/>
                      </a:solidFill>
                      <a:prstDash val="solid"/>
                    </a:lnL>
                    <a:lnR w="12700">
                      <a:solidFill>
                        <a:srgbClr val="1A396A"/>
                      </a:solidFill>
                      <a:prstDash val="solid"/>
                    </a:lnR>
                    <a:lnT w="12700">
                      <a:solidFill>
                        <a:srgbClr val="1A396A"/>
                      </a:solidFill>
                      <a:prstDash val="solid"/>
                    </a:lnT>
                    <a:lnB w="12700">
                      <a:solidFill>
                        <a:srgbClr val="1A396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A396A"/>
                      </a:solidFill>
                      <a:prstDash val="solid"/>
                    </a:lnL>
                    <a:lnR w="12700">
                      <a:solidFill>
                        <a:srgbClr val="8A5BF5"/>
                      </a:solidFill>
                      <a:prstDash val="solid"/>
                    </a:lnR>
                    <a:lnT w="28575">
                      <a:solidFill>
                        <a:srgbClr val="63738A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1280" marB="0">
                    <a:lnL w="12700">
                      <a:solidFill>
                        <a:srgbClr val="8A5BF5"/>
                      </a:solidFill>
                      <a:prstDash val="solid"/>
                    </a:lnL>
                    <a:lnR w="12700">
                      <a:solidFill>
                        <a:srgbClr val="8A5BF5"/>
                      </a:solidFill>
                      <a:prstDash val="solid"/>
                    </a:lnR>
                    <a:lnT w="12700">
                      <a:solidFill>
                        <a:srgbClr val="8A5BF5"/>
                      </a:solidFill>
                      <a:prstDash val="solid"/>
                    </a:lnT>
                    <a:lnB w="12700">
                      <a:solidFill>
                        <a:srgbClr val="8A5B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8A5BF5"/>
                      </a:solidFill>
                      <a:prstDash val="solid"/>
                    </a:lnL>
                    <a:lnR w="12700">
                      <a:solidFill>
                        <a:srgbClr val="1D5EAC"/>
                      </a:solidFill>
                      <a:prstDash val="solid"/>
                    </a:lnR>
                    <a:lnT w="28575">
                      <a:solidFill>
                        <a:srgbClr val="63738A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1280" marB="0">
                    <a:lnL w="12700">
                      <a:solidFill>
                        <a:srgbClr val="1D5EAC"/>
                      </a:solidFill>
                      <a:prstDash val="solid"/>
                    </a:lnL>
                    <a:lnR w="12700">
                      <a:solidFill>
                        <a:srgbClr val="1D5EAC"/>
                      </a:solidFill>
                      <a:prstDash val="solid"/>
                    </a:lnR>
                    <a:lnT w="12700">
                      <a:solidFill>
                        <a:srgbClr val="1D5EAC"/>
                      </a:solidFill>
                      <a:prstDash val="solid"/>
                    </a:lnT>
                    <a:lnB w="12700">
                      <a:solidFill>
                        <a:srgbClr val="1D5EA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1D5EAC"/>
                      </a:solidFill>
                      <a:prstDash val="solid"/>
                    </a:lnL>
                    <a:lnR w="12700">
                      <a:solidFill>
                        <a:srgbClr val="00C1CA"/>
                      </a:solidFill>
                      <a:prstDash val="solid"/>
                    </a:lnR>
                    <a:lnT w="28575">
                      <a:solidFill>
                        <a:srgbClr val="63738A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C1CA"/>
                      </a:solidFill>
                      <a:prstDash val="solid"/>
                    </a:lnL>
                    <a:lnR w="12700">
                      <a:solidFill>
                        <a:srgbClr val="00C1CA"/>
                      </a:solidFill>
                      <a:prstDash val="solid"/>
                    </a:lnR>
                    <a:lnT w="12700">
                      <a:solidFill>
                        <a:srgbClr val="00C1CA"/>
                      </a:solidFill>
                      <a:prstDash val="solid"/>
                    </a:lnT>
                    <a:lnB w="12700">
                      <a:solidFill>
                        <a:srgbClr val="00C1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C1CA"/>
                      </a:solidFill>
                      <a:prstDash val="solid"/>
                    </a:lnL>
                    <a:lnR w="12700">
                      <a:solidFill>
                        <a:srgbClr val="F3A160"/>
                      </a:solidFill>
                      <a:prstDash val="solid"/>
                    </a:lnR>
                    <a:lnT w="28575">
                      <a:solidFill>
                        <a:srgbClr val="63738A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F3A160"/>
                      </a:solidFill>
                      <a:prstDash val="solid"/>
                    </a:lnL>
                    <a:lnR w="12700">
                      <a:solidFill>
                        <a:srgbClr val="F3A160"/>
                      </a:solidFill>
                      <a:prstDash val="solid"/>
                    </a:lnR>
                    <a:lnT w="12700">
                      <a:solidFill>
                        <a:srgbClr val="F3A160"/>
                      </a:solidFill>
                      <a:prstDash val="solid"/>
                    </a:lnT>
                    <a:lnB w="12700">
                      <a:solidFill>
                        <a:srgbClr val="F3A1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269875" y="2117042"/>
          <a:ext cx="8595360" cy="1826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9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Distilled</a:t>
                      </a:r>
                      <a:r>
                        <a:rPr sz="800" b="1" spc="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Model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1A3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Params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1A3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AIME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1A3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MATH-500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1A3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Compression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1A39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9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30" dirty="0">
                          <a:latin typeface="Calibri"/>
                          <a:cs typeface="Calibri"/>
                        </a:rPr>
                        <a:t>GPT-</a:t>
                      </a:r>
                      <a:r>
                        <a:rPr sz="800" dirty="0">
                          <a:latin typeface="Calibri"/>
                          <a:cs typeface="Calibri"/>
                        </a:rPr>
                        <a:t>4o</a:t>
                      </a:r>
                      <a:r>
                        <a:rPr sz="8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(reference)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~1.8T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56.7%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76.6%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dirty="0">
                          <a:latin typeface="Calibri"/>
                          <a:cs typeface="Calibri"/>
                        </a:rPr>
                        <a:t>-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9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DeepSeek-R1-Distill-</a:t>
                      </a:r>
                      <a:r>
                        <a:rPr sz="800" spc="-25" dirty="0">
                          <a:latin typeface="Calibri"/>
                          <a:cs typeface="Calibri"/>
                        </a:rPr>
                        <a:t>70B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70B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dirty="0">
                          <a:latin typeface="Calibri"/>
                          <a:cs typeface="Calibri"/>
                        </a:rPr>
                        <a:t>70.0%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 (EXCEEDS)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94.5%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20" dirty="0">
                          <a:latin typeface="Calibri"/>
                          <a:cs typeface="Calibri"/>
                        </a:rPr>
                        <a:t>~10x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9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DeepSeek-R1-Distill-</a:t>
                      </a:r>
                      <a:r>
                        <a:rPr sz="800" spc="-25" dirty="0">
                          <a:latin typeface="Calibri"/>
                          <a:cs typeface="Calibri"/>
                        </a:rPr>
                        <a:t>32B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32B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dirty="0">
                          <a:latin typeface="Calibri"/>
                          <a:cs typeface="Calibri"/>
                        </a:rPr>
                        <a:t>72.6%</a:t>
                      </a:r>
                      <a:r>
                        <a:rPr sz="800" spc="-10" dirty="0">
                          <a:latin typeface="Calibri"/>
                          <a:cs typeface="Calibri"/>
                        </a:rPr>
                        <a:t> (EXCEEDS)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94.3%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20" dirty="0">
                          <a:latin typeface="Calibri"/>
                          <a:cs typeface="Calibri"/>
                        </a:rPr>
                        <a:t>~21x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9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b="1" spc="-10" dirty="0">
                          <a:solidFill>
                            <a:srgbClr val="21C45D"/>
                          </a:solidFill>
                          <a:latin typeface="Calibri"/>
                          <a:cs typeface="Calibri"/>
                        </a:rPr>
                        <a:t>DeepSeek-R1-Distill-</a:t>
                      </a:r>
                      <a:r>
                        <a:rPr sz="800" b="1" spc="-25" dirty="0">
                          <a:solidFill>
                            <a:srgbClr val="21C45D"/>
                          </a:solidFill>
                          <a:latin typeface="Calibri"/>
                          <a:cs typeface="Calibri"/>
                        </a:rPr>
                        <a:t>14B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14B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dirty="0">
                          <a:solidFill>
                            <a:srgbClr val="21C45D"/>
                          </a:solidFill>
                          <a:latin typeface="Calibri"/>
                          <a:cs typeface="Calibri"/>
                        </a:rPr>
                        <a:t>69.7%</a:t>
                      </a:r>
                      <a:r>
                        <a:rPr sz="800" spc="-10" dirty="0">
                          <a:solidFill>
                            <a:srgbClr val="21C45D"/>
                          </a:solidFill>
                          <a:latin typeface="Calibri"/>
                          <a:cs typeface="Calibri"/>
                        </a:rPr>
                        <a:t> (EXCEEDS)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90.8%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20" dirty="0">
                          <a:latin typeface="Calibri"/>
                          <a:cs typeface="Calibri"/>
                        </a:rPr>
                        <a:t>~48x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9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b="1" spc="-10" dirty="0">
                          <a:solidFill>
                            <a:srgbClr val="F3A160"/>
                          </a:solidFill>
                          <a:latin typeface="Calibri"/>
                          <a:cs typeface="Calibri"/>
                        </a:rPr>
                        <a:t>DeepSeek-R1-Distill-</a:t>
                      </a:r>
                      <a:r>
                        <a:rPr sz="800" b="1" dirty="0">
                          <a:solidFill>
                            <a:srgbClr val="F3A160"/>
                          </a:solidFill>
                          <a:latin typeface="Calibri"/>
                          <a:cs typeface="Calibri"/>
                        </a:rPr>
                        <a:t>7B</a:t>
                      </a:r>
                      <a:r>
                        <a:rPr sz="800" b="1" spc="80" dirty="0">
                          <a:solidFill>
                            <a:srgbClr val="F3A1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50" dirty="0">
                          <a:solidFill>
                            <a:srgbClr val="F3A160"/>
                          </a:solidFill>
                          <a:latin typeface="Calibri"/>
                          <a:cs typeface="Calibri"/>
                        </a:rPr>
                        <a:t>*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25" dirty="0">
                          <a:latin typeface="Calibri"/>
                          <a:cs typeface="Calibri"/>
                        </a:rPr>
                        <a:t>7B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b="1" dirty="0">
                          <a:solidFill>
                            <a:srgbClr val="F3A160"/>
                          </a:solidFill>
                          <a:latin typeface="Calibri"/>
                          <a:cs typeface="Calibri"/>
                        </a:rPr>
                        <a:t>55.5%</a:t>
                      </a:r>
                      <a:r>
                        <a:rPr sz="800" b="1" spc="15" dirty="0">
                          <a:solidFill>
                            <a:srgbClr val="F3A1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F3A160"/>
                          </a:solidFill>
                          <a:latin typeface="Calibri"/>
                          <a:cs typeface="Calibri"/>
                        </a:rPr>
                        <a:t>(near-parity)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83.0%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b="1" spc="-20" dirty="0">
                          <a:solidFill>
                            <a:srgbClr val="F3A160"/>
                          </a:solidFill>
                          <a:latin typeface="Calibri"/>
                          <a:cs typeface="Calibri"/>
                        </a:rPr>
                        <a:t>~96x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9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DeepSeek-R1-Distill-</a:t>
                      </a:r>
                      <a:r>
                        <a:rPr sz="800" spc="-20" dirty="0">
                          <a:latin typeface="Calibri"/>
                          <a:cs typeface="Calibri"/>
                        </a:rPr>
                        <a:t>1.5B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20" dirty="0">
                          <a:latin typeface="Calibri"/>
                          <a:cs typeface="Calibri"/>
                        </a:rPr>
                        <a:t>1.5B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28.9%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72.8%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~447x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2" name="object 22"/>
          <p:cNvGrpSpPr/>
          <p:nvPr/>
        </p:nvGrpSpPr>
        <p:grpSpPr>
          <a:xfrm>
            <a:off x="136436" y="3975825"/>
            <a:ext cx="8817610" cy="815975"/>
            <a:chOff x="136436" y="3975825"/>
            <a:chExt cx="8817610" cy="815975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436" y="3975825"/>
              <a:ext cx="8817114" cy="81577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73964" y="4060077"/>
              <a:ext cx="8595360" cy="594360"/>
            </a:xfrm>
            <a:custGeom>
              <a:avLst/>
              <a:gdLst/>
              <a:ahLst/>
              <a:cxnLst/>
              <a:rect l="l" t="t" r="r" b="b"/>
              <a:pathLst>
                <a:path w="8595360" h="594360">
                  <a:moveTo>
                    <a:pt x="8594991" y="0"/>
                  </a:moveTo>
                  <a:lnTo>
                    <a:pt x="0" y="0"/>
                  </a:lnTo>
                  <a:lnTo>
                    <a:pt x="0" y="594004"/>
                  </a:lnTo>
                  <a:lnTo>
                    <a:pt x="4297680" y="594004"/>
                  </a:lnTo>
                  <a:lnTo>
                    <a:pt x="8594991" y="594004"/>
                  </a:lnTo>
                  <a:lnTo>
                    <a:pt x="85949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73964" y="4060077"/>
            <a:ext cx="8595360" cy="594360"/>
          </a:xfrm>
          <a:prstGeom prst="rect">
            <a:avLst/>
          </a:prstGeom>
          <a:ln w="19079">
            <a:solidFill>
              <a:srgbClr val="F3A16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endParaRPr sz="950">
              <a:latin typeface="Times New Roman"/>
              <a:cs typeface="Times New Roman"/>
            </a:endParaRPr>
          </a:p>
          <a:p>
            <a:pPr marL="226695" marR="548005">
              <a:lnSpc>
                <a:spcPct val="100000"/>
              </a:lnSpc>
            </a:pPr>
            <a:r>
              <a:rPr sz="1000" b="1" dirty="0">
                <a:solidFill>
                  <a:srgbClr val="F3A160"/>
                </a:solidFill>
                <a:latin typeface="Calibri"/>
                <a:cs typeface="Calibri"/>
              </a:rPr>
              <a:t>*</a:t>
            </a:r>
            <a:r>
              <a:rPr sz="1000" b="1" spc="185" dirty="0">
                <a:solidFill>
                  <a:srgbClr val="F3A160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3A160"/>
                </a:solidFill>
                <a:latin typeface="Calibri"/>
                <a:cs typeface="Calibri"/>
              </a:rPr>
              <a:t>Headline</a:t>
            </a:r>
            <a:r>
              <a:rPr sz="1000" b="1" spc="-10" dirty="0">
                <a:solidFill>
                  <a:srgbClr val="F3A160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3A160"/>
                </a:solidFill>
                <a:latin typeface="Calibri"/>
                <a:cs typeface="Calibri"/>
              </a:rPr>
              <a:t>result: </a:t>
            </a:r>
            <a:r>
              <a:rPr sz="950" dirty="0">
                <a:solidFill>
                  <a:srgbClr val="191F2B"/>
                </a:solidFill>
                <a:latin typeface="Calibri"/>
                <a:cs typeface="Calibri"/>
              </a:rPr>
              <a:t>A</a:t>
            </a:r>
            <a:r>
              <a:rPr sz="9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1F2B"/>
                </a:solidFill>
                <a:latin typeface="Calibri"/>
                <a:cs typeface="Calibri"/>
              </a:rPr>
              <a:t>7B</a:t>
            </a:r>
            <a:r>
              <a:rPr sz="9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1F2B"/>
                </a:solidFill>
                <a:latin typeface="Calibri"/>
                <a:cs typeface="Calibri"/>
              </a:rPr>
              <a:t>student</a:t>
            </a:r>
            <a:r>
              <a:rPr sz="9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950" spc="-30" dirty="0">
                <a:solidFill>
                  <a:srgbClr val="191F2B"/>
                </a:solidFill>
                <a:latin typeface="Calibri"/>
                <a:cs typeface="Calibri"/>
              </a:rPr>
              <a:t>(SFT-</a:t>
            </a:r>
            <a:r>
              <a:rPr sz="950" spc="-10" dirty="0">
                <a:solidFill>
                  <a:srgbClr val="191F2B"/>
                </a:solidFill>
                <a:latin typeface="Calibri"/>
                <a:cs typeface="Calibri"/>
              </a:rPr>
              <a:t>only, </a:t>
            </a:r>
            <a:r>
              <a:rPr sz="950" dirty="0">
                <a:solidFill>
                  <a:srgbClr val="191F2B"/>
                </a:solidFill>
                <a:latin typeface="Calibri"/>
                <a:cs typeface="Calibri"/>
              </a:rPr>
              <a:t>no</a:t>
            </a:r>
            <a:r>
              <a:rPr sz="9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1F2B"/>
                </a:solidFill>
                <a:latin typeface="Calibri"/>
                <a:cs typeface="Calibri"/>
              </a:rPr>
              <a:t>RL)</a:t>
            </a:r>
            <a:r>
              <a:rPr sz="9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1F2B"/>
                </a:solidFill>
                <a:latin typeface="Calibri"/>
                <a:cs typeface="Calibri"/>
              </a:rPr>
              <a:t>achieves</a:t>
            </a:r>
            <a:r>
              <a:rPr sz="9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1F2B"/>
                </a:solidFill>
                <a:latin typeface="Calibri"/>
                <a:cs typeface="Calibri"/>
              </a:rPr>
              <a:t>55.5%</a:t>
            </a:r>
            <a:r>
              <a:rPr sz="9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1F2B"/>
                </a:solidFill>
                <a:latin typeface="Calibri"/>
                <a:cs typeface="Calibri"/>
              </a:rPr>
              <a:t>on</a:t>
            </a:r>
            <a:r>
              <a:rPr sz="9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1F2B"/>
                </a:solidFill>
                <a:latin typeface="Calibri"/>
                <a:cs typeface="Calibri"/>
              </a:rPr>
              <a:t>AIME</a:t>
            </a:r>
            <a:r>
              <a:rPr sz="9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1F2B"/>
                </a:solidFill>
                <a:latin typeface="Calibri"/>
                <a:cs typeface="Calibri"/>
              </a:rPr>
              <a:t>2024</a:t>
            </a:r>
            <a:r>
              <a:rPr sz="9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1F2B"/>
                </a:solidFill>
                <a:latin typeface="Calibri"/>
                <a:cs typeface="Calibri"/>
              </a:rPr>
              <a:t>vs.</a:t>
            </a:r>
            <a:r>
              <a:rPr sz="95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950" spc="-35" dirty="0">
                <a:solidFill>
                  <a:srgbClr val="191F2B"/>
                </a:solidFill>
                <a:latin typeface="Calibri"/>
                <a:cs typeface="Calibri"/>
              </a:rPr>
              <a:t>GPT-</a:t>
            </a:r>
            <a:r>
              <a:rPr sz="950" dirty="0">
                <a:solidFill>
                  <a:srgbClr val="191F2B"/>
                </a:solidFill>
                <a:latin typeface="Calibri"/>
                <a:cs typeface="Calibri"/>
              </a:rPr>
              <a:t>4o's</a:t>
            </a:r>
            <a:r>
              <a:rPr sz="9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1F2B"/>
                </a:solidFill>
                <a:latin typeface="Calibri"/>
                <a:cs typeface="Calibri"/>
              </a:rPr>
              <a:t>56.7%</a:t>
            </a:r>
            <a:r>
              <a:rPr sz="9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1F2B"/>
                </a:solidFill>
                <a:latin typeface="Calibri"/>
                <a:cs typeface="Calibri"/>
              </a:rPr>
              <a:t>-</a:t>
            </a:r>
            <a:r>
              <a:rPr sz="950" spc="-10" dirty="0">
                <a:solidFill>
                  <a:srgbClr val="191F2B"/>
                </a:solidFill>
                <a:latin typeface="Calibri"/>
                <a:cs typeface="Calibri"/>
              </a:rPr>
              <a:t> near-</a:t>
            </a:r>
            <a:r>
              <a:rPr sz="950" dirty="0">
                <a:solidFill>
                  <a:srgbClr val="191F2B"/>
                </a:solidFill>
                <a:latin typeface="Calibri"/>
                <a:cs typeface="Calibri"/>
              </a:rPr>
              <a:t>parity</a:t>
            </a:r>
            <a:r>
              <a:rPr sz="95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1F2B"/>
                </a:solidFill>
                <a:latin typeface="Calibri"/>
                <a:cs typeface="Calibri"/>
              </a:rPr>
              <a:t>at</a:t>
            </a:r>
            <a:r>
              <a:rPr sz="9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1F2B"/>
                </a:solidFill>
                <a:latin typeface="Calibri"/>
                <a:cs typeface="Calibri"/>
              </a:rPr>
              <a:t>less</a:t>
            </a:r>
            <a:r>
              <a:rPr sz="9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1F2B"/>
                </a:solidFill>
                <a:latin typeface="Calibri"/>
                <a:cs typeface="Calibri"/>
              </a:rPr>
              <a:t>than</a:t>
            </a:r>
            <a:r>
              <a:rPr sz="950" spc="-10" dirty="0">
                <a:solidFill>
                  <a:srgbClr val="191F2B"/>
                </a:solidFill>
                <a:latin typeface="Calibri"/>
                <a:cs typeface="Calibri"/>
              </a:rPr>
              <a:t> 1/100th</a:t>
            </a:r>
            <a:r>
              <a:rPr sz="9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1F2B"/>
                </a:solidFill>
                <a:latin typeface="Calibri"/>
                <a:cs typeface="Calibri"/>
              </a:rPr>
              <a:t>of</a:t>
            </a:r>
            <a:r>
              <a:rPr sz="9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1F2B"/>
                </a:solidFill>
                <a:latin typeface="Calibri"/>
                <a:cs typeface="Calibri"/>
              </a:rPr>
              <a:t>the</a:t>
            </a:r>
            <a:r>
              <a:rPr sz="9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1F2B"/>
                </a:solidFill>
                <a:latin typeface="Calibri"/>
                <a:cs typeface="Calibri"/>
              </a:rPr>
              <a:t>teacher's parameter count.</a:t>
            </a:r>
            <a:r>
              <a:rPr sz="950" spc="-3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1F2B"/>
                </a:solidFill>
                <a:latin typeface="Calibri"/>
                <a:cs typeface="Calibri"/>
              </a:rPr>
              <a:t>The</a:t>
            </a:r>
            <a:r>
              <a:rPr sz="9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1F2B"/>
                </a:solidFill>
                <a:latin typeface="Calibri"/>
                <a:cs typeface="Calibri"/>
              </a:rPr>
              <a:t>14B,</a:t>
            </a:r>
            <a:r>
              <a:rPr sz="95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1F2B"/>
                </a:solidFill>
                <a:latin typeface="Calibri"/>
                <a:cs typeface="Calibri"/>
              </a:rPr>
              <a:t>32B,</a:t>
            </a:r>
            <a:r>
              <a:rPr sz="9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1F2B"/>
                </a:solidFill>
                <a:latin typeface="Calibri"/>
                <a:cs typeface="Calibri"/>
              </a:rPr>
              <a:t>and</a:t>
            </a:r>
            <a:r>
              <a:rPr sz="95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1F2B"/>
                </a:solidFill>
                <a:latin typeface="Calibri"/>
                <a:cs typeface="Calibri"/>
              </a:rPr>
              <a:t>70B</a:t>
            </a:r>
            <a:r>
              <a:rPr sz="950" spc="-3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1F2B"/>
                </a:solidFill>
                <a:latin typeface="Calibri"/>
                <a:cs typeface="Calibri"/>
              </a:rPr>
              <a:t>students</a:t>
            </a:r>
            <a:r>
              <a:rPr sz="95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1C45D"/>
                </a:solidFill>
                <a:latin typeface="Calibri"/>
                <a:cs typeface="Calibri"/>
              </a:rPr>
              <a:t>outperform</a:t>
            </a:r>
            <a:r>
              <a:rPr sz="950" b="1" spc="-20" dirty="0">
                <a:solidFill>
                  <a:srgbClr val="21C45D"/>
                </a:solidFill>
                <a:latin typeface="Calibri"/>
                <a:cs typeface="Calibri"/>
              </a:rPr>
              <a:t> </a:t>
            </a:r>
            <a:r>
              <a:rPr sz="950" b="1" spc="-25" dirty="0">
                <a:solidFill>
                  <a:srgbClr val="21C45D"/>
                </a:solidFill>
                <a:latin typeface="Calibri"/>
                <a:cs typeface="Calibri"/>
              </a:rPr>
              <a:t>GPT-</a:t>
            </a:r>
            <a:r>
              <a:rPr sz="950" b="1" dirty="0">
                <a:solidFill>
                  <a:srgbClr val="21C45D"/>
                </a:solidFill>
                <a:latin typeface="Calibri"/>
                <a:cs typeface="Calibri"/>
              </a:rPr>
              <a:t>4o</a:t>
            </a:r>
            <a:r>
              <a:rPr sz="950" b="1" spc="-30" dirty="0">
                <a:solidFill>
                  <a:srgbClr val="21C45D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1F2B"/>
                </a:solidFill>
                <a:latin typeface="Calibri"/>
                <a:cs typeface="Calibri"/>
              </a:rPr>
              <a:t>on</a:t>
            </a:r>
            <a:r>
              <a:rPr sz="95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1F2B"/>
                </a:solidFill>
                <a:latin typeface="Calibri"/>
                <a:cs typeface="Calibri"/>
              </a:rPr>
              <a:t>the</a:t>
            </a:r>
            <a:r>
              <a:rPr sz="9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191F2B"/>
                </a:solidFill>
                <a:latin typeface="Calibri"/>
                <a:cs typeface="Calibri"/>
              </a:rPr>
              <a:t>same</a:t>
            </a:r>
            <a:r>
              <a:rPr sz="9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191F2B"/>
                </a:solidFill>
                <a:latin typeface="Calibri"/>
                <a:cs typeface="Calibri"/>
              </a:rPr>
              <a:t>benchmark.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10" dirty="0"/>
              <a:t>Knowledge</a:t>
            </a:r>
            <a:r>
              <a:rPr dirty="0"/>
              <a:t> </a:t>
            </a:r>
            <a:r>
              <a:rPr spc="-10" dirty="0"/>
              <a:t>Distillation</a:t>
            </a:r>
            <a:r>
              <a:rPr spc="-5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LLMs</a:t>
            </a:r>
            <a:r>
              <a:rPr spc="170" dirty="0"/>
              <a:t> </a:t>
            </a:r>
            <a:r>
              <a:rPr dirty="0"/>
              <a:t>|</a:t>
            </a:r>
            <a:r>
              <a:rPr spc="180" dirty="0"/>
              <a:t> </a:t>
            </a:r>
            <a:r>
              <a:rPr spc="-10" dirty="0"/>
              <a:t>Manisa</a:t>
            </a:r>
            <a:r>
              <a:rPr spc="-5" dirty="0"/>
              <a:t> </a:t>
            </a:r>
            <a:r>
              <a:rPr dirty="0"/>
              <a:t>Celal </a:t>
            </a:r>
            <a:r>
              <a:rPr spc="-10" dirty="0"/>
              <a:t>Bayar</a:t>
            </a:r>
            <a:r>
              <a:rPr spc="-5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9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18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61264" y="4767023"/>
            <a:ext cx="1821814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i="1" spc="-60" dirty="0">
                <a:solidFill>
                  <a:srgbClr val="63738A"/>
                </a:solidFill>
                <a:latin typeface="Arial"/>
                <a:cs typeface="Arial"/>
              </a:rPr>
              <a:t>Source:</a:t>
            </a:r>
            <a:r>
              <a:rPr sz="750" i="1" spc="10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750" i="1" spc="-70" dirty="0">
                <a:solidFill>
                  <a:srgbClr val="63738A"/>
                </a:solidFill>
                <a:latin typeface="Arial"/>
                <a:cs typeface="Arial"/>
              </a:rPr>
              <a:t>DeepSeek-</a:t>
            </a:r>
            <a:r>
              <a:rPr sz="750" i="1" spc="-50" dirty="0">
                <a:solidFill>
                  <a:srgbClr val="63738A"/>
                </a:solidFill>
                <a:latin typeface="Arial"/>
                <a:cs typeface="Arial"/>
              </a:rPr>
              <a:t>AI</a:t>
            </a:r>
            <a:r>
              <a:rPr sz="750" i="1" spc="10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750" i="1" spc="-35" dirty="0">
                <a:solidFill>
                  <a:srgbClr val="63738A"/>
                </a:solidFill>
                <a:latin typeface="Arial"/>
                <a:cs typeface="Arial"/>
              </a:rPr>
              <a:t>(2025),</a:t>
            </a:r>
            <a:r>
              <a:rPr sz="750" i="1" spc="10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750" i="1" spc="-25" dirty="0">
                <a:solidFill>
                  <a:srgbClr val="63738A"/>
                </a:solidFill>
                <a:latin typeface="Arial"/>
                <a:cs typeface="Arial"/>
              </a:rPr>
              <a:t>arXiv:2501.12948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0" dirty="0"/>
              <a:t>Black-</a:t>
            </a:r>
            <a:r>
              <a:rPr sz="2000" dirty="0"/>
              <a:t>Box</a:t>
            </a:r>
            <a:r>
              <a:rPr sz="2000" spc="-20" dirty="0"/>
              <a:t> </a:t>
            </a:r>
            <a:r>
              <a:rPr sz="2000" dirty="0"/>
              <a:t>&amp;</a:t>
            </a:r>
            <a:r>
              <a:rPr sz="2000" spc="-30" dirty="0"/>
              <a:t> </a:t>
            </a:r>
            <a:r>
              <a:rPr sz="2000" spc="-10" dirty="0"/>
              <a:t>API-</a:t>
            </a:r>
            <a:r>
              <a:rPr sz="2000" dirty="0"/>
              <a:t>Based</a:t>
            </a:r>
            <a:r>
              <a:rPr sz="2000" spc="-20" dirty="0"/>
              <a:t> </a:t>
            </a:r>
            <a:r>
              <a:rPr sz="2000" spc="-10" dirty="0"/>
              <a:t>Distillation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6136094" y="232107"/>
            <a:ext cx="26974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spc="-65" dirty="0">
                <a:solidFill>
                  <a:srgbClr val="00C1CA"/>
                </a:solidFill>
                <a:latin typeface="Arial"/>
                <a:cs typeface="Arial"/>
              </a:rPr>
              <a:t>04</a:t>
            </a:r>
            <a:r>
              <a:rPr sz="1100" i="1" spc="-30" dirty="0">
                <a:solidFill>
                  <a:srgbClr val="00C1CA"/>
                </a:solidFill>
                <a:latin typeface="Arial"/>
                <a:cs typeface="Arial"/>
              </a:rPr>
              <a:t> -</a:t>
            </a:r>
            <a:r>
              <a:rPr sz="1100" i="1" spc="-3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70" dirty="0">
                <a:solidFill>
                  <a:srgbClr val="00C1CA"/>
                </a:solidFill>
                <a:latin typeface="Arial"/>
                <a:cs typeface="Arial"/>
              </a:rPr>
              <a:t>When</a:t>
            </a:r>
            <a:r>
              <a:rPr sz="1100" i="1" spc="-3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90" dirty="0">
                <a:solidFill>
                  <a:srgbClr val="00C1CA"/>
                </a:solidFill>
                <a:latin typeface="Arial"/>
                <a:cs typeface="Arial"/>
              </a:rPr>
              <a:t>Teacher</a:t>
            </a:r>
            <a:r>
              <a:rPr sz="1100" i="1" spc="-40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65" dirty="0">
                <a:solidFill>
                  <a:srgbClr val="00C1CA"/>
                </a:solidFill>
                <a:latin typeface="Arial"/>
                <a:cs typeface="Arial"/>
              </a:rPr>
              <a:t>Parameters</a:t>
            </a:r>
            <a:r>
              <a:rPr sz="1100" i="1" spc="-30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65" dirty="0">
                <a:solidFill>
                  <a:srgbClr val="00C1CA"/>
                </a:solidFill>
                <a:latin typeface="Arial"/>
                <a:cs typeface="Arial"/>
              </a:rPr>
              <a:t>Are</a:t>
            </a:r>
            <a:r>
              <a:rPr sz="1100" i="1" spc="-30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rgbClr val="00C1CA"/>
                </a:solidFill>
                <a:latin typeface="Arial"/>
                <a:cs typeface="Arial"/>
              </a:rPr>
              <a:t>Inaccessible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6705" y="804242"/>
            <a:ext cx="9156700" cy="4345940"/>
            <a:chOff x="-6705" y="804242"/>
            <a:chExt cx="9156700" cy="4345940"/>
          </a:xfrm>
        </p:grpSpPr>
        <p:sp>
          <p:nvSpPr>
            <p:cNvPr id="5" name="object 5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631" y="0"/>
                  </a:moveTo>
                  <a:lnTo>
                    <a:pt x="0" y="0"/>
                  </a:lnTo>
                  <a:lnTo>
                    <a:pt x="0" y="251282"/>
                  </a:lnTo>
                  <a:lnTo>
                    <a:pt x="4572000" y="251282"/>
                  </a:lnTo>
                  <a:lnTo>
                    <a:pt x="9143631" y="251282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4572000" y="251282"/>
                  </a:moveTo>
                  <a:lnTo>
                    <a:pt x="0" y="251282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251282"/>
                  </a:lnTo>
                  <a:lnTo>
                    <a:pt x="4572000" y="251282"/>
                  </a:lnTo>
                  <a:close/>
                </a:path>
              </a:pathLst>
            </a:custGeom>
            <a:ln w="12599">
              <a:solidFill>
                <a:srgbClr val="0C1A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3964" y="804242"/>
              <a:ext cx="8595360" cy="457200"/>
            </a:xfrm>
            <a:custGeom>
              <a:avLst/>
              <a:gdLst/>
              <a:ahLst/>
              <a:cxnLst/>
              <a:rect l="l" t="t" r="r" b="b"/>
              <a:pathLst>
                <a:path w="8595360" h="457200">
                  <a:moveTo>
                    <a:pt x="8594991" y="0"/>
                  </a:moveTo>
                  <a:lnTo>
                    <a:pt x="0" y="0"/>
                  </a:lnTo>
                  <a:lnTo>
                    <a:pt x="0" y="456844"/>
                  </a:lnTo>
                  <a:lnTo>
                    <a:pt x="4297680" y="456844"/>
                  </a:lnTo>
                  <a:lnTo>
                    <a:pt x="8594991" y="456844"/>
                  </a:lnTo>
                  <a:lnTo>
                    <a:pt x="8594991" y="0"/>
                  </a:lnTo>
                  <a:close/>
                </a:path>
              </a:pathLst>
            </a:custGeom>
            <a:solidFill>
              <a:srgbClr val="1A39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3964" y="804242"/>
            <a:ext cx="8595360" cy="457200"/>
          </a:xfrm>
          <a:prstGeom prst="rect">
            <a:avLst/>
          </a:prstGeom>
          <a:ln w="12599">
            <a:solidFill>
              <a:srgbClr val="1A396A"/>
            </a:solidFill>
          </a:ln>
        </p:spPr>
        <p:txBody>
          <a:bodyPr vert="horz" wrap="square" lIns="0" tIns="90805" rIns="0" bIns="0" rtlCol="0">
            <a:spAutoFit/>
          </a:bodyPr>
          <a:lstStyle/>
          <a:p>
            <a:pPr marL="226695" marR="426084">
              <a:lnSpc>
                <a:spcPct val="100000"/>
              </a:lnSpc>
              <a:spcBef>
                <a:spcPts val="715"/>
              </a:spcBef>
            </a:pPr>
            <a:r>
              <a:rPr sz="900" i="1" spc="-4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9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FFFFFF"/>
                </a:solidFill>
                <a:latin typeface="Arial"/>
                <a:cs typeface="Arial"/>
              </a:rPr>
              <a:t>many</a:t>
            </a:r>
            <a:r>
              <a:rPr sz="9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FFFFFF"/>
                </a:solidFill>
                <a:latin typeface="Arial"/>
                <a:cs typeface="Arial"/>
              </a:rPr>
              <a:t>real-</a:t>
            </a:r>
            <a:r>
              <a:rPr sz="900" i="1" spc="-25" dirty="0">
                <a:solidFill>
                  <a:srgbClr val="FFFFFF"/>
                </a:solidFill>
                <a:latin typeface="Arial"/>
                <a:cs typeface="Arial"/>
              </a:rPr>
              <a:t>world</a:t>
            </a:r>
            <a:r>
              <a:rPr sz="900" i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FFFFFF"/>
                </a:solidFill>
                <a:latin typeface="Arial"/>
                <a:cs typeface="Arial"/>
              </a:rPr>
              <a:t>seṄngs,</a:t>
            </a:r>
            <a:r>
              <a:rPr sz="9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FFFFFF"/>
                </a:solidFill>
                <a:latin typeface="Arial"/>
                <a:cs typeface="Arial"/>
              </a:rPr>
              <a:t>teacher</a:t>
            </a:r>
            <a:r>
              <a:rPr sz="9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sz="9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FFFFFF"/>
                </a:solidFill>
                <a:latin typeface="Arial"/>
                <a:cs typeface="Arial"/>
              </a:rPr>
              <a:t>parameters</a:t>
            </a:r>
            <a:r>
              <a:rPr sz="900" i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9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FFFFFF"/>
                </a:solidFill>
                <a:latin typeface="Arial"/>
                <a:cs typeface="Arial"/>
              </a:rPr>
              <a:t>inaccessible</a:t>
            </a:r>
            <a:r>
              <a:rPr sz="9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9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FFFFFF"/>
                </a:solidFill>
                <a:latin typeface="Arial"/>
                <a:cs typeface="Arial"/>
              </a:rPr>
              <a:t>only</a:t>
            </a:r>
            <a:r>
              <a:rPr sz="9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9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9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Arial"/>
                <a:cs typeface="Arial"/>
              </a:rPr>
              <a:t>outputs</a:t>
            </a:r>
            <a:r>
              <a:rPr sz="9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900" i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9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40" dirty="0">
                <a:solidFill>
                  <a:srgbClr val="FFFFFF"/>
                </a:solidFill>
                <a:latin typeface="Arial"/>
                <a:cs typeface="Arial"/>
              </a:rPr>
              <a:t>queried.</a:t>
            </a:r>
            <a:r>
              <a:rPr sz="9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65" dirty="0">
                <a:solidFill>
                  <a:srgbClr val="FFFFFF"/>
                </a:solidFill>
                <a:latin typeface="Arial"/>
                <a:cs typeface="Arial"/>
              </a:rPr>
              <a:t>Black-</a:t>
            </a:r>
            <a:r>
              <a:rPr sz="900" i="1" spc="-60" dirty="0">
                <a:solidFill>
                  <a:srgbClr val="FFFFFF"/>
                </a:solidFill>
                <a:latin typeface="Arial"/>
                <a:cs typeface="Arial"/>
              </a:rPr>
              <a:t>box</a:t>
            </a:r>
            <a:r>
              <a:rPr sz="900" i="1" spc="-20" dirty="0">
                <a:solidFill>
                  <a:srgbClr val="FFFFFF"/>
                </a:solidFill>
                <a:latin typeface="Arial"/>
                <a:cs typeface="Arial"/>
              </a:rPr>
              <a:t> distillation</a:t>
            </a:r>
            <a:r>
              <a:rPr sz="9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9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60" dirty="0">
                <a:solidFill>
                  <a:srgbClr val="FFFFFF"/>
                </a:solidFill>
                <a:latin typeface="Arial"/>
                <a:cs typeface="Arial"/>
              </a:rPr>
              <a:t>designed</a:t>
            </a:r>
            <a:r>
              <a:rPr sz="9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9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sz="9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35" dirty="0">
                <a:solidFill>
                  <a:srgbClr val="FFFFFF"/>
                </a:solidFill>
                <a:latin typeface="Arial"/>
                <a:cs typeface="Arial"/>
              </a:rPr>
              <a:t>seṄng</a:t>
            </a:r>
            <a:r>
              <a:rPr sz="9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9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55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9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FFFFFF"/>
                </a:solidFill>
                <a:latin typeface="Arial"/>
                <a:cs typeface="Arial"/>
              </a:rPr>
              <a:t>surprisingly </a:t>
            </a:r>
            <a:r>
              <a:rPr sz="900" i="1" spc="-35" dirty="0">
                <a:solidFill>
                  <a:srgbClr val="FFFFFF"/>
                </a:solidFill>
                <a:latin typeface="Arial"/>
                <a:cs typeface="Arial"/>
              </a:rPr>
              <a:t>competitive</a:t>
            </a:r>
            <a:r>
              <a:rPr sz="9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900" i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FFFFFF"/>
                </a:solidFill>
                <a:latin typeface="Arial"/>
                <a:cs typeface="Arial"/>
              </a:rPr>
              <a:t>white-</a:t>
            </a:r>
            <a:r>
              <a:rPr sz="900" i="1" spc="-60" dirty="0">
                <a:solidFill>
                  <a:srgbClr val="FFFFFF"/>
                </a:solidFill>
                <a:latin typeface="Arial"/>
                <a:cs typeface="Arial"/>
              </a:rPr>
              <a:t>box</a:t>
            </a:r>
            <a:r>
              <a:rPr sz="9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50" dirty="0">
                <a:solidFill>
                  <a:srgbClr val="FFFFFF"/>
                </a:solidFill>
                <a:latin typeface="Arial"/>
                <a:cs typeface="Arial"/>
              </a:rPr>
              <a:t>methods</a:t>
            </a:r>
            <a:r>
              <a:rPr sz="9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FFFFFF"/>
                </a:solidFill>
                <a:latin typeface="Arial"/>
                <a:cs typeface="Arial"/>
              </a:rPr>
              <a:t>when</a:t>
            </a:r>
            <a:r>
              <a:rPr sz="9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9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45" dirty="0">
                <a:solidFill>
                  <a:srgbClr val="FFFFFF"/>
                </a:solidFill>
                <a:latin typeface="Arial"/>
                <a:cs typeface="Arial"/>
              </a:rPr>
              <a:t>volume</a:t>
            </a:r>
            <a:r>
              <a:rPr sz="9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55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9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FFFFFF"/>
                </a:solidFill>
                <a:latin typeface="Arial"/>
                <a:cs typeface="Arial"/>
              </a:rPr>
              <a:t>sufficient.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36804" y="1268630"/>
            <a:ext cx="4474210" cy="3422015"/>
            <a:chOff x="136804" y="1268630"/>
            <a:chExt cx="4474210" cy="342201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804" y="1268630"/>
              <a:ext cx="4473714" cy="342181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74320" y="1352882"/>
              <a:ext cx="4251960" cy="3200400"/>
            </a:xfrm>
            <a:custGeom>
              <a:avLst/>
              <a:gdLst/>
              <a:ahLst/>
              <a:cxnLst/>
              <a:rect l="l" t="t" r="r" b="b"/>
              <a:pathLst>
                <a:path w="4251960" h="3200400">
                  <a:moveTo>
                    <a:pt x="4251604" y="0"/>
                  </a:moveTo>
                  <a:lnTo>
                    <a:pt x="0" y="0"/>
                  </a:lnTo>
                  <a:lnTo>
                    <a:pt x="0" y="3200044"/>
                  </a:lnTo>
                  <a:lnTo>
                    <a:pt x="2125802" y="3200044"/>
                  </a:lnTo>
                  <a:lnTo>
                    <a:pt x="4251604" y="3200044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320" y="1352882"/>
              <a:ext cx="4251960" cy="3200400"/>
            </a:xfrm>
            <a:custGeom>
              <a:avLst/>
              <a:gdLst/>
              <a:ahLst/>
              <a:cxnLst/>
              <a:rect l="l" t="t" r="r" b="b"/>
              <a:pathLst>
                <a:path w="4251960" h="3200400">
                  <a:moveTo>
                    <a:pt x="2125802" y="3200044"/>
                  </a:moveTo>
                  <a:lnTo>
                    <a:pt x="0" y="3200044"/>
                  </a:lnTo>
                  <a:lnTo>
                    <a:pt x="0" y="0"/>
                  </a:lnTo>
                  <a:lnTo>
                    <a:pt x="4251604" y="0"/>
                  </a:lnTo>
                  <a:lnTo>
                    <a:pt x="4251604" y="3200044"/>
                  </a:lnTo>
                  <a:lnTo>
                    <a:pt x="2125802" y="3200044"/>
                  </a:lnTo>
                  <a:close/>
                </a:path>
              </a:pathLst>
            </a:custGeom>
            <a:ln w="1907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4320" y="1353237"/>
              <a:ext cx="4251960" cy="292735"/>
            </a:xfrm>
            <a:custGeom>
              <a:avLst/>
              <a:gdLst/>
              <a:ahLst/>
              <a:cxnLst/>
              <a:rect l="l" t="t" r="r" b="b"/>
              <a:pathLst>
                <a:path w="4251960" h="292735">
                  <a:moveTo>
                    <a:pt x="4251604" y="0"/>
                  </a:moveTo>
                  <a:lnTo>
                    <a:pt x="0" y="0"/>
                  </a:lnTo>
                  <a:lnTo>
                    <a:pt x="0" y="292328"/>
                  </a:lnTo>
                  <a:lnTo>
                    <a:pt x="2125802" y="292328"/>
                  </a:lnTo>
                  <a:lnTo>
                    <a:pt x="4251604" y="292328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4320" y="1353237"/>
              <a:ext cx="4251960" cy="292735"/>
            </a:xfrm>
            <a:custGeom>
              <a:avLst/>
              <a:gdLst/>
              <a:ahLst/>
              <a:cxnLst/>
              <a:rect l="l" t="t" r="r" b="b"/>
              <a:pathLst>
                <a:path w="4251960" h="292735">
                  <a:moveTo>
                    <a:pt x="2125802" y="292328"/>
                  </a:moveTo>
                  <a:lnTo>
                    <a:pt x="0" y="292328"/>
                  </a:lnTo>
                  <a:lnTo>
                    <a:pt x="0" y="0"/>
                  </a:lnTo>
                  <a:lnTo>
                    <a:pt x="4251604" y="0"/>
                  </a:lnTo>
                  <a:lnTo>
                    <a:pt x="4251604" y="292328"/>
                  </a:lnTo>
                  <a:lnTo>
                    <a:pt x="2125802" y="292328"/>
                  </a:lnTo>
                  <a:close/>
                </a:path>
              </a:pathLst>
            </a:custGeom>
            <a:ln w="1259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2704" y="1719620"/>
            <a:ext cx="2164715" cy="122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1A396A"/>
                </a:solidFill>
                <a:latin typeface="Calibri"/>
                <a:cs typeface="Calibri"/>
              </a:rPr>
              <a:t>Requirements:</a:t>
            </a:r>
            <a:endParaRPr sz="900">
              <a:latin typeface="Calibri"/>
              <a:cs typeface="Calibri"/>
            </a:endParaRPr>
          </a:p>
          <a:p>
            <a:pPr marL="67945" indent="-55244">
              <a:lnSpc>
                <a:spcPct val="100000"/>
              </a:lnSpc>
              <a:spcBef>
                <a:spcPts val="605"/>
              </a:spcBef>
              <a:buChar char="-"/>
              <a:tabLst>
                <a:tab pos="67945" algn="l"/>
              </a:tabLst>
            </a:pP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Full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teacher parameters accessible</a:t>
            </a:r>
            <a:endParaRPr sz="850">
              <a:latin typeface="Calibri"/>
              <a:cs typeface="Calibri"/>
            </a:endParaRPr>
          </a:p>
          <a:p>
            <a:pPr marL="67945" indent="-55244">
              <a:lnSpc>
                <a:spcPct val="100000"/>
              </a:lnSpc>
              <a:spcBef>
                <a:spcPts val="565"/>
              </a:spcBef>
              <a:buChar char="-"/>
              <a:tabLst>
                <a:tab pos="67945" algn="l"/>
              </a:tabLst>
            </a:pP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Intermediate</a:t>
            </a:r>
            <a:r>
              <a:rPr sz="8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layer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activations</a:t>
            </a:r>
            <a:r>
              <a:rPr sz="85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available</a:t>
            </a:r>
            <a:endParaRPr sz="850">
              <a:latin typeface="Calibri"/>
              <a:cs typeface="Calibri"/>
            </a:endParaRPr>
          </a:p>
          <a:p>
            <a:pPr marL="67945" indent="-55244">
              <a:lnSpc>
                <a:spcPct val="100000"/>
              </a:lnSpc>
              <a:spcBef>
                <a:spcPts val="565"/>
              </a:spcBef>
              <a:buChar char="-"/>
              <a:tabLst>
                <a:tab pos="67945" algn="l"/>
              </a:tabLst>
            </a:pP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Attention</a:t>
            </a:r>
            <a:r>
              <a:rPr sz="85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matrices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and</a:t>
            </a:r>
            <a:r>
              <a:rPr sz="85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hidden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states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accessible</a:t>
            </a:r>
            <a:endParaRPr sz="850">
              <a:latin typeface="Calibri"/>
              <a:cs typeface="Calibri"/>
            </a:endParaRPr>
          </a:p>
          <a:p>
            <a:pPr marL="67945" indent="-55244">
              <a:lnSpc>
                <a:spcPct val="100000"/>
              </a:lnSpc>
              <a:spcBef>
                <a:spcPts val="560"/>
              </a:spcBef>
              <a:buChar char="-"/>
              <a:tabLst>
                <a:tab pos="67945" algn="l"/>
              </a:tabLst>
            </a:pP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Gradient</a:t>
            </a:r>
            <a:r>
              <a:rPr sz="8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flow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computation possible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900" b="1" dirty="0">
                <a:solidFill>
                  <a:srgbClr val="1A396A"/>
                </a:solidFill>
                <a:latin typeface="Calibri"/>
                <a:cs typeface="Calibri"/>
              </a:rPr>
              <a:t>Key</a:t>
            </a:r>
            <a:r>
              <a:rPr sz="900" b="1" spc="-35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1A396A"/>
                </a:solidFill>
                <a:latin typeface="Calibri"/>
                <a:cs typeface="Calibri"/>
              </a:rPr>
              <a:t>Methods: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65404" y="2980806"/>
            <a:ext cx="4023360" cy="887094"/>
          </a:xfrm>
          <a:custGeom>
            <a:avLst/>
            <a:gdLst/>
            <a:ahLst/>
            <a:cxnLst/>
            <a:rect l="l" t="t" r="r" b="b"/>
            <a:pathLst>
              <a:path w="4023360" h="887095">
                <a:moveTo>
                  <a:pt x="4022991" y="685800"/>
                </a:moveTo>
                <a:lnTo>
                  <a:pt x="0" y="685800"/>
                </a:lnTo>
                <a:lnTo>
                  <a:pt x="0" y="886675"/>
                </a:lnTo>
                <a:lnTo>
                  <a:pt x="2011680" y="886675"/>
                </a:lnTo>
                <a:lnTo>
                  <a:pt x="4022991" y="886675"/>
                </a:lnTo>
                <a:lnTo>
                  <a:pt x="4022991" y="685800"/>
                </a:lnTo>
                <a:close/>
              </a:path>
              <a:path w="4023360" h="887095">
                <a:moveTo>
                  <a:pt x="4022991" y="457200"/>
                </a:moveTo>
                <a:lnTo>
                  <a:pt x="0" y="457200"/>
                </a:lnTo>
                <a:lnTo>
                  <a:pt x="0" y="658075"/>
                </a:lnTo>
                <a:lnTo>
                  <a:pt x="2011680" y="658075"/>
                </a:lnTo>
                <a:lnTo>
                  <a:pt x="4022991" y="658075"/>
                </a:lnTo>
                <a:lnTo>
                  <a:pt x="4022991" y="457200"/>
                </a:lnTo>
                <a:close/>
              </a:path>
              <a:path w="4023360" h="887095">
                <a:moveTo>
                  <a:pt x="4022991" y="228600"/>
                </a:moveTo>
                <a:lnTo>
                  <a:pt x="0" y="228600"/>
                </a:lnTo>
                <a:lnTo>
                  <a:pt x="0" y="429475"/>
                </a:lnTo>
                <a:lnTo>
                  <a:pt x="2011680" y="429475"/>
                </a:lnTo>
                <a:lnTo>
                  <a:pt x="4022991" y="429475"/>
                </a:lnTo>
                <a:lnTo>
                  <a:pt x="4022991" y="228600"/>
                </a:lnTo>
                <a:close/>
              </a:path>
              <a:path w="4023360" h="887095">
                <a:moveTo>
                  <a:pt x="4022991" y="0"/>
                </a:moveTo>
                <a:lnTo>
                  <a:pt x="0" y="0"/>
                </a:lnTo>
                <a:lnTo>
                  <a:pt x="0" y="200875"/>
                </a:lnTo>
                <a:lnTo>
                  <a:pt x="2011680" y="200875"/>
                </a:lnTo>
                <a:lnTo>
                  <a:pt x="4022991" y="200875"/>
                </a:lnTo>
                <a:lnTo>
                  <a:pt x="4022991" y="0"/>
                </a:lnTo>
                <a:close/>
              </a:path>
            </a:pathLst>
          </a:custGeom>
          <a:solidFill>
            <a:srgbClr val="21C45D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362164" y="2977566"/>
          <a:ext cx="4022725" cy="8864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22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4629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TinyBERT</a:t>
                      </a:r>
                      <a:r>
                        <a:rPr sz="85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attention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alignment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21C45D"/>
                      </a:solidFill>
                      <a:prstDash val="solid"/>
                    </a:lnL>
                    <a:lnR w="9525">
                      <a:solidFill>
                        <a:srgbClr val="21C45D"/>
                      </a:solidFill>
                      <a:prstDash val="solid"/>
                    </a:lnR>
                    <a:lnT w="9525">
                      <a:solidFill>
                        <a:srgbClr val="21C45D"/>
                      </a:solidFill>
                      <a:prstDash val="solid"/>
                    </a:lnT>
                    <a:lnB w="9525">
                      <a:solidFill>
                        <a:srgbClr val="21C45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FitNets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hint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layer matching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9525">
                      <a:solidFill>
                        <a:srgbClr val="21C45D"/>
                      </a:solidFill>
                      <a:prstDash val="solid"/>
                    </a:lnL>
                    <a:lnR w="9525">
                      <a:solidFill>
                        <a:srgbClr val="21C45D"/>
                      </a:solidFill>
                      <a:prstDash val="solid"/>
                    </a:lnR>
                    <a:lnT w="9525">
                      <a:solidFill>
                        <a:srgbClr val="21C45D"/>
                      </a:solidFill>
                      <a:prstDash val="solid"/>
                    </a:lnT>
                    <a:lnB w="9525">
                      <a:solidFill>
                        <a:srgbClr val="21C45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MiniLM</a:t>
                      </a:r>
                      <a:r>
                        <a:rPr sz="85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self-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attention distillation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9525">
                      <a:solidFill>
                        <a:srgbClr val="21C45D"/>
                      </a:solidFill>
                      <a:prstDash val="solid"/>
                    </a:lnL>
                    <a:lnR w="9525">
                      <a:solidFill>
                        <a:srgbClr val="21C45D"/>
                      </a:solidFill>
                      <a:prstDash val="solid"/>
                    </a:lnR>
                    <a:lnT w="9525">
                      <a:solidFill>
                        <a:srgbClr val="21C45D"/>
                      </a:solidFill>
                      <a:prstDash val="solid"/>
                    </a:lnT>
                    <a:lnB w="9525">
                      <a:solidFill>
                        <a:srgbClr val="21C45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SeqKD</a:t>
                      </a:r>
                      <a:r>
                        <a:rPr sz="85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sequence-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level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token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distribution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9525">
                      <a:solidFill>
                        <a:srgbClr val="21C45D"/>
                      </a:solidFill>
                      <a:prstDash val="solid"/>
                    </a:lnL>
                    <a:lnR w="9525">
                      <a:solidFill>
                        <a:srgbClr val="21C45D"/>
                      </a:solidFill>
                      <a:prstDash val="solid"/>
                    </a:lnR>
                    <a:lnT w="9525">
                      <a:solidFill>
                        <a:srgbClr val="21C45D"/>
                      </a:solidFill>
                      <a:prstDash val="solid"/>
                    </a:lnT>
                    <a:lnB w="9525">
                      <a:solidFill>
                        <a:srgbClr val="21C45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385457" y="4214776"/>
            <a:ext cx="3453129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-30" dirty="0">
                <a:solidFill>
                  <a:srgbClr val="63738A"/>
                </a:solidFill>
                <a:latin typeface="Arial"/>
                <a:cs typeface="Arial"/>
              </a:rPr>
              <a:t>Maximum</a:t>
            </a:r>
            <a:r>
              <a:rPr sz="800" i="1" spc="5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800" i="1" spc="-20" dirty="0">
                <a:solidFill>
                  <a:srgbClr val="63738A"/>
                </a:solidFill>
                <a:latin typeface="Arial"/>
                <a:cs typeface="Arial"/>
              </a:rPr>
              <a:t>information</a:t>
            </a:r>
            <a:r>
              <a:rPr sz="800" i="1" spc="5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800" i="1" spc="-35" dirty="0">
                <a:solidFill>
                  <a:srgbClr val="63738A"/>
                </a:solidFill>
                <a:latin typeface="Arial"/>
                <a:cs typeface="Arial"/>
              </a:rPr>
              <a:t>transfer.</a:t>
            </a:r>
            <a:r>
              <a:rPr sz="800" i="1" spc="-5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800" i="1" spc="-65" dirty="0">
                <a:solidFill>
                  <a:srgbClr val="63738A"/>
                </a:solidFill>
                <a:latin typeface="Arial"/>
                <a:cs typeface="Arial"/>
              </a:rPr>
              <a:t>Requires</a:t>
            </a:r>
            <a:r>
              <a:rPr sz="800" i="1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800" i="1" spc="-50" dirty="0">
                <a:solidFill>
                  <a:srgbClr val="63738A"/>
                </a:solidFill>
                <a:latin typeface="Arial"/>
                <a:cs typeface="Arial"/>
              </a:rPr>
              <a:t>open-</a:t>
            </a:r>
            <a:r>
              <a:rPr sz="800" i="1" spc="-60" dirty="0">
                <a:solidFill>
                  <a:srgbClr val="63738A"/>
                </a:solidFill>
                <a:latin typeface="Arial"/>
                <a:cs typeface="Arial"/>
              </a:rPr>
              <a:t>source</a:t>
            </a:r>
            <a:r>
              <a:rPr sz="800" i="1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800" i="1" spc="-20" dirty="0">
                <a:solidFill>
                  <a:srgbClr val="63738A"/>
                </a:solidFill>
                <a:latin typeface="Arial"/>
                <a:cs typeface="Arial"/>
              </a:rPr>
              <a:t>or</a:t>
            </a:r>
            <a:r>
              <a:rPr sz="800" i="1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800" i="1" spc="-40" dirty="0">
                <a:solidFill>
                  <a:srgbClr val="63738A"/>
                </a:solidFill>
                <a:latin typeface="Arial"/>
                <a:cs typeface="Arial"/>
              </a:rPr>
              <a:t>self-</a:t>
            </a:r>
            <a:r>
              <a:rPr sz="800" i="1" spc="-50" dirty="0">
                <a:solidFill>
                  <a:srgbClr val="63738A"/>
                </a:solidFill>
                <a:latin typeface="Arial"/>
                <a:cs typeface="Arial"/>
              </a:rPr>
              <a:t>hosted</a:t>
            </a:r>
            <a:r>
              <a:rPr sz="800" i="1" spc="-10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800" i="1" spc="-40" dirty="0">
                <a:solidFill>
                  <a:srgbClr val="63738A"/>
                </a:solidFill>
                <a:latin typeface="Arial"/>
                <a:cs typeface="Arial"/>
              </a:rPr>
              <a:t>teacher</a:t>
            </a:r>
            <a:r>
              <a:rPr sz="800" i="1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800" i="1" spc="-10" dirty="0">
                <a:solidFill>
                  <a:srgbClr val="63738A"/>
                </a:solidFill>
                <a:latin typeface="Arial"/>
                <a:cs typeface="Arial"/>
              </a:rPr>
              <a:t>model.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571644" y="1268630"/>
            <a:ext cx="4474210" cy="3422015"/>
            <a:chOff x="4571644" y="1268630"/>
            <a:chExt cx="4474210" cy="342201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1644" y="1268630"/>
              <a:ext cx="4473714" cy="342181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709159" y="1352882"/>
              <a:ext cx="4251960" cy="3200400"/>
            </a:xfrm>
            <a:custGeom>
              <a:avLst/>
              <a:gdLst/>
              <a:ahLst/>
              <a:cxnLst/>
              <a:rect l="l" t="t" r="r" b="b"/>
              <a:pathLst>
                <a:path w="4251959" h="3200400">
                  <a:moveTo>
                    <a:pt x="4251604" y="0"/>
                  </a:moveTo>
                  <a:lnTo>
                    <a:pt x="0" y="0"/>
                  </a:lnTo>
                  <a:lnTo>
                    <a:pt x="0" y="3200044"/>
                  </a:lnTo>
                  <a:lnTo>
                    <a:pt x="2125802" y="3200044"/>
                  </a:lnTo>
                  <a:lnTo>
                    <a:pt x="4251604" y="3200044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709159" y="1352882"/>
              <a:ext cx="4251960" cy="3200400"/>
            </a:xfrm>
            <a:custGeom>
              <a:avLst/>
              <a:gdLst/>
              <a:ahLst/>
              <a:cxnLst/>
              <a:rect l="l" t="t" r="r" b="b"/>
              <a:pathLst>
                <a:path w="4251959" h="3200400">
                  <a:moveTo>
                    <a:pt x="2125802" y="3200044"/>
                  </a:moveTo>
                  <a:lnTo>
                    <a:pt x="0" y="3200044"/>
                  </a:lnTo>
                  <a:lnTo>
                    <a:pt x="0" y="0"/>
                  </a:lnTo>
                  <a:lnTo>
                    <a:pt x="4251604" y="0"/>
                  </a:lnTo>
                  <a:lnTo>
                    <a:pt x="4251604" y="3200044"/>
                  </a:lnTo>
                  <a:lnTo>
                    <a:pt x="2125802" y="3200044"/>
                  </a:lnTo>
                  <a:close/>
                </a:path>
              </a:pathLst>
            </a:custGeom>
            <a:ln w="19079">
              <a:solidFill>
                <a:srgbClr val="F3A1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709159" y="1353237"/>
              <a:ext cx="4251960" cy="292735"/>
            </a:xfrm>
            <a:custGeom>
              <a:avLst/>
              <a:gdLst/>
              <a:ahLst/>
              <a:cxnLst/>
              <a:rect l="l" t="t" r="r" b="b"/>
              <a:pathLst>
                <a:path w="4251959" h="292735">
                  <a:moveTo>
                    <a:pt x="4251604" y="0"/>
                  </a:moveTo>
                  <a:lnTo>
                    <a:pt x="0" y="0"/>
                  </a:lnTo>
                  <a:lnTo>
                    <a:pt x="0" y="292328"/>
                  </a:lnTo>
                  <a:lnTo>
                    <a:pt x="2125802" y="292328"/>
                  </a:lnTo>
                  <a:lnTo>
                    <a:pt x="4251604" y="292328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F3A1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709159" y="1353237"/>
              <a:ext cx="4251960" cy="292735"/>
            </a:xfrm>
            <a:custGeom>
              <a:avLst/>
              <a:gdLst/>
              <a:ahLst/>
              <a:cxnLst/>
              <a:rect l="l" t="t" r="r" b="b"/>
              <a:pathLst>
                <a:path w="4251959" h="292735">
                  <a:moveTo>
                    <a:pt x="2125802" y="292328"/>
                  </a:moveTo>
                  <a:lnTo>
                    <a:pt x="0" y="292328"/>
                  </a:lnTo>
                  <a:lnTo>
                    <a:pt x="0" y="0"/>
                  </a:lnTo>
                  <a:lnTo>
                    <a:pt x="4251604" y="0"/>
                  </a:lnTo>
                  <a:lnTo>
                    <a:pt x="4251604" y="292328"/>
                  </a:lnTo>
                  <a:lnTo>
                    <a:pt x="2125802" y="292328"/>
                  </a:lnTo>
                  <a:close/>
                </a:path>
              </a:pathLst>
            </a:custGeom>
            <a:ln w="12599">
              <a:solidFill>
                <a:srgbClr val="F3A1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83859" y="1410387"/>
            <a:ext cx="86677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100"/>
              </a:spcBef>
              <a:tabLst>
                <a:tab pos="4516120" algn="l"/>
              </a:tabLst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WHITE-BOX</a:t>
            </a:r>
            <a:r>
              <a:rPr sz="10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Distillation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000" b="1" spc="-20" dirty="0">
                <a:solidFill>
                  <a:srgbClr val="FFFFFF"/>
                </a:solidFill>
                <a:latin typeface="Calibri"/>
                <a:cs typeface="Calibri"/>
              </a:rPr>
              <a:t>BLACK-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BOX</a:t>
            </a:r>
            <a:r>
              <a:rPr sz="10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Distillation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87544" y="1719620"/>
            <a:ext cx="1509395" cy="122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1A396A"/>
                </a:solidFill>
                <a:latin typeface="Calibri"/>
                <a:cs typeface="Calibri"/>
              </a:rPr>
              <a:t>Requirements:</a:t>
            </a:r>
            <a:endParaRPr sz="900">
              <a:latin typeface="Calibri"/>
              <a:cs typeface="Calibri"/>
            </a:endParaRPr>
          </a:p>
          <a:p>
            <a:pPr marL="67945" indent="-55244">
              <a:lnSpc>
                <a:spcPct val="100000"/>
              </a:lnSpc>
              <a:spcBef>
                <a:spcPts val="605"/>
              </a:spcBef>
              <a:buChar char="-"/>
              <a:tabLst>
                <a:tab pos="67945" algn="l"/>
              </a:tabLst>
            </a:pP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Only</a:t>
            </a:r>
            <a:r>
              <a:rPr sz="85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API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access</a:t>
            </a:r>
            <a:r>
              <a:rPr sz="8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to</a:t>
            </a:r>
            <a:r>
              <a:rPr sz="85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teacher</a:t>
            </a:r>
            <a:endParaRPr sz="850">
              <a:latin typeface="Calibri"/>
              <a:cs typeface="Calibri"/>
            </a:endParaRPr>
          </a:p>
          <a:p>
            <a:pPr marL="67945" indent="-55244">
              <a:lnSpc>
                <a:spcPct val="100000"/>
              </a:lnSpc>
              <a:spcBef>
                <a:spcPts val="565"/>
              </a:spcBef>
              <a:buChar char="-"/>
              <a:tabLst>
                <a:tab pos="67945" algn="l"/>
              </a:tabLst>
            </a:pP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Output</a:t>
            </a:r>
            <a:r>
              <a:rPr sz="850" spc="-3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text</a:t>
            </a:r>
            <a:r>
              <a:rPr sz="850" spc="-3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or</a:t>
            </a:r>
            <a:r>
              <a:rPr sz="850" spc="-3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logits</a:t>
            </a:r>
            <a:r>
              <a:rPr sz="850" spc="-3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(if</a:t>
            </a:r>
            <a:r>
              <a:rPr sz="850" spc="-3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exposed)</a:t>
            </a:r>
            <a:endParaRPr sz="850">
              <a:latin typeface="Calibri"/>
              <a:cs typeface="Calibri"/>
            </a:endParaRPr>
          </a:p>
          <a:p>
            <a:pPr marL="67945" indent="-55244">
              <a:lnSpc>
                <a:spcPct val="100000"/>
              </a:lnSpc>
              <a:spcBef>
                <a:spcPts val="565"/>
              </a:spcBef>
              <a:buChar char="-"/>
              <a:tabLst>
                <a:tab pos="67945" algn="l"/>
              </a:tabLst>
            </a:pP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No</a:t>
            </a:r>
            <a:r>
              <a:rPr sz="85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access</a:t>
            </a:r>
            <a:r>
              <a:rPr sz="85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to</a:t>
            </a:r>
            <a:r>
              <a:rPr sz="850" spc="-3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model</a:t>
            </a:r>
            <a:r>
              <a:rPr sz="850" spc="-3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internals</a:t>
            </a:r>
            <a:endParaRPr sz="850">
              <a:latin typeface="Calibri"/>
              <a:cs typeface="Calibri"/>
            </a:endParaRPr>
          </a:p>
          <a:p>
            <a:pPr marL="67945" indent="-55244">
              <a:lnSpc>
                <a:spcPct val="100000"/>
              </a:lnSpc>
              <a:spcBef>
                <a:spcPts val="560"/>
              </a:spcBef>
              <a:buChar char="-"/>
              <a:tabLst>
                <a:tab pos="67945" algn="l"/>
              </a:tabLst>
            </a:pP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Often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 subject</a:t>
            </a:r>
            <a:r>
              <a:rPr sz="8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91F2B"/>
                </a:solidFill>
                <a:latin typeface="Calibri"/>
                <a:cs typeface="Calibri"/>
              </a:rPr>
              <a:t>to</a:t>
            </a:r>
            <a:r>
              <a:rPr sz="8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50" spc="-30" dirty="0">
                <a:solidFill>
                  <a:srgbClr val="191F2B"/>
                </a:solidFill>
                <a:latin typeface="Calibri"/>
                <a:cs typeface="Calibri"/>
              </a:rPr>
              <a:t>ToS</a:t>
            </a:r>
            <a:r>
              <a:rPr sz="850" spc="-10" dirty="0">
                <a:solidFill>
                  <a:srgbClr val="191F2B"/>
                </a:solidFill>
                <a:latin typeface="Calibri"/>
                <a:cs typeface="Calibri"/>
              </a:rPr>
              <a:t> restrictions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900" b="1" dirty="0">
                <a:solidFill>
                  <a:srgbClr val="1A396A"/>
                </a:solidFill>
                <a:latin typeface="Calibri"/>
                <a:cs typeface="Calibri"/>
              </a:rPr>
              <a:t>Key</a:t>
            </a:r>
            <a:r>
              <a:rPr sz="900" b="1" spc="-35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1A396A"/>
                </a:solidFill>
                <a:latin typeface="Calibri"/>
                <a:cs typeface="Calibri"/>
              </a:rPr>
              <a:t>Methods: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800244" y="2980806"/>
            <a:ext cx="4023360" cy="887094"/>
          </a:xfrm>
          <a:custGeom>
            <a:avLst/>
            <a:gdLst/>
            <a:ahLst/>
            <a:cxnLst/>
            <a:rect l="l" t="t" r="r" b="b"/>
            <a:pathLst>
              <a:path w="4023359" h="887095">
                <a:moveTo>
                  <a:pt x="4022991" y="685800"/>
                </a:moveTo>
                <a:lnTo>
                  <a:pt x="0" y="685800"/>
                </a:lnTo>
                <a:lnTo>
                  <a:pt x="0" y="886675"/>
                </a:lnTo>
                <a:lnTo>
                  <a:pt x="2011680" y="886675"/>
                </a:lnTo>
                <a:lnTo>
                  <a:pt x="4022991" y="886675"/>
                </a:lnTo>
                <a:lnTo>
                  <a:pt x="4022991" y="685800"/>
                </a:lnTo>
                <a:close/>
              </a:path>
              <a:path w="4023359" h="887095">
                <a:moveTo>
                  <a:pt x="4022991" y="457200"/>
                </a:moveTo>
                <a:lnTo>
                  <a:pt x="0" y="457200"/>
                </a:lnTo>
                <a:lnTo>
                  <a:pt x="0" y="658075"/>
                </a:lnTo>
                <a:lnTo>
                  <a:pt x="2011680" y="658075"/>
                </a:lnTo>
                <a:lnTo>
                  <a:pt x="4022991" y="658075"/>
                </a:lnTo>
                <a:lnTo>
                  <a:pt x="4022991" y="457200"/>
                </a:lnTo>
                <a:close/>
              </a:path>
              <a:path w="4023359" h="887095">
                <a:moveTo>
                  <a:pt x="4022991" y="228600"/>
                </a:moveTo>
                <a:lnTo>
                  <a:pt x="0" y="228600"/>
                </a:lnTo>
                <a:lnTo>
                  <a:pt x="0" y="429475"/>
                </a:lnTo>
                <a:lnTo>
                  <a:pt x="2011680" y="429475"/>
                </a:lnTo>
                <a:lnTo>
                  <a:pt x="4022991" y="429475"/>
                </a:lnTo>
                <a:lnTo>
                  <a:pt x="4022991" y="228600"/>
                </a:lnTo>
                <a:close/>
              </a:path>
              <a:path w="4023359" h="887095">
                <a:moveTo>
                  <a:pt x="4022991" y="0"/>
                </a:moveTo>
                <a:lnTo>
                  <a:pt x="0" y="0"/>
                </a:lnTo>
                <a:lnTo>
                  <a:pt x="0" y="200875"/>
                </a:lnTo>
                <a:lnTo>
                  <a:pt x="2011680" y="200875"/>
                </a:lnTo>
                <a:lnTo>
                  <a:pt x="4022991" y="200875"/>
                </a:lnTo>
                <a:lnTo>
                  <a:pt x="4022991" y="0"/>
                </a:lnTo>
                <a:close/>
              </a:path>
            </a:pathLst>
          </a:custGeom>
          <a:solidFill>
            <a:srgbClr val="F3A160">
              <a:alpha val="1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4797004" y="2977566"/>
          <a:ext cx="4022725" cy="8864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22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4629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SFT</a:t>
                      </a:r>
                      <a:r>
                        <a:rPr sz="85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sz="850" spc="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teacher-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generated</a:t>
                      </a:r>
                      <a:r>
                        <a:rPr sz="850" spc="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(Q,A)</a:t>
                      </a:r>
                      <a:r>
                        <a:rPr sz="850" spc="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pairs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F3A160"/>
                      </a:solidFill>
                      <a:prstDash val="solid"/>
                    </a:lnL>
                    <a:lnR w="9525">
                      <a:solidFill>
                        <a:srgbClr val="F3A160"/>
                      </a:solidFill>
                      <a:prstDash val="solid"/>
                    </a:lnR>
                    <a:lnT w="9525">
                      <a:solidFill>
                        <a:srgbClr val="F3A160"/>
                      </a:solidFill>
                      <a:prstDash val="solid"/>
                    </a:lnT>
                    <a:lnB w="9525">
                      <a:solidFill>
                        <a:srgbClr val="F3A1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Orca:</a:t>
                      </a:r>
                      <a:r>
                        <a:rPr sz="85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explanation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tuning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r>
                        <a:rPr sz="85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prompts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9525">
                      <a:solidFill>
                        <a:srgbClr val="F3A160"/>
                      </a:solidFill>
                      <a:prstDash val="solid"/>
                    </a:lnL>
                    <a:lnR w="9525">
                      <a:solidFill>
                        <a:srgbClr val="F3A160"/>
                      </a:solidFill>
                      <a:prstDash val="solid"/>
                    </a:lnR>
                    <a:lnT w="9525">
                      <a:solidFill>
                        <a:srgbClr val="F3A160"/>
                      </a:solidFill>
                      <a:prstDash val="solid"/>
                    </a:lnT>
                    <a:lnB w="9525">
                      <a:solidFill>
                        <a:srgbClr val="F3A1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Alpaca:</a:t>
                      </a:r>
                      <a:r>
                        <a:rPr sz="850" spc="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instruction</a:t>
                      </a:r>
                      <a:r>
                        <a:rPr sz="850" spc="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following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9525">
                      <a:solidFill>
                        <a:srgbClr val="F3A160"/>
                      </a:solidFill>
                      <a:prstDash val="solid"/>
                    </a:lnL>
                    <a:lnR w="9525">
                      <a:solidFill>
                        <a:srgbClr val="F3A160"/>
                      </a:solidFill>
                      <a:prstDash val="solid"/>
                    </a:lnR>
                    <a:lnT w="9525">
                      <a:solidFill>
                        <a:srgbClr val="F3A160"/>
                      </a:solidFill>
                      <a:prstDash val="solid"/>
                    </a:lnT>
                    <a:lnB w="9525">
                      <a:solidFill>
                        <a:srgbClr val="F3A1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85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Self-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instruct</a:t>
                      </a:r>
                      <a:r>
                        <a:rPr sz="850" spc="6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5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bootstrapping</a:t>
                      </a:r>
                      <a:endParaRPr sz="85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9525">
                      <a:solidFill>
                        <a:srgbClr val="F3A160"/>
                      </a:solidFill>
                      <a:prstDash val="solid"/>
                    </a:lnL>
                    <a:lnR w="9525">
                      <a:solidFill>
                        <a:srgbClr val="F3A160"/>
                      </a:solidFill>
                      <a:prstDash val="solid"/>
                    </a:lnR>
                    <a:lnT w="9525">
                      <a:solidFill>
                        <a:srgbClr val="F3A160"/>
                      </a:solidFill>
                      <a:prstDash val="solid"/>
                    </a:lnT>
                    <a:lnB w="9525">
                      <a:solidFill>
                        <a:srgbClr val="F3A1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object 29"/>
          <p:cNvSpPr txBox="1"/>
          <p:nvPr/>
        </p:nvSpPr>
        <p:spPr>
          <a:xfrm>
            <a:off x="4820297" y="4214776"/>
            <a:ext cx="372046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-50" dirty="0">
                <a:solidFill>
                  <a:srgbClr val="63738A"/>
                </a:solidFill>
                <a:latin typeface="Arial"/>
                <a:cs typeface="Arial"/>
              </a:rPr>
              <a:t>Surprising</a:t>
            </a:r>
            <a:r>
              <a:rPr sz="800" i="1" spc="-10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800" i="1" spc="-45" dirty="0">
                <a:solidFill>
                  <a:srgbClr val="63738A"/>
                </a:solidFill>
                <a:latin typeface="Arial"/>
                <a:cs typeface="Arial"/>
              </a:rPr>
              <a:t>efficacy</a:t>
            </a:r>
            <a:r>
              <a:rPr sz="800" i="1" spc="-10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63738A"/>
                </a:solidFill>
                <a:latin typeface="Arial"/>
                <a:cs typeface="Arial"/>
              </a:rPr>
              <a:t>with</a:t>
            </a:r>
            <a:r>
              <a:rPr sz="800" i="1" spc="5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800" i="1" spc="-30" dirty="0">
                <a:solidFill>
                  <a:srgbClr val="63738A"/>
                </a:solidFill>
                <a:latin typeface="Arial"/>
                <a:cs typeface="Arial"/>
              </a:rPr>
              <a:t>sufficient</a:t>
            </a:r>
            <a:r>
              <a:rPr sz="800" i="1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800" i="1" spc="-30" dirty="0">
                <a:solidFill>
                  <a:srgbClr val="63738A"/>
                </a:solidFill>
                <a:latin typeface="Arial"/>
                <a:cs typeface="Arial"/>
              </a:rPr>
              <a:t>data.</a:t>
            </a:r>
            <a:r>
              <a:rPr sz="800" i="1" spc="-10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800" i="1" spc="-55" dirty="0">
                <a:solidFill>
                  <a:srgbClr val="63738A"/>
                </a:solidFill>
                <a:latin typeface="Arial"/>
                <a:cs typeface="Arial"/>
              </a:rPr>
              <a:t>Legal</a:t>
            </a:r>
            <a:r>
              <a:rPr sz="800" i="1" spc="5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800" i="1" spc="-45" dirty="0">
                <a:solidFill>
                  <a:srgbClr val="63738A"/>
                </a:solidFill>
                <a:latin typeface="Arial"/>
                <a:cs typeface="Arial"/>
              </a:rPr>
              <a:t>and</a:t>
            </a:r>
            <a:r>
              <a:rPr sz="800" i="1" spc="-5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800" i="1" spc="-85" dirty="0">
                <a:solidFill>
                  <a:srgbClr val="63738A"/>
                </a:solidFill>
                <a:latin typeface="Arial"/>
                <a:cs typeface="Arial"/>
              </a:rPr>
              <a:t>IP</a:t>
            </a:r>
            <a:r>
              <a:rPr sz="800" i="1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800" i="1" spc="-40" dirty="0">
                <a:solidFill>
                  <a:srgbClr val="63738A"/>
                </a:solidFill>
                <a:latin typeface="Arial"/>
                <a:cs typeface="Arial"/>
              </a:rPr>
              <a:t>constraints</a:t>
            </a:r>
            <a:r>
              <a:rPr sz="800" i="1" spc="-10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800" i="1" spc="-40" dirty="0">
                <a:solidFill>
                  <a:srgbClr val="63738A"/>
                </a:solidFill>
                <a:latin typeface="Arial"/>
                <a:cs typeface="Arial"/>
              </a:rPr>
              <a:t>are</a:t>
            </a:r>
            <a:r>
              <a:rPr sz="800" i="1" spc="-5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800" i="1" spc="-20" dirty="0">
                <a:solidFill>
                  <a:srgbClr val="63738A"/>
                </a:solidFill>
                <a:latin typeface="Arial"/>
                <a:cs typeface="Arial"/>
              </a:rPr>
              <a:t>critical</a:t>
            </a:r>
            <a:r>
              <a:rPr sz="800" i="1" spc="-15" dirty="0">
                <a:solidFill>
                  <a:srgbClr val="63738A"/>
                </a:solidFill>
                <a:latin typeface="Arial"/>
                <a:cs typeface="Arial"/>
              </a:rPr>
              <a:t> </a:t>
            </a:r>
            <a:r>
              <a:rPr sz="800" i="1" spc="-20" dirty="0">
                <a:solidFill>
                  <a:srgbClr val="63738A"/>
                </a:solidFill>
                <a:latin typeface="Arial"/>
                <a:cs typeface="Arial"/>
              </a:rPr>
              <a:t>considerations.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67664" y="4629418"/>
            <a:ext cx="8608060" cy="287020"/>
            <a:chOff x="267664" y="4629418"/>
            <a:chExt cx="8608060" cy="287020"/>
          </a:xfrm>
        </p:grpSpPr>
        <p:sp>
          <p:nvSpPr>
            <p:cNvPr id="31" name="object 31"/>
            <p:cNvSpPr/>
            <p:nvPr/>
          </p:nvSpPr>
          <p:spPr>
            <a:xfrm>
              <a:off x="273964" y="4635718"/>
              <a:ext cx="8595360" cy="274320"/>
            </a:xfrm>
            <a:custGeom>
              <a:avLst/>
              <a:gdLst/>
              <a:ahLst/>
              <a:cxnLst/>
              <a:rect l="l" t="t" r="r" b="b"/>
              <a:pathLst>
                <a:path w="8595360" h="274320">
                  <a:moveTo>
                    <a:pt x="8594991" y="0"/>
                  </a:moveTo>
                  <a:lnTo>
                    <a:pt x="0" y="0"/>
                  </a:lnTo>
                  <a:lnTo>
                    <a:pt x="0" y="273964"/>
                  </a:lnTo>
                  <a:lnTo>
                    <a:pt x="4297680" y="273964"/>
                  </a:lnTo>
                  <a:lnTo>
                    <a:pt x="8594991" y="273964"/>
                  </a:lnTo>
                  <a:lnTo>
                    <a:pt x="8594991" y="0"/>
                  </a:lnTo>
                  <a:close/>
                </a:path>
              </a:pathLst>
            </a:custGeom>
            <a:solidFill>
              <a:srgbClr val="EE4343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73964" y="4635718"/>
              <a:ext cx="8595360" cy="274320"/>
            </a:xfrm>
            <a:custGeom>
              <a:avLst/>
              <a:gdLst/>
              <a:ahLst/>
              <a:cxnLst/>
              <a:rect l="l" t="t" r="r" b="b"/>
              <a:pathLst>
                <a:path w="8595360" h="274320">
                  <a:moveTo>
                    <a:pt x="4297680" y="273964"/>
                  </a:moveTo>
                  <a:lnTo>
                    <a:pt x="0" y="273964"/>
                  </a:lnTo>
                  <a:lnTo>
                    <a:pt x="0" y="0"/>
                  </a:lnTo>
                  <a:lnTo>
                    <a:pt x="8594991" y="0"/>
                  </a:lnTo>
                  <a:lnTo>
                    <a:pt x="8594991" y="273964"/>
                  </a:lnTo>
                  <a:lnTo>
                    <a:pt x="4297680" y="273964"/>
                  </a:lnTo>
                  <a:close/>
                </a:path>
              </a:pathLst>
            </a:custGeom>
            <a:ln w="12599">
              <a:solidFill>
                <a:srgbClr val="EE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80264" y="4645700"/>
            <a:ext cx="858266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345" marR="327025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191F2B"/>
                </a:solidFill>
                <a:latin typeface="Calibri"/>
                <a:cs typeface="Calibri"/>
              </a:rPr>
              <a:t>Legal Note:</a:t>
            </a:r>
            <a:r>
              <a:rPr sz="7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91F2B"/>
                </a:solidFill>
                <a:latin typeface="Calibri"/>
                <a:cs typeface="Calibri"/>
              </a:rPr>
              <a:t>OpenAI,</a:t>
            </a:r>
            <a:r>
              <a:rPr sz="7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91F2B"/>
                </a:solidFill>
                <a:latin typeface="Calibri"/>
                <a:cs typeface="Calibri"/>
              </a:rPr>
              <a:t>Anthropic, </a:t>
            </a:r>
            <a:r>
              <a:rPr sz="750" dirty="0">
                <a:solidFill>
                  <a:srgbClr val="191F2B"/>
                </a:solidFill>
                <a:latin typeface="Calibri"/>
                <a:cs typeface="Calibri"/>
              </a:rPr>
              <a:t>and</a:t>
            </a:r>
            <a:r>
              <a:rPr sz="75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91F2B"/>
                </a:solidFill>
                <a:latin typeface="Calibri"/>
                <a:cs typeface="Calibri"/>
              </a:rPr>
              <a:t>others</a:t>
            </a:r>
            <a:r>
              <a:rPr sz="7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91F2B"/>
                </a:solidFill>
                <a:latin typeface="Calibri"/>
                <a:cs typeface="Calibri"/>
              </a:rPr>
              <a:t>explicitly </a:t>
            </a:r>
            <a:r>
              <a:rPr sz="750" spc="-10" dirty="0">
                <a:solidFill>
                  <a:srgbClr val="191F2B"/>
                </a:solidFill>
                <a:latin typeface="Calibri"/>
                <a:cs typeface="Calibri"/>
              </a:rPr>
              <a:t>prohibit </a:t>
            </a:r>
            <a:r>
              <a:rPr sz="750" dirty="0">
                <a:solidFill>
                  <a:srgbClr val="191F2B"/>
                </a:solidFill>
                <a:latin typeface="Calibri"/>
                <a:cs typeface="Calibri"/>
              </a:rPr>
              <a:t>using API</a:t>
            </a:r>
            <a:r>
              <a:rPr sz="7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91F2B"/>
                </a:solidFill>
                <a:latin typeface="Calibri"/>
                <a:cs typeface="Calibri"/>
              </a:rPr>
              <a:t>outputs</a:t>
            </a:r>
            <a:r>
              <a:rPr sz="7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91F2B"/>
                </a:solidFill>
                <a:latin typeface="Calibri"/>
                <a:cs typeface="Calibri"/>
              </a:rPr>
              <a:t>to</a:t>
            </a:r>
            <a:r>
              <a:rPr sz="75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91F2B"/>
                </a:solidFill>
                <a:latin typeface="Calibri"/>
                <a:cs typeface="Calibri"/>
              </a:rPr>
              <a:t>train</a:t>
            </a:r>
            <a:r>
              <a:rPr sz="75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91F2B"/>
                </a:solidFill>
                <a:latin typeface="Calibri"/>
                <a:cs typeface="Calibri"/>
              </a:rPr>
              <a:t>competing</a:t>
            </a:r>
            <a:r>
              <a:rPr sz="7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91F2B"/>
                </a:solidFill>
                <a:latin typeface="Calibri"/>
                <a:cs typeface="Calibri"/>
              </a:rPr>
              <a:t>models</a:t>
            </a:r>
            <a:r>
              <a:rPr sz="7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91F2B"/>
                </a:solidFill>
                <a:latin typeface="Calibri"/>
                <a:cs typeface="Calibri"/>
              </a:rPr>
              <a:t>(ToS). </a:t>
            </a:r>
            <a:r>
              <a:rPr sz="750" dirty="0">
                <a:solidFill>
                  <a:srgbClr val="191F2B"/>
                </a:solidFill>
                <a:latin typeface="Calibri"/>
                <a:cs typeface="Calibri"/>
              </a:rPr>
              <a:t>The</a:t>
            </a:r>
            <a:r>
              <a:rPr sz="750" spc="-10" dirty="0">
                <a:solidFill>
                  <a:srgbClr val="191F2B"/>
                </a:solidFill>
                <a:latin typeface="Calibri"/>
                <a:cs typeface="Calibri"/>
              </a:rPr>
              <a:t> DeepSeek-</a:t>
            </a:r>
            <a:r>
              <a:rPr sz="750" dirty="0">
                <a:solidFill>
                  <a:srgbClr val="191F2B"/>
                </a:solidFill>
                <a:latin typeface="Calibri"/>
                <a:cs typeface="Calibri"/>
              </a:rPr>
              <a:t>R1</a:t>
            </a:r>
            <a:r>
              <a:rPr sz="7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91F2B"/>
                </a:solidFill>
                <a:latin typeface="Calibri"/>
                <a:cs typeface="Calibri"/>
              </a:rPr>
              <a:t>controversy highlighted </a:t>
            </a:r>
            <a:r>
              <a:rPr sz="750" dirty="0">
                <a:solidFill>
                  <a:srgbClr val="191F2B"/>
                </a:solidFill>
                <a:latin typeface="Calibri"/>
                <a:cs typeface="Calibri"/>
              </a:rPr>
              <a:t>this</a:t>
            </a:r>
            <a:r>
              <a:rPr sz="75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91F2B"/>
                </a:solidFill>
                <a:latin typeface="Calibri"/>
                <a:cs typeface="Calibri"/>
              </a:rPr>
              <a:t>boundary. </a:t>
            </a:r>
            <a:r>
              <a:rPr sz="750" dirty="0">
                <a:solidFill>
                  <a:srgbClr val="191F2B"/>
                </a:solidFill>
                <a:latin typeface="Calibri"/>
                <a:cs typeface="Calibri"/>
              </a:rPr>
              <a:t>Academic </a:t>
            </a:r>
            <a:r>
              <a:rPr sz="750" spc="-10" dirty="0">
                <a:solidFill>
                  <a:srgbClr val="191F2B"/>
                </a:solidFill>
                <a:latin typeface="Calibri"/>
                <a:cs typeface="Calibri"/>
              </a:rPr>
              <a:t>researchers </a:t>
            </a:r>
            <a:r>
              <a:rPr sz="750" dirty="0">
                <a:solidFill>
                  <a:srgbClr val="191F2B"/>
                </a:solidFill>
                <a:latin typeface="Calibri"/>
                <a:cs typeface="Calibri"/>
              </a:rPr>
              <a:t>focus</a:t>
            </a:r>
            <a:r>
              <a:rPr sz="7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91F2B"/>
                </a:solidFill>
                <a:latin typeface="Calibri"/>
                <a:cs typeface="Calibri"/>
              </a:rPr>
              <a:t>on</a:t>
            </a:r>
            <a:r>
              <a:rPr sz="750" spc="-10" dirty="0">
                <a:solidFill>
                  <a:srgbClr val="191F2B"/>
                </a:solidFill>
                <a:latin typeface="Calibri"/>
                <a:cs typeface="Calibri"/>
              </a:rPr>
              <a:t> open-</a:t>
            </a:r>
            <a:r>
              <a:rPr sz="750" dirty="0">
                <a:solidFill>
                  <a:srgbClr val="191F2B"/>
                </a:solidFill>
                <a:latin typeface="Calibri"/>
                <a:cs typeface="Calibri"/>
              </a:rPr>
              <a:t>source</a:t>
            </a:r>
            <a:r>
              <a:rPr sz="7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91F2B"/>
                </a:solidFill>
                <a:latin typeface="Calibri"/>
                <a:cs typeface="Calibri"/>
              </a:rPr>
              <a:t>teachers</a:t>
            </a:r>
            <a:r>
              <a:rPr sz="75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91F2B"/>
                </a:solidFill>
                <a:latin typeface="Calibri"/>
                <a:cs typeface="Calibri"/>
              </a:rPr>
              <a:t>(LLaMA,</a:t>
            </a:r>
            <a:r>
              <a:rPr sz="75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91F2B"/>
                </a:solidFill>
                <a:latin typeface="Calibri"/>
                <a:cs typeface="Calibri"/>
              </a:rPr>
              <a:t>Mistral)</a:t>
            </a:r>
            <a:r>
              <a:rPr sz="7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91F2B"/>
                </a:solidFill>
                <a:latin typeface="Calibri"/>
                <a:cs typeface="Calibri"/>
              </a:rPr>
              <a:t>to</a:t>
            </a:r>
            <a:r>
              <a:rPr sz="75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91F2B"/>
                </a:solidFill>
                <a:latin typeface="Calibri"/>
                <a:cs typeface="Calibri"/>
              </a:rPr>
              <a:t>avoid</a:t>
            </a:r>
            <a:r>
              <a:rPr sz="75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191F2B"/>
                </a:solidFill>
                <a:latin typeface="Calibri"/>
                <a:cs typeface="Calibri"/>
              </a:rPr>
              <a:t>these</a:t>
            </a:r>
            <a:r>
              <a:rPr sz="75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191F2B"/>
                </a:solidFill>
                <a:latin typeface="Calibri"/>
                <a:cs typeface="Calibri"/>
              </a:rPr>
              <a:t>constraints.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10" dirty="0"/>
              <a:t>Knowledge</a:t>
            </a:r>
            <a:r>
              <a:rPr dirty="0"/>
              <a:t> </a:t>
            </a:r>
            <a:r>
              <a:rPr spc="-10" dirty="0"/>
              <a:t>Distillation</a:t>
            </a:r>
            <a:r>
              <a:rPr spc="-5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LLMs</a:t>
            </a:r>
            <a:r>
              <a:rPr spc="170" dirty="0"/>
              <a:t> </a:t>
            </a:r>
            <a:r>
              <a:rPr dirty="0"/>
              <a:t>|</a:t>
            </a:r>
            <a:r>
              <a:rPr spc="180" dirty="0"/>
              <a:t> </a:t>
            </a:r>
            <a:r>
              <a:rPr spc="-10" dirty="0"/>
              <a:t>Manisa</a:t>
            </a:r>
            <a:r>
              <a:rPr spc="-5" dirty="0"/>
              <a:t> </a:t>
            </a:r>
            <a:r>
              <a:rPr dirty="0"/>
              <a:t>Celal </a:t>
            </a:r>
            <a:r>
              <a:rPr spc="-10" dirty="0"/>
              <a:t>Bayar</a:t>
            </a:r>
            <a:r>
              <a:rPr spc="-5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10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/>
              <a:t>Loss</a:t>
            </a:r>
            <a:r>
              <a:rPr sz="2000" spc="-50" dirty="0"/>
              <a:t> </a:t>
            </a:r>
            <a:r>
              <a:rPr sz="2000" dirty="0"/>
              <a:t>Functions</a:t>
            </a:r>
            <a:r>
              <a:rPr sz="2000" spc="-40" dirty="0"/>
              <a:t> </a:t>
            </a:r>
            <a:r>
              <a:rPr sz="2000" dirty="0"/>
              <a:t>in</a:t>
            </a:r>
            <a:r>
              <a:rPr sz="2000" spc="-55" dirty="0"/>
              <a:t> </a:t>
            </a:r>
            <a:r>
              <a:rPr sz="2000" spc="-10" dirty="0"/>
              <a:t>Knowledge</a:t>
            </a:r>
            <a:r>
              <a:rPr sz="2000" spc="-45" dirty="0"/>
              <a:t> </a:t>
            </a:r>
            <a:r>
              <a:rPr sz="2000" spc="-10" dirty="0"/>
              <a:t>Distillation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6393865" y="232107"/>
            <a:ext cx="24403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spc="-65" dirty="0">
                <a:solidFill>
                  <a:srgbClr val="00C1CA"/>
                </a:solidFill>
                <a:latin typeface="Arial"/>
                <a:cs typeface="Arial"/>
              </a:rPr>
              <a:t>03</a:t>
            </a:r>
            <a:r>
              <a:rPr sz="1100" i="1" spc="-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30" dirty="0">
                <a:solidFill>
                  <a:srgbClr val="00C1CA"/>
                </a:solidFill>
                <a:latin typeface="Arial"/>
                <a:cs typeface="Arial"/>
              </a:rPr>
              <a:t>-</a:t>
            </a:r>
            <a:r>
              <a:rPr sz="1100" i="1" spc="-1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30" dirty="0">
                <a:solidFill>
                  <a:srgbClr val="00C1CA"/>
                </a:solidFill>
                <a:latin typeface="Arial"/>
                <a:cs typeface="Arial"/>
              </a:rPr>
              <a:t>Mathematical</a:t>
            </a:r>
            <a:r>
              <a:rPr sz="1100" i="1" spc="-1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rgbClr val="00C1CA"/>
                </a:solidFill>
                <a:latin typeface="Arial"/>
                <a:cs typeface="Arial"/>
              </a:rPr>
              <a:t>Formulations</a:t>
            </a:r>
            <a:r>
              <a:rPr sz="1100" i="1" spc="-20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60" dirty="0">
                <a:solidFill>
                  <a:srgbClr val="00C1CA"/>
                </a:solidFill>
                <a:latin typeface="Arial"/>
                <a:cs typeface="Arial"/>
              </a:rPr>
              <a:t>Reference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6705" y="721793"/>
            <a:ext cx="9156700" cy="4428490"/>
            <a:chOff x="-6705" y="721793"/>
            <a:chExt cx="9156700" cy="4428490"/>
          </a:xfrm>
        </p:grpSpPr>
        <p:sp>
          <p:nvSpPr>
            <p:cNvPr id="5" name="object 5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631" y="0"/>
                  </a:moveTo>
                  <a:lnTo>
                    <a:pt x="0" y="0"/>
                  </a:lnTo>
                  <a:lnTo>
                    <a:pt x="0" y="251282"/>
                  </a:lnTo>
                  <a:lnTo>
                    <a:pt x="4572000" y="251282"/>
                  </a:lnTo>
                  <a:lnTo>
                    <a:pt x="9143631" y="251282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4572000" y="251282"/>
                  </a:moveTo>
                  <a:lnTo>
                    <a:pt x="0" y="251282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251282"/>
                  </a:lnTo>
                  <a:lnTo>
                    <a:pt x="4572000" y="251282"/>
                  </a:lnTo>
                  <a:close/>
                </a:path>
              </a:pathLst>
            </a:custGeom>
            <a:ln w="12599">
              <a:solidFill>
                <a:srgbClr val="0C1A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95" y="721793"/>
              <a:ext cx="4469765" cy="1497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74320" y="804242"/>
              <a:ext cx="4251960" cy="1280160"/>
            </a:xfrm>
            <a:custGeom>
              <a:avLst/>
              <a:gdLst/>
              <a:ahLst/>
              <a:cxnLst/>
              <a:rect l="l" t="t" r="r" b="b"/>
              <a:pathLst>
                <a:path w="4251960" h="1280160">
                  <a:moveTo>
                    <a:pt x="4251604" y="0"/>
                  </a:moveTo>
                  <a:lnTo>
                    <a:pt x="0" y="0"/>
                  </a:lnTo>
                  <a:lnTo>
                    <a:pt x="0" y="1279804"/>
                  </a:lnTo>
                  <a:lnTo>
                    <a:pt x="2125802" y="1279804"/>
                  </a:lnTo>
                  <a:lnTo>
                    <a:pt x="4251604" y="1279804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320" y="804242"/>
              <a:ext cx="4251960" cy="1280160"/>
            </a:xfrm>
            <a:custGeom>
              <a:avLst/>
              <a:gdLst/>
              <a:ahLst/>
              <a:cxnLst/>
              <a:rect l="l" t="t" r="r" b="b"/>
              <a:pathLst>
                <a:path w="4251960" h="1280160">
                  <a:moveTo>
                    <a:pt x="2125802" y="1279804"/>
                  </a:moveTo>
                  <a:lnTo>
                    <a:pt x="0" y="1279804"/>
                  </a:lnTo>
                  <a:lnTo>
                    <a:pt x="0" y="0"/>
                  </a:lnTo>
                  <a:lnTo>
                    <a:pt x="4251604" y="0"/>
                  </a:lnTo>
                  <a:lnTo>
                    <a:pt x="4251604" y="1279804"/>
                  </a:lnTo>
                  <a:lnTo>
                    <a:pt x="2125802" y="1279804"/>
                  </a:lnTo>
                  <a:close/>
                </a:path>
              </a:pathLst>
            </a:custGeom>
            <a:ln w="15119">
              <a:solidFill>
                <a:srgbClr val="00C1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3964" y="804242"/>
              <a:ext cx="54610" cy="1280160"/>
            </a:xfrm>
            <a:custGeom>
              <a:avLst/>
              <a:gdLst/>
              <a:ahLst/>
              <a:cxnLst/>
              <a:rect l="l" t="t" r="r" b="b"/>
              <a:pathLst>
                <a:path w="54610" h="1280160">
                  <a:moveTo>
                    <a:pt x="54356" y="0"/>
                  </a:moveTo>
                  <a:lnTo>
                    <a:pt x="0" y="0"/>
                  </a:lnTo>
                  <a:lnTo>
                    <a:pt x="0" y="1279804"/>
                  </a:lnTo>
                  <a:lnTo>
                    <a:pt x="27355" y="1279804"/>
                  </a:lnTo>
                  <a:lnTo>
                    <a:pt x="54356" y="1279804"/>
                  </a:lnTo>
                  <a:lnTo>
                    <a:pt x="54356" y="0"/>
                  </a:lnTo>
                  <a:close/>
                </a:path>
              </a:pathLst>
            </a:custGeom>
            <a:solidFill>
              <a:srgbClr val="00C1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3964" y="804242"/>
              <a:ext cx="54610" cy="1280160"/>
            </a:xfrm>
            <a:custGeom>
              <a:avLst/>
              <a:gdLst/>
              <a:ahLst/>
              <a:cxnLst/>
              <a:rect l="l" t="t" r="r" b="b"/>
              <a:pathLst>
                <a:path w="54610" h="1280160">
                  <a:moveTo>
                    <a:pt x="27355" y="1279804"/>
                  </a:moveTo>
                  <a:lnTo>
                    <a:pt x="0" y="1279804"/>
                  </a:lnTo>
                  <a:lnTo>
                    <a:pt x="0" y="0"/>
                  </a:lnTo>
                  <a:lnTo>
                    <a:pt x="54356" y="0"/>
                  </a:lnTo>
                  <a:lnTo>
                    <a:pt x="54356" y="1279804"/>
                  </a:lnTo>
                  <a:lnTo>
                    <a:pt x="27355" y="1279804"/>
                  </a:lnTo>
                  <a:close/>
                </a:path>
              </a:pathLst>
            </a:custGeom>
            <a:ln w="12599">
              <a:solidFill>
                <a:srgbClr val="00C1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84124" y="898108"/>
            <a:ext cx="2962275" cy="447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621030" algn="l"/>
              </a:tabLst>
            </a:pPr>
            <a:r>
              <a:rPr sz="1000" b="1" spc="-20" dirty="0">
                <a:solidFill>
                  <a:srgbClr val="00C1CA"/>
                </a:solidFill>
                <a:latin typeface="Courier New"/>
                <a:cs typeface="Courier New"/>
              </a:rPr>
              <a:t>L_KL</a:t>
            </a:r>
            <a:r>
              <a:rPr sz="1000" b="1" dirty="0">
                <a:solidFill>
                  <a:srgbClr val="00C1CA"/>
                </a:solidFill>
                <a:latin typeface="Courier New"/>
                <a:cs typeface="Courier New"/>
              </a:rPr>
              <a:t>	</a:t>
            </a:r>
            <a:r>
              <a:rPr sz="950" b="1" dirty="0">
                <a:solidFill>
                  <a:srgbClr val="1A396A"/>
                </a:solidFill>
                <a:latin typeface="Calibri"/>
                <a:cs typeface="Calibri"/>
              </a:rPr>
              <a:t>KL</a:t>
            </a:r>
            <a:r>
              <a:rPr sz="950" b="1" spc="-5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1A396A"/>
                </a:solidFill>
                <a:latin typeface="Calibri"/>
                <a:cs typeface="Calibri"/>
              </a:rPr>
              <a:t>Divergence (Core)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L_KL</a:t>
            </a:r>
            <a:r>
              <a:rPr sz="750" spc="-5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=</a:t>
            </a:r>
            <a:r>
              <a:rPr sz="750" spc="5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SUM_c</a:t>
            </a:r>
            <a:r>
              <a:rPr sz="750" spc="459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p_T(c|x)</a:t>
            </a:r>
            <a:r>
              <a:rPr sz="750" spc="5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*</a:t>
            </a:r>
            <a:r>
              <a:rPr sz="750" spc="5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log(</a:t>
            </a:r>
            <a:r>
              <a:rPr sz="750" spc="-10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p_T(c|x)</a:t>
            </a:r>
            <a:r>
              <a:rPr sz="750" spc="10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/</a:t>
            </a:r>
            <a:r>
              <a:rPr sz="750" spc="5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p_S(c|x)</a:t>
            </a:r>
            <a:r>
              <a:rPr sz="750" spc="5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191F2B"/>
                </a:solidFill>
                <a:latin typeface="Courier New"/>
                <a:cs typeface="Courier New"/>
              </a:rPr>
              <a:t>)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4124" y="1584263"/>
            <a:ext cx="38423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Core</a:t>
            </a:r>
            <a:r>
              <a:rPr sz="800" spc="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distillation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 loss -</a:t>
            </a:r>
            <a:r>
              <a:rPr sz="800" spc="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matches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student</a:t>
            </a:r>
            <a:r>
              <a:rPr sz="800" spc="1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output</a:t>
            </a:r>
            <a:r>
              <a:rPr sz="800" spc="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distribution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 to</a:t>
            </a:r>
            <a:r>
              <a:rPr sz="800" spc="1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teacher's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softened</a:t>
            </a:r>
            <a:r>
              <a:rPr sz="80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distribution.</a:t>
            </a:r>
            <a:r>
              <a:rPr sz="800" spc="50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Scaled</a:t>
            </a:r>
            <a:r>
              <a:rPr sz="800" spc="-3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by</a:t>
            </a:r>
            <a:r>
              <a:rPr sz="800" spc="-20" dirty="0">
                <a:solidFill>
                  <a:srgbClr val="63738A"/>
                </a:solidFill>
                <a:latin typeface="Calibri"/>
                <a:cs typeface="Calibri"/>
              </a:rPr>
              <a:t> T^2.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573435" y="721793"/>
            <a:ext cx="4469765" cy="1497965"/>
            <a:chOff x="4573435" y="721793"/>
            <a:chExt cx="4469765" cy="149796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3435" y="721793"/>
              <a:ext cx="4469765" cy="149760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709160" y="804242"/>
              <a:ext cx="4251960" cy="1280160"/>
            </a:xfrm>
            <a:custGeom>
              <a:avLst/>
              <a:gdLst/>
              <a:ahLst/>
              <a:cxnLst/>
              <a:rect l="l" t="t" r="r" b="b"/>
              <a:pathLst>
                <a:path w="4251959" h="1280160">
                  <a:moveTo>
                    <a:pt x="4251604" y="0"/>
                  </a:moveTo>
                  <a:lnTo>
                    <a:pt x="0" y="0"/>
                  </a:lnTo>
                  <a:lnTo>
                    <a:pt x="0" y="1279804"/>
                  </a:lnTo>
                  <a:lnTo>
                    <a:pt x="2125802" y="1279804"/>
                  </a:lnTo>
                  <a:lnTo>
                    <a:pt x="4251604" y="1279804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09160" y="804242"/>
              <a:ext cx="4251960" cy="1280160"/>
            </a:xfrm>
            <a:custGeom>
              <a:avLst/>
              <a:gdLst/>
              <a:ahLst/>
              <a:cxnLst/>
              <a:rect l="l" t="t" r="r" b="b"/>
              <a:pathLst>
                <a:path w="4251959" h="1280160">
                  <a:moveTo>
                    <a:pt x="2125802" y="1279804"/>
                  </a:moveTo>
                  <a:lnTo>
                    <a:pt x="0" y="1279804"/>
                  </a:lnTo>
                  <a:lnTo>
                    <a:pt x="0" y="0"/>
                  </a:lnTo>
                  <a:lnTo>
                    <a:pt x="4251604" y="0"/>
                  </a:lnTo>
                  <a:lnTo>
                    <a:pt x="4251604" y="1279804"/>
                  </a:lnTo>
                  <a:lnTo>
                    <a:pt x="2125802" y="1279804"/>
                  </a:lnTo>
                  <a:close/>
                </a:path>
              </a:pathLst>
            </a:custGeom>
            <a:ln w="15119">
              <a:solidFill>
                <a:srgbClr val="1D5E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708804" y="804242"/>
              <a:ext cx="54610" cy="1280160"/>
            </a:xfrm>
            <a:custGeom>
              <a:avLst/>
              <a:gdLst/>
              <a:ahLst/>
              <a:cxnLst/>
              <a:rect l="l" t="t" r="r" b="b"/>
              <a:pathLst>
                <a:path w="54610" h="1280160">
                  <a:moveTo>
                    <a:pt x="54356" y="0"/>
                  </a:moveTo>
                  <a:lnTo>
                    <a:pt x="0" y="0"/>
                  </a:lnTo>
                  <a:lnTo>
                    <a:pt x="0" y="1279804"/>
                  </a:lnTo>
                  <a:lnTo>
                    <a:pt x="27355" y="1279804"/>
                  </a:lnTo>
                  <a:lnTo>
                    <a:pt x="54356" y="1279804"/>
                  </a:lnTo>
                  <a:lnTo>
                    <a:pt x="54356" y="0"/>
                  </a:lnTo>
                  <a:close/>
                </a:path>
              </a:pathLst>
            </a:custGeom>
            <a:solidFill>
              <a:srgbClr val="1D5E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08804" y="804242"/>
              <a:ext cx="54610" cy="1280160"/>
            </a:xfrm>
            <a:custGeom>
              <a:avLst/>
              <a:gdLst/>
              <a:ahLst/>
              <a:cxnLst/>
              <a:rect l="l" t="t" r="r" b="b"/>
              <a:pathLst>
                <a:path w="54610" h="1280160">
                  <a:moveTo>
                    <a:pt x="27355" y="1279804"/>
                  </a:moveTo>
                  <a:lnTo>
                    <a:pt x="0" y="1279804"/>
                  </a:lnTo>
                  <a:lnTo>
                    <a:pt x="0" y="0"/>
                  </a:lnTo>
                  <a:lnTo>
                    <a:pt x="54356" y="0"/>
                  </a:lnTo>
                  <a:lnTo>
                    <a:pt x="54356" y="1279804"/>
                  </a:lnTo>
                  <a:lnTo>
                    <a:pt x="27355" y="1279804"/>
                  </a:lnTo>
                  <a:close/>
                </a:path>
              </a:pathLst>
            </a:custGeom>
            <a:ln w="12599">
              <a:solidFill>
                <a:srgbClr val="1D5E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818964" y="898108"/>
            <a:ext cx="1920239" cy="447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621030" algn="l"/>
              </a:tabLst>
            </a:pPr>
            <a:r>
              <a:rPr sz="1000" b="1" spc="-20" dirty="0">
                <a:solidFill>
                  <a:srgbClr val="1D5EAC"/>
                </a:solidFill>
                <a:latin typeface="Courier New"/>
                <a:cs typeface="Courier New"/>
              </a:rPr>
              <a:t>L_CE</a:t>
            </a:r>
            <a:r>
              <a:rPr sz="1000" b="1" dirty="0">
                <a:solidFill>
                  <a:srgbClr val="1D5EAC"/>
                </a:solidFill>
                <a:latin typeface="Courier New"/>
                <a:cs typeface="Courier New"/>
              </a:rPr>
              <a:t>	</a:t>
            </a:r>
            <a:r>
              <a:rPr sz="950" b="1" spc="-10" dirty="0">
                <a:solidFill>
                  <a:srgbClr val="1A396A"/>
                </a:solidFill>
                <a:latin typeface="Calibri"/>
                <a:cs typeface="Calibri"/>
              </a:rPr>
              <a:t>Cross-Entropy</a:t>
            </a:r>
            <a:r>
              <a:rPr sz="950" b="1" spc="25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1A396A"/>
                </a:solidFill>
                <a:latin typeface="Calibri"/>
                <a:cs typeface="Calibri"/>
              </a:rPr>
              <a:t>(Hard)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L_CE</a:t>
            </a:r>
            <a:r>
              <a:rPr sz="750" spc="5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=</a:t>
            </a:r>
            <a:r>
              <a:rPr sz="750" spc="10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-SUM_c</a:t>
            </a:r>
            <a:r>
              <a:rPr sz="750" spc="450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y_c</a:t>
            </a:r>
            <a:r>
              <a:rPr sz="750" spc="10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*</a:t>
            </a:r>
            <a:r>
              <a:rPr sz="750" spc="10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log</a:t>
            </a:r>
            <a:r>
              <a:rPr sz="750" spc="10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191F2B"/>
                </a:solidFill>
                <a:latin typeface="Courier New"/>
                <a:cs typeface="Courier New"/>
              </a:rPr>
              <a:t>p_S(c|x)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18964" y="1584263"/>
            <a:ext cx="35204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Standard 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supervised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learning 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on</a:t>
            </a:r>
            <a:r>
              <a:rPr sz="80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ground-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truth</a:t>
            </a:r>
            <a:r>
              <a:rPr sz="80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labels.</a:t>
            </a:r>
            <a:r>
              <a:rPr sz="80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Combined: 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L</a:t>
            </a:r>
            <a:r>
              <a:rPr sz="80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=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alpha*L_CE 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+ </a:t>
            </a:r>
            <a:r>
              <a:rPr sz="800" spc="-25" dirty="0">
                <a:solidFill>
                  <a:srgbClr val="63738A"/>
                </a:solidFill>
                <a:latin typeface="Calibri"/>
                <a:cs typeface="Calibri"/>
              </a:rPr>
              <a:t>(1-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alpha)*T^2*L_KL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38595" y="2093393"/>
            <a:ext cx="4469765" cy="1497965"/>
            <a:chOff x="138595" y="2093393"/>
            <a:chExt cx="4469765" cy="1497965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95" y="2093393"/>
              <a:ext cx="4469765" cy="149760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74320" y="2175842"/>
              <a:ext cx="4251960" cy="1280160"/>
            </a:xfrm>
            <a:custGeom>
              <a:avLst/>
              <a:gdLst/>
              <a:ahLst/>
              <a:cxnLst/>
              <a:rect l="l" t="t" r="r" b="b"/>
              <a:pathLst>
                <a:path w="4251960" h="1280160">
                  <a:moveTo>
                    <a:pt x="4251604" y="0"/>
                  </a:moveTo>
                  <a:lnTo>
                    <a:pt x="0" y="0"/>
                  </a:lnTo>
                  <a:lnTo>
                    <a:pt x="0" y="1279804"/>
                  </a:lnTo>
                  <a:lnTo>
                    <a:pt x="2125802" y="1279804"/>
                  </a:lnTo>
                  <a:lnTo>
                    <a:pt x="4251604" y="1279804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4320" y="2175842"/>
              <a:ext cx="4251960" cy="1280160"/>
            </a:xfrm>
            <a:custGeom>
              <a:avLst/>
              <a:gdLst/>
              <a:ahLst/>
              <a:cxnLst/>
              <a:rect l="l" t="t" r="r" b="b"/>
              <a:pathLst>
                <a:path w="4251960" h="1280160">
                  <a:moveTo>
                    <a:pt x="2125802" y="1279804"/>
                  </a:moveTo>
                  <a:lnTo>
                    <a:pt x="0" y="1279804"/>
                  </a:lnTo>
                  <a:lnTo>
                    <a:pt x="0" y="0"/>
                  </a:lnTo>
                  <a:lnTo>
                    <a:pt x="4251604" y="0"/>
                  </a:lnTo>
                  <a:lnTo>
                    <a:pt x="4251604" y="1279804"/>
                  </a:lnTo>
                  <a:lnTo>
                    <a:pt x="2125802" y="1279804"/>
                  </a:lnTo>
                  <a:close/>
                </a:path>
              </a:pathLst>
            </a:custGeom>
            <a:ln w="15119">
              <a:solidFill>
                <a:srgbClr val="F3A1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3964" y="2175842"/>
              <a:ext cx="54610" cy="1280160"/>
            </a:xfrm>
            <a:custGeom>
              <a:avLst/>
              <a:gdLst/>
              <a:ahLst/>
              <a:cxnLst/>
              <a:rect l="l" t="t" r="r" b="b"/>
              <a:pathLst>
                <a:path w="54610" h="1280160">
                  <a:moveTo>
                    <a:pt x="54356" y="0"/>
                  </a:moveTo>
                  <a:lnTo>
                    <a:pt x="0" y="0"/>
                  </a:lnTo>
                  <a:lnTo>
                    <a:pt x="0" y="1279804"/>
                  </a:lnTo>
                  <a:lnTo>
                    <a:pt x="27355" y="1279804"/>
                  </a:lnTo>
                  <a:lnTo>
                    <a:pt x="54356" y="1279804"/>
                  </a:lnTo>
                  <a:lnTo>
                    <a:pt x="54356" y="0"/>
                  </a:lnTo>
                  <a:close/>
                </a:path>
              </a:pathLst>
            </a:custGeom>
            <a:solidFill>
              <a:srgbClr val="F3A1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73964" y="2175842"/>
              <a:ext cx="54610" cy="1280160"/>
            </a:xfrm>
            <a:custGeom>
              <a:avLst/>
              <a:gdLst/>
              <a:ahLst/>
              <a:cxnLst/>
              <a:rect l="l" t="t" r="r" b="b"/>
              <a:pathLst>
                <a:path w="54610" h="1280160">
                  <a:moveTo>
                    <a:pt x="27355" y="1279804"/>
                  </a:moveTo>
                  <a:lnTo>
                    <a:pt x="0" y="1279804"/>
                  </a:lnTo>
                  <a:lnTo>
                    <a:pt x="0" y="0"/>
                  </a:lnTo>
                  <a:lnTo>
                    <a:pt x="54356" y="0"/>
                  </a:lnTo>
                  <a:lnTo>
                    <a:pt x="54356" y="1279804"/>
                  </a:lnTo>
                  <a:lnTo>
                    <a:pt x="27355" y="1279804"/>
                  </a:lnTo>
                  <a:close/>
                </a:path>
              </a:pathLst>
            </a:custGeom>
            <a:ln w="12599">
              <a:solidFill>
                <a:srgbClr val="F3A1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34620" y="2269707"/>
            <a:ext cx="4184015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3A160"/>
                </a:solidFill>
                <a:latin typeface="Courier New"/>
                <a:cs typeface="Courier New"/>
              </a:rPr>
              <a:t>L_attn</a:t>
            </a:r>
            <a:r>
              <a:rPr sz="1000" b="1" spc="50" dirty="0">
                <a:solidFill>
                  <a:srgbClr val="F3A160"/>
                </a:solidFill>
                <a:latin typeface="Courier New"/>
                <a:cs typeface="Courier New"/>
              </a:rPr>
              <a:t>  </a:t>
            </a:r>
            <a:r>
              <a:rPr sz="950" b="1" spc="-20" dirty="0">
                <a:solidFill>
                  <a:srgbClr val="1A396A"/>
                </a:solidFill>
                <a:latin typeface="Calibri"/>
                <a:cs typeface="Calibri"/>
              </a:rPr>
              <a:t>Attention</a:t>
            </a:r>
            <a:r>
              <a:rPr sz="950" b="1" spc="-5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950" b="1" spc="-25" dirty="0">
                <a:solidFill>
                  <a:srgbClr val="1A396A"/>
                </a:solidFill>
                <a:latin typeface="Calibri"/>
                <a:cs typeface="Calibri"/>
              </a:rPr>
              <a:t>MSE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50">
              <a:latin typeface="Calibri"/>
              <a:cs typeface="Calibri"/>
            </a:endParaRPr>
          </a:p>
          <a:p>
            <a:pPr marL="48895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L_attn</a:t>
            </a:r>
            <a:r>
              <a:rPr sz="750" spc="5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=</a:t>
            </a:r>
            <a:r>
              <a:rPr sz="750" spc="10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(1/h)</a:t>
            </a:r>
            <a:r>
              <a:rPr sz="750" spc="-10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*</a:t>
            </a:r>
            <a:r>
              <a:rPr sz="750" spc="5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SUM_i</a:t>
            </a:r>
            <a:r>
              <a:rPr sz="750" spc="455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||A_S^i</a:t>
            </a:r>
            <a:r>
              <a:rPr sz="750" spc="5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-</a:t>
            </a:r>
            <a:r>
              <a:rPr sz="750" spc="10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191F2B"/>
                </a:solidFill>
                <a:latin typeface="Courier New"/>
                <a:cs typeface="Courier New"/>
              </a:rPr>
              <a:t>A_T^i||_F^2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750">
              <a:latin typeface="Courier New"/>
              <a:cs typeface="Courier New"/>
            </a:endParaRPr>
          </a:p>
          <a:p>
            <a:pPr marL="48895" marR="160020">
              <a:lnSpc>
                <a:spcPct val="100000"/>
              </a:lnSpc>
            </a:pP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Aligns</a:t>
            </a:r>
            <a:r>
              <a:rPr sz="8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attention</a:t>
            </a:r>
            <a:r>
              <a:rPr sz="8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probability</a:t>
            </a:r>
            <a:r>
              <a:rPr sz="80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matrices</a:t>
            </a:r>
            <a:r>
              <a:rPr sz="80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across</a:t>
            </a:r>
            <a:r>
              <a:rPr sz="8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all</a:t>
            </a:r>
            <a:r>
              <a:rPr sz="800" spc="-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heads.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h=heads, A=attention</a:t>
            </a:r>
            <a:r>
              <a:rPr sz="8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matrix</a:t>
            </a:r>
            <a:r>
              <a:rPr sz="80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after</a:t>
            </a:r>
            <a:r>
              <a:rPr sz="80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softmax</a:t>
            </a:r>
            <a:r>
              <a:rPr sz="800" spc="50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(TinyBERT).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573435" y="2093393"/>
            <a:ext cx="4469765" cy="1497965"/>
            <a:chOff x="4573435" y="2093393"/>
            <a:chExt cx="4469765" cy="1497965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3435" y="2093393"/>
              <a:ext cx="4469765" cy="149760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709160" y="2175842"/>
              <a:ext cx="4251960" cy="1280160"/>
            </a:xfrm>
            <a:custGeom>
              <a:avLst/>
              <a:gdLst/>
              <a:ahLst/>
              <a:cxnLst/>
              <a:rect l="l" t="t" r="r" b="b"/>
              <a:pathLst>
                <a:path w="4251959" h="1280160">
                  <a:moveTo>
                    <a:pt x="4251604" y="0"/>
                  </a:moveTo>
                  <a:lnTo>
                    <a:pt x="0" y="0"/>
                  </a:lnTo>
                  <a:lnTo>
                    <a:pt x="0" y="1279804"/>
                  </a:lnTo>
                  <a:lnTo>
                    <a:pt x="2125802" y="1279804"/>
                  </a:lnTo>
                  <a:lnTo>
                    <a:pt x="4251604" y="1279804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709160" y="2175842"/>
              <a:ext cx="4251960" cy="1280160"/>
            </a:xfrm>
            <a:custGeom>
              <a:avLst/>
              <a:gdLst/>
              <a:ahLst/>
              <a:cxnLst/>
              <a:rect l="l" t="t" r="r" b="b"/>
              <a:pathLst>
                <a:path w="4251959" h="1280160">
                  <a:moveTo>
                    <a:pt x="2125802" y="1279804"/>
                  </a:moveTo>
                  <a:lnTo>
                    <a:pt x="0" y="1279804"/>
                  </a:lnTo>
                  <a:lnTo>
                    <a:pt x="0" y="0"/>
                  </a:lnTo>
                  <a:lnTo>
                    <a:pt x="4251604" y="0"/>
                  </a:lnTo>
                  <a:lnTo>
                    <a:pt x="4251604" y="1279804"/>
                  </a:lnTo>
                  <a:lnTo>
                    <a:pt x="2125802" y="1279804"/>
                  </a:lnTo>
                  <a:close/>
                </a:path>
              </a:pathLst>
            </a:custGeom>
            <a:ln w="15119">
              <a:solidFill>
                <a:srgbClr val="8A5B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708804" y="2175842"/>
              <a:ext cx="54610" cy="1280160"/>
            </a:xfrm>
            <a:custGeom>
              <a:avLst/>
              <a:gdLst/>
              <a:ahLst/>
              <a:cxnLst/>
              <a:rect l="l" t="t" r="r" b="b"/>
              <a:pathLst>
                <a:path w="54610" h="1280160">
                  <a:moveTo>
                    <a:pt x="54356" y="0"/>
                  </a:moveTo>
                  <a:lnTo>
                    <a:pt x="0" y="0"/>
                  </a:lnTo>
                  <a:lnTo>
                    <a:pt x="0" y="1279804"/>
                  </a:lnTo>
                  <a:lnTo>
                    <a:pt x="27355" y="1279804"/>
                  </a:lnTo>
                  <a:lnTo>
                    <a:pt x="54356" y="1279804"/>
                  </a:lnTo>
                  <a:lnTo>
                    <a:pt x="54356" y="0"/>
                  </a:lnTo>
                  <a:close/>
                </a:path>
              </a:pathLst>
            </a:custGeom>
            <a:solidFill>
              <a:srgbClr val="8A5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708804" y="2175842"/>
              <a:ext cx="54610" cy="1280160"/>
            </a:xfrm>
            <a:custGeom>
              <a:avLst/>
              <a:gdLst/>
              <a:ahLst/>
              <a:cxnLst/>
              <a:rect l="l" t="t" r="r" b="b"/>
              <a:pathLst>
                <a:path w="54610" h="1280160">
                  <a:moveTo>
                    <a:pt x="27355" y="1279804"/>
                  </a:moveTo>
                  <a:lnTo>
                    <a:pt x="0" y="1279804"/>
                  </a:lnTo>
                  <a:lnTo>
                    <a:pt x="0" y="0"/>
                  </a:lnTo>
                  <a:lnTo>
                    <a:pt x="54356" y="0"/>
                  </a:lnTo>
                  <a:lnTo>
                    <a:pt x="54356" y="1279804"/>
                  </a:lnTo>
                  <a:lnTo>
                    <a:pt x="27355" y="1279804"/>
                  </a:lnTo>
                  <a:close/>
                </a:path>
              </a:pathLst>
            </a:custGeom>
            <a:ln w="12599">
              <a:solidFill>
                <a:srgbClr val="8A5B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769460" y="2269707"/>
            <a:ext cx="4184015" cy="894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00"/>
              </a:spcBef>
              <a:tabLst>
                <a:tab pos="670560" algn="l"/>
              </a:tabLst>
            </a:pPr>
            <a:r>
              <a:rPr sz="1000" b="1" spc="-10" dirty="0">
                <a:solidFill>
                  <a:srgbClr val="8A5BF5"/>
                </a:solidFill>
                <a:latin typeface="Courier New"/>
                <a:cs typeface="Courier New"/>
              </a:rPr>
              <a:t>L_cos</a:t>
            </a:r>
            <a:r>
              <a:rPr sz="1000" b="1" dirty="0">
                <a:solidFill>
                  <a:srgbClr val="8A5BF5"/>
                </a:solidFill>
                <a:latin typeface="Courier New"/>
                <a:cs typeface="Courier New"/>
              </a:rPr>
              <a:t>	</a:t>
            </a:r>
            <a:r>
              <a:rPr sz="950" b="1" dirty="0">
                <a:solidFill>
                  <a:srgbClr val="1A396A"/>
                </a:solidFill>
                <a:latin typeface="Calibri"/>
                <a:cs typeface="Calibri"/>
              </a:rPr>
              <a:t>Cosine</a:t>
            </a:r>
            <a:r>
              <a:rPr sz="950" b="1" spc="-40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1A396A"/>
                </a:solidFill>
                <a:latin typeface="Calibri"/>
                <a:cs typeface="Calibri"/>
              </a:rPr>
              <a:t>Embedding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50">
              <a:latin typeface="Calibri"/>
              <a:cs typeface="Calibri"/>
            </a:endParaRPr>
          </a:p>
          <a:p>
            <a:pPr marL="48895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L_cos</a:t>
            </a:r>
            <a:r>
              <a:rPr sz="750" spc="5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=</a:t>
            </a:r>
            <a:r>
              <a:rPr sz="750" spc="10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1 -</a:t>
            </a:r>
            <a:r>
              <a:rPr sz="750" spc="10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cos(h_S,</a:t>
            </a:r>
            <a:r>
              <a:rPr sz="750" spc="10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h_T)</a:t>
            </a:r>
            <a:r>
              <a:rPr sz="750" spc="459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=</a:t>
            </a:r>
            <a:r>
              <a:rPr sz="750" spc="445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1</a:t>
            </a:r>
            <a:r>
              <a:rPr sz="750" spc="10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-</a:t>
            </a:r>
            <a:r>
              <a:rPr sz="750" spc="5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(h_S</a:t>
            </a:r>
            <a:r>
              <a:rPr sz="750" spc="10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dot</a:t>
            </a:r>
            <a:r>
              <a:rPr sz="750" spc="-5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h_T)</a:t>
            </a:r>
            <a:r>
              <a:rPr sz="750" spc="5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/</a:t>
            </a:r>
            <a:r>
              <a:rPr sz="750" spc="5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(||h_S||</a:t>
            </a:r>
            <a:r>
              <a:rPr sz="750" spc="10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191F2B"/>
                </a:solidFill>
                <a:latin typeface="Courier New"/>
                <a:cs typeface="Courier New"/>
              </a:rPr>
              <a:t>||h_T||)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750">
              <a:latin typeface="Courier New"/>
              <a:cs typeface="Courier New"/>
            </a:endParaRPr>
          </a:p>
          <a:p>
            <a:pPr marL="48895">
              <a:lnSpc>
                <a:spcPct val="100000"/>
              </a:lnSpc>
            </a:pP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Aligns</a:t>
            </a:r>
            <a:r>
              <a:rPr sz="800" spc="-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direction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 of</a:t>
            </a:r>
            <a:r>
              <a:rPr sz="80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student and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teacher</a:t>
            </a:r>
            <a:r>
              <a:rPr sz="80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hidden states. Invariant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 to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magnitude</a:t>
            </a:r>
            <a:r>
              <a:rPr sz="80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(DistilBERT).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38595" y="3464993"/>
            <a:ext cx="4469765" cy="1497965"/>
            <a:chOff x="138595" y="3464993"/>
            <a:chExt cx="4469765" cy="1497965"/>
          </a:xfrm>
        </p:grpSpPr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95" y="3464993"/>
              <a:ext cx="4469765" cy="149760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74320" y="3547442"/>
              <a:ext cx="4251960" cy="1280160"/>
            </a:xfrm>
            <a:custGeom>
              <a:avLst/>
              <a:gdLst/>
              <a:ahLst/>
              <a:cxnLst/>
              <a:rect l="l" t="t" r="r" b="b"/>
              <a:pathLst>
                <a:path w="4251960" h="1280160">
                  <a:moveTo>
                    <a:pt x="4251604" y="0"/>
                  </a:moveTo>
                  <a:lnTo>
                    <a:pt x="0" y="0"/>
                  </a:lnTo>
                  <a:lnTo>
                    <a:pt x="0" y="1279804"/>
                  </a:lnTo>
                  <a:lnTo>
                    <a:pt x="2125802" y="1279804"/>
                  </a:lnTo>
                  <a:lnTo>
                    <a:pt x="4251604" y="1279804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74320" y="3547442"/>
              <a:ext cx="4251960" cy="1280160"/>
            </a:xfrm>
            <a:custGeom>
              <a:avLst/>
              <a:gdLst/>
              <a:ahLst/>
              <a:cxnLst/>
              <a:rect l="l" t="t" r="r" b="b"/>
              <a:pathLst>
                <a:path w="4251960" h="1280160">
                  <a:moveTo>
                    <a:pt x="2125802" y="1279804"/>
                  </a:moveTo>
                  <a:lnTo>
                    <a:pt x="0" y="1279804"/>
                  </a:lnTo>
                  <a:lnTo>
                    <a:pt x="0" y="0"/>
                  </a:lnTo>
                  <a:lnTo>
                    <a:pt x="4251604" y="0"/>
                  </a:lnTo>
                  <a:lnTo>
                    <a:pt x="4251604" y="1279804"/>
                  </a:lnTo>
                  <a:lnTo>
                    <a:pt x="2125802" y="1279804"/>
                  </a:lnTo>
                  <a:close/>
                </a:path>
              </a:pathLst>
            </a:custGeom>
            <a:ln w="1511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73964" y="3547442"/>
              <a:ext cx="54610" cy="1280160"/>
            </a:xfrm>
            <a:custGeom>
              <a:avLst/>
              <a:gdLst/>
              <a:ahLst/>
              <a:cxnLst/>
              <a:rect l="l" t="t" r="r" b="b"/>
              <a:pathLst>
                <a:path w="54610" h="1280160">
                  <a:moveTo>
                    <a:pt x="54356" y="0"/>
                  </a:moveTo>
                  <a:lnTo>
                    <a:pt x="0" y="0"/>
                  </a:lnTo>
                  <a:lnTo>
                    <a:pt x="0" y="1279804"/>
                  </a:lnTo>
                  <a:lnTo>
                    <a:pt x="27355" y="1279804"/>
                  </a:lnTo>
                  <a:lnTo>
                    <a:pt x="54356" y="1279804"/>
                  </a:lnTo>
                  <a:lnTo>
                    <a:pt x="54356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73964" y="3547442"/>
              <a:ext cx="54610" cy="1280160"/>
            </a:xfrm>
            <a:custGeom>
              <a:avLst/>
              <a:gdLst/>
              <a:ahLst/>
              <a:cxnLst/>
              <a:rect l="l" t="t" r="r" b="b"/>
              <a:pathLst>
                <a:path w="54610" h="1280160">
                  <a:moveTo>
                    <a:pt x="27355" y="1279804"/>
                  </a:moveTo>
                  <a:lnTo>
                    <a:pt x="0" y="1279804"/>
                  </a:lnTo>
                  <a:lnTo>
                    <a:pt x="0" y="0"/>
                  </a:lnTo>
                  <a:lnTo>
                    <a:pt x="54356" y="0"/>
                  </a:lnTo>
                  <a:lnTo>
                    <a:pt x="54356" y="1279804"/>
                  </a:lnTo>
                  <a:lnTo>
                    <a:pt x="27355" y="1279804"/>
                  </a:lnTo>
                  <a:close/>
                </a:path>
              </a:pathLst>
            </a:custGeom>
            <a:ln w="1259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334620" y="3641307"/>
            <a:ext cx="4184015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21C45D"/>
                </a:solidFill>
                <a:latin typeface="Courier New"/>
                <a:cs typeface="Courier New"/>
              </a:rPr>
              <a:t>L_dist</a:t>
            </a:r>
            <a:r>
              <a:rPr sz="1000" b="1" spc="25" dirty="0">
                <a:solidFill>
                  <a:srgbClr val="21C45D"/>
                </a:solidFill>
                <a:latin typeface="Courier New"/>
                <a:cs typeface="Courier New"/>
              </a:rPr>
              <a:t>  </a:t>
            </a:r>
            <a:r>
              <a:rPr sz="950" b="1" dirty="0">
                <a:solidFill>
                  <a:srgbClr val="1A396A"/>
                </a:solidFill>
                <a:latin typeface="Calibri"/>
                <a:cs typeface="Calibri"/>
              </a:rPr>
              <a:t>RKD</a:t>
            </a:r>
            <a:r>
              <a:rPr sz="950" b="1" spc="-5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1A396A"/>
                </a:solidFill>
                <a:latin typeface="Calibri"/>
                <a:cs typeface="Calibri"/>
              </a:rPr>
              <a:t>Distance-</a:t>
            </a:r>
            <a:r>
              <a:rPr sz="950" b="1" spc="-20" dirty="0">
                <a:solidFill>
                  <a:srgbClr val="1A396A"/>
                </a:solidFill>
                <a:latin typeface="Calibri"/>
                <a:cs typeface="Calibri"/>
              </a:rPr>
              <a:t>wise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50">
              <a:latin typeface="Calibri"/>
              <a:cs typeface="Calibri"/>
            </a:endParaRPr>
          </a:p>
          <a:p>
            <a:pPr marL="48895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L_dist</a:t>
            </a:r>
            <a:r>
              <a:rPr sz="750" spc="5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=</a:t>
            </a:r>
            <a:r>
              <a:rPr sz="750" spc="5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SUM_(i,j)</a:t>
            </a:r>
            <a:r>
              <a:rPr sz="750" spc="455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psi(</a:t>
            </a:r>
            <a:r>
              <a:rPr sz="750" spc="5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|d_T(i,j)</a:t>
            </a:r>
            <a:r>
              <a:rPr sz="750" spc="10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- d_S(i,j)|</a:t>
            </a:r>
            <a:r>
              <a:rPr sz="750" spc="5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)</a:t>
            </a:r>
            <a:r>
              <a:rPr sz="750" spc="450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where</a:t>
            </a:r>
            <a:r>
              <a:rPr sz="750" spc="5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d=L2</a:t>
            </a:r>
            <a:r>
              <a:rPr sz="750" spc="10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191F2B"/>
                </a:solidFill>
                <a:latin typeface="Courier New"/>
                <a:cs typeface="Courier New"/>
              </a:rPr>
              <a:t>dist.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750">
              <a:latin typeface="Courier New"/>
              <a:cs typeface="Courier New"/>
            </a:endParaRPr>
          </a:p>
          <a:p>
            <a:pPr marL="48895" marR="252729">
              <a:lnSpc>
                <a:spcPct val="100000"/>
              </a:lnSpc>
            </a:pP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Relation-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based: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matches</a:t>
            </a:r>
            <a:r>
              <a:rPr sz="80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pairwise</a:t>
            </a:r>
            <a:r>
              <a:rPr sz="800" spc="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embedding</a:t>
            </a:r>
            <a:r>
              <a:rPr sz="800" spc="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distances.</a:t>
            </a:r>
            <a:r>
              <a:rPr sz="80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psi=Huber</a:t>
            </a:r>
            <a:r>
              <a:rPr sz="80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loss</a:t>
            </a:r>
            <a:r>
              <a:rPr sz="800" spc="1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for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 robustness</a:t>
            </a:r>
            <a:r>
              <a:rPr sz="80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against</a:t>
            </a:r>
            <a:r>
              <a:rPr sz="800" spc="50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outliers.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573435" y="3464993"/>
            <a:ext cx="4469765" cy="1497965"/>
            <a:chOff x="4573435" y="3464993"/>
            <a:chExt cx="4469765" cy="1497965"/>
          </a:xfrm>
        </p:grpSpPr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3435" y="3464993"/>
              <a:ext cx="4469765" cy="1497609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709160" y="3547442"/>
              <a:ext cx="4251960" cy="1280160"/>
            </a:xfrm>
            <a:custGeom>
              <a:avLst/>
              <a:gdLst/>
              <a:ahLst/>
              <a:cxnLst/>
              <a:rect l="l" t="t" r="r" b="b"/>
              <a:pathLst>
                <a:path w="4251959" h="1280160">
                  <a:moveTo>
                    <a:pt x="4251604" y="0"/>
                  </a:moveTo>
                  <a:lnTo>
                    <a:pt x="0" y="0"/>
                  </a:lnTo>
                  <a:lnTo>
                    <a:pt x="0" y="1279804"/>
                  </a:lnTo>
                  <a:lnTo>
                    <a:pt x="2125802" y="1279804"/>
                  </a:lnTo>
                  <a:lnTo>
                    <a:pt x="4251604" y="1279804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709160" y="3547442"/>
              <a:ext cx="4251960" cy="1280160"/>
            </a:xfrm>
            <a:custGeom>
              <a:avLst/>
              <a:gdLst/>
              <a:ahLst/>
              <a:cxnLst/>
              <a:rect l="l" t="t" r="r" b="b"/>
              <a:pathLst>
                <a:path w="4251959" h="1280160">
                  <a:moveTo>
                    <a:pt x="2125802" y="1279804"/>
                  </a:moveTo>
                  <a:lnTo>
                    <a:pt x="0" y="1279804"/>
                  </a:lnTo>
                  <a:lnTo>
                    <a:pt x="0" y="0"/>
                  </a:lnTo>
                  <a:lnTo>
                    <a:pt x="4251604" y="0"/>
                  </a:lnTo>
                  <a:lnTo>
                    <a:pt x="4251604" y="1279804"/>
                  </a:lnTo>
                  <a:lnTo>
                    <a:pt x="2125802" y="1279804"/>
                  </a:lnTo>
                  <a:close/>
                </a:path>
              </a:pathLst>
            </a:custGeom>
            <a:ln w="15119">
              <a:solidFill>
                <a:srgbClr val="EE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708804" y="3547442"/>
              <a:ext cx="54610" cy="1280160"/>
            </a:xfrm>
            <a:custGeom>
              <a:avLst/>
              <a:gdLst/>
              <a:ahLst/>
              <a:cxnLst/>
              <a:rect l="l" t="t" r="r" b="b"/>
              <a:pathLst>
                <a:path w="54610" h="1280160">
                  <a:moveTo>
                    <a:pt x="54356" y="0"/>
                  </a:moveTo>
                  <a:lnTo>
                    <a:pt x="0" y="0"/>
                  </a:lnTo>
                  <a:lnTo>
                    <a:pt x="0" y="1279804"/>
                  </a:lnTo>
                  <a:lnTo>
                    <a:pt x="27355" y="1279804"/>
                  </a:lnTo>
                  <a:lnTo>
                    <a:pt x="54356" y="1279804"/>
                  </a:lnTo>
                  <a:lnTo>
                    <a:pt x="54356" y="0"/>
                  </a:lnTo>
                  <a:close/>
                </a:path>
              </a:pathLst>
            </a:custGeom>
            <a:solidFill>
              <a:srgbClr val="EE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708804" y="3547442"/>
              <a:ext cx="54610" cy="1280160"/>
            </a:xfrm>
            <a:custGeom>
              <a:avLst/>
              <a:gdLst/>
              <a:ahLst/>
              <a:cxnLst/>
              <a:rect l="l" t="t" r="r" b="b"/>
              <a:pathLst>
                <a:path w="54610" h="1280160">
                  <a:moveTo>
                    <a:pt x="27355" y="1279804"/>
                  </a:moveTo>
                  <a:lnTo>
                    <a:pt x="0" y="1279804"/>
                  </a:lnTo>
                  <a:lnTo>
                    <a:pt x="0" y="0"/>
                  </a:lnTo>
                  <a:lnTo>
                    <a:pt x="54356" y="0"/>
                  </a:lnTo>
                  <a:lnTo>
                    <a:pt x="54356" y="1279804"/>
                  </a:lnTo>
                  <a:lnTo>
                    <a:pt x="27355" y="1279804"/>
                  </a:lnTo>
                  <a:close/>
                </a:path>
              </a:pathLst>
            </a:custGeom>
            <a:ln w="12599">
              <a:solidFill>
                <a:srgbClr val="EE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4769460" y="3641307"/>
            <a:ext cx="4184015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00"/>
              </a:spcBef>
              <a:tabLst>
                <a:tab pos="670560" algn="l"/>
              </a:tabLst>
            </a:pPr>
            <a:r>
              <a:rPr sz="1000" b="1" spc="-10" dirty="0">
                <a:solidFill>
                  <a:srgbClr val="EE4343"/>
                </a:solidFill>
                <a:latin typeface="Courier New"/>
                <a:cs typeface="Courier New"/>
              </a:rPr>
              <a:t>L_seq</a:t>
            </a:r>
            <a:r>
              <a:rPr sz="1000" b="1" dirty="0">
                <a:solidFill>
                  <a:srgbClr val="EE4343"/>
                </a:solidFill>
                <a:latin typeface="Courier New"/>
                <a:cs typeface="Courier New"/>
              </a:rPr>
              <a:t>	</a:t>
            </a:r>
            <a:r>
              <a:rPr sz="950" b="1" spc="-10" dirty="0">
                <a:solidFill>
                  <a:srgbClr val="1A396A"/>
                </a:solidFill>
                <a:latin typeface="Calibri"/>
                <a:cs typeface="Calibri"/>
              </a:rPr>
              <a:t>Seq-</a:t>
            </a:r>
            <a:r>
              <a:rPr sz="950" b="1" dirty="0">
                <a:solidFill>
                  <a:srgbClr val="1A396A"/>
                </a:solidFill>
                <a:latin typeface="Calibri"/>
                <a:cs typeface="Calibri"/>
              </a:rPr>
              <a:t>Level</a:t>
            </a:r>
            <a:r>
              <a:rPr sz="950" b="1" spc="-25" dirty="0">
                <a:solidFill>
                  <a:srgbClr val="1A396A"/>
                </a:solidFill>
                <a:latin typeface="Calibri"/>
                <a:cs typeface="Calibri"/>
              </a:rPr>
              <a:t> KD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50">
              <a:latin typeface="Calibri"/>
              <a:cs typeface="Calibri"/>
            </a:endParaRPr>
          </a:p>
          <a:p>
            <a:pPr marL="48895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L_seq</a:t>
            </a:r>
            <a:r>
              <a:rPr sz="750" spc="5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=</a:t>
            </a:r>
            <a:r>
              <a:rPr sz="750" spc="10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-SUM_t</a:t>
            </a:r>
            <a:r>
              <a:rPr sz="750" spc="-10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SUM_v</a:t>
            </a:r>
            <a:r>
              <a:rPr sz="750" spc="459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p_T(v|y_&lt;t,x)</a:t>
            </a:r>
            <a:r>
              <a:rPr sz="750" spc="10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191F2B"/>
                </a:solidFill>
                <a:latin typeface="Courier New"/>
                <a:cs typeface="Courier New"/>
              </a:rPr>
              <a:t>* log</a:t>
            </a:r>
            <a:r>
              <a:rPr sz="750" spc="10" dirty="0">
                <a:solidFill>
                  <a:srgbClr val="191F2B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191F2B"/>
                </a:solidFill>
                <a:latin typeface="Courier New"/>
                <a:cs typeface="Courier New"/>
              </a:rPr>
              <a:t>p_S(v|y_&lt;t,x)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750">
              <a:latin typeface="Courier New"/>
              <a:cs typeface="Courier New"/>
            </a:endParaRPr>
          </a:p>
          <a:p>
            <a:pPr marL="48895" marR="346075">
              <a:lnSpc>
                <a:spcPct val="100000"/>
              </a:lnSpc>
            </a:pPr>
            <a:r>
              <a:rPr sz="800" spc="-30" dirty="0">
                <a:solidFill>
                  <a:srgbClr val="63738A"/>
                </a:solidFill>
                <a:latin typeface="Calibri"/>
                <a:cs typeface="Calibri"/>
              </a:rPr>
              <a:t>Token-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level</a:t>
            </a:r>
            <a:r>
              <a:rPr sz="800" spc="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cross-entropy</a:t>
            </a:r>
            <a:r>
              <a:rPr sz="800" spc="1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against</a:t>
            </a:r>
            <a:r>
              <a:rPr sz="800" spc="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teacher</a:t>
            </a:r>
            <a:r>
              <a:rPr sz="800" spc="1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distribution</a:t>
            </a:r>
            <a:r>
              <a:rPr sz="80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at every</a:t>
            </a:r>
            <a:r>
              <a:rPr sz="800" spc="-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autoregressive</a:t>
            </a:r>
            <a:r>
              <a:rPr sz="800" spc="1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step.</a:t>
            </a:r>
            <a:r>
              <a:rPr sz="800" spc="1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63738A"/>
                </a:solidFill>
                <a:latin typeface="Calibri"/>
                <a:cs typeface="Calibri"/>
              </a:rPr>
              <a:t>Core</a:t>
            </a:r>
            <a:r>
              <a:rPr sz="800" spc="5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63738A"/>
                </a:solidFill>
                <a:latin typeface="Calibri"/>
                <a:cs typeface="Calibri"/>
              </a:rPr>
              <a:t>for</a:t>
            </a:r>
            <a:r>
              <a:rPr sz="800" spc="50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decoder</a:t>
            </a:r>
            <a:r>
              <a:rPr sz="800" spc="20" dirty="0">
                <a:solidFill>
                  <a:srgbClr val="63738A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63738A"/>
                </a:solidFill>
                <a:latin typeface="Calibri"/>
                <a:cs typeface="Calibri"/>
              </a:rPr>
              <a:t>LLMs.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10" dirty="0"/>
              <a:t>Knowledge</a:t>
            </a:r>
            <a:r>
              <a:rPr dirty="0"/>
              <a:t> </a:t>
            </a:r>
            <a:r>
              <a:rPr spc="-10" dirty="0"/>
              <a:t>Distillation</a:t>
            </a:r>
            <a:r>
              <a:rPr spc="-5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LLMs</a:t>
            </a:r>
            <a:r>
              <a:rPr spc="170" dirty="0"/>
              <a:t> </a:t>
            </a:r>
            <a:r>
              <a:rPr dirty="0"/>
              <a:t>|</a:t>
            </a:r>
            <a:r>
              <a:rPr spc="180" dirty="0"/>
              <a:t> </a:t>
            </a:r>
            <a:r>
              <a:rPr spc="-10" dirty="0"/>
              <a:t>Manisa</a:t>
            </a:r>
            <a:r>
              <a:rPr spc="-5" dirty="0"/>
              <a:t> </a:t>
            </a:r>
            <a:r>
              <a:rPr dirty="0"/>
              <a:t>Celal </a:t>
            </a:r>
            <a:r>
              <a:rPr spc="-10" dirty="0"/>
              <a:t>Bayar</a:t>
            </a:r>
            <a:r>
              <a:rPr spc="-5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11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/>
              <a:t>Literature</a:t>
            </a:r>
            <a:r>
              <a:rPr sz="2000" spc="-70" dirty="0"/>
              <a:t> </a:t>
            </a:r>
            <a:r>
              <a:rPr sz="2000" dirty="0"/>
              <a:t>Review</a:t>
            </a:r>
            <a:r>
              <a:rPr sz="2000" spc="-65" dirty="0"/>
              <a:t> </a:t>
            </a:r>
            <a:r>
              <a:rPr sz="2000" dirty="0"/>
              <a:t>-</a:t>
            </a:r>
            <a:r>
              <a:rPr sz="2000" spc="-65" dirty="0"/>
              <a:t> </a:t>
            </a:r>
            <a:r>
              <a:rPr sz="2000" dirty="0"/>
              <a:t>Key</a:t>
            </a:r>
            <a:r>
              <a:rPr sz="2000" spc="-65" dirty="0"/>
              <a:t> </a:t>
            </a:r>
            <a:r>
              <a:rPr sz="2000" spc="-10" dirty="0"/>
              <a:t>Works</a:t>
            </a:r>
            <a:r>
              <a:rPr sz="2000" spc="-65" dirty="0"/>
              <a:t> </a:t>
            </a:r>
            <a:r>
              <a:rPr sz="2000" spc="-10" dirty="0"/>
              <a:t>Summary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6224663" y="232107"/>
            <a:ext cx="26085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spc="-65" dirty="0">
                <a:solidFill>
                  <a:srgbClr val="00C1CA"/>
                </a:solidFill>
                <a:latin typeface="Arial"/>
                <a:cs typeface="Arial"/>
              </a:rPr>
              <a:t>02</a:t>
            </a:r>
            <a:r>
              <a:rPr sz="1100" i="1" spc="-2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30" dirty="0">
                <a:solidFill>
                  <a:srgbClr val="00C1CA"/>
                </a:solidFill>
                <a:latin typeface="Arial"/>
                <a:cs typeface="Arial"/>
              </a:rPr>
              <a:t>- </a:t>
            </a:r>
            <a:r>
              <a:rPr sz="1100" i="1" spc="-60" dirty="0">
                <a:solidFill>
                  <a:srgbClr val="00C1CA"/>
                </a:solidFill>
                <a:latin typeface="Arial"/>
                <a:cs typeface="Arial"/>
              </a:rPr>
              <a:t>Developmental</a:t>
            </a:r>
            <a:r>
              <a:rPr sz="1100" i="1" spc="-3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50" dirty="0">
                <a:solidFill>
                  <a:srgbClr val="00C1CA"/>
                </a:solidFill>
                <a:latin typeface="Arial"/>
                <a:cs typeface="Arial"/>
              </a:rPr>
              <a:t>Trajectory</a:t>
            </a:r>
            <a:r>
              <a:rPr sz="1100" i="1" spc="-2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00C1CA"/>
                </a:solidFill>
                <a:latin typeface="Arial"/>
                <a:cs typeface="Arial"/>
              </a:rPr>
              <a:t>of</a:t>
            </a:r>
            <a:r>
              <a:rPr sz="1100" i="1" spc="-4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155" dirty="0">
                <a:solidFill>
                  <a:srgbClr val="00C1CA"/>
                </a:solidFill>
                <a:latin typeface="Arial"/>
                <a:cs typeface="Arial"/>
              </a:rPr>
              <a:t>KD</a:t>
            </a:r>
            <a:r>
              <a:rPr sz="1100" i="1" spc="-20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65" dirty="0">
                <a:solidFill>
                  <a:srgbClr val="00C1CA"/>
                </a:solidFill>
                <a:latin typeface="Arial"/>
                <a:cs typeface="Arial"/>
              </a:rPr>
              <a:t>Research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6655" y="4885742"/>
            <a:ext cx="9156700" cy="264160"/>
            <a:chOff x="-6655" y="4885742"/>
            <a:chExt cx="9156700" cy="264160"/>
          </a:xfrm>
        </p:grpSpPr>
        <p:sp>
          <p:nvSpPr>
            <p:cNvPr id="5" name="object 5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631" y="0"/>
                  </a:moveTo>
                  <a:lnTo>
                    <a:pt x="0" y="0"/>
                  </a:lnTo>
                  <a:lnTo>
                    <a:pt x="0" y="251282"/>
                  </a:lnTo>
                  <a:lnTo>
                    <a:pt x="4572000" y="251282"/>
                  </a:lnTo>
                  <a:lnTo>
                    <a:pt x="9143631" y="251282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4572000" y="251282"/>
                  </a:moveTo>
                  <a:lnTo>
                    <a:pt x="0" y="251282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251282"/>
                  </a:lnTo>
                  <a:lnTo>
                    <a:pt x="4572000" y="251282"/>
                  </a:lnTo>
                  <a:close/>
                </a:path>
              </a:pathLst>
            </a:custGeom>
            <a:ln w="12599">
              <a:solidFill>
                <a:srgbClr val="0C1A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224281" y="791288"/>
            <a:ext cx="8695690" cy="4141470"/>
          </a:xfrm>
          <a:custGeom>
            <a:avLst/>
            <a:gdLst/>
            <a:ahLst/>
            <a:cxnLst/>
            <a:rect l="l" t="t" r="r" b="b"/>
            <a:pathLst>
              <a:path w="8695690" h="4141470">
                <a:moveTo>
                  <a:pt x="1695958" y="0"/>
                </a:moveTo>
                <a:lnTo>
                  <a:pt x="1695958" y="4141431"/>
                </a:lnTo>
              </a:path>
              <a:path w="8695690" h="4141470">
                <a:moveTo>
                  <a:pt x="3616197" y="0"/>
                </a:moveTo>
                <a:lnTo>
                  <a:pt x="3616197" y="4141431"/>
                </a:lnTo>
              </a:path>
              <a:path w="8695690" h="4141470">
                <a:moveTo>
                  <a:pt x="4622038" y="0"/>
                </a:moveTo>
                <a:lnTo>
                  <a:pt x="4622038" y="4141431"/>
                </a:lnTo>
              </a:path>
              <a:path w="8695690" h="4141470">
                <a:moveTo>
                  <a:pt x="5947918" y="0"/>
                </a:moveTo>
                <a:lnTo>
                  <a:pt x="5947918" y="4141431"/>
                </a:lnTo>
              </a:path>
              <a:path w="8695690" h="4141470">
                <a:moveTo>
                  <a:pt x="8691118" y="0"/>
                </a:moveTo>
                <a:lnTo>
                  <a:pt x="8691118" y="4141431"/>
                </a:lnTo>
              </a:path>
              <a:path w="8695690" h="4141470">
                <a:moveTo>
                  <a:pt x="0" y="4137113"/>
                </a:moveTo>
                <a:lnTo>
                  <a:pt x="8695436" y="4137113"/>
                </a:lnTo>
              </a:path>
            </a:pathLst>
          </a:custGeom>
          <a:ln w="8888">
            <a:solidFill>
              <a:srgbClr val="CAD4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24155" y="791162"/>
          <a:ext cx="8958577" cy="43395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3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4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2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64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984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28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Reference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1A396A"/>
                    </a:solidFill>
                  </a:tcPr>
                </a:tc>
                <a:tc>
                  <a:txBody>
                    <a:bodyPr/>
                    <a:lstStyle/>
                    <a:p>
                      <a:pPr marL="238760" marR="3937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r>
                        <a:rPr sz="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Contribution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1A396A"/>
                    </a:solidFill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KD </a:t>
                      </a:r>
                      <a:r>
                        <a:rPr sz="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Type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1A396A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Architecture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1A396A"/>
                    </a:solidFill>
                  </a:tcPr>
                </a:tc>
                <a:tc>
                  <a:txBody>
                    <a:bodyPr/>
                    <a:lstStyle/>
                    <a:p>
                      <a:pPr marL="3422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Key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Finding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1A39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Bucila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et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al.</a:t>
                      </a:r>
                      <a:r>
                        <a:rPr sz="7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(2006)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38760" marR="393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Ensemble compression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via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synthetic</a:t>
                      </a:r>
                      <a:r>
                        <a:rPr sz="7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data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Response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Shallow</a:t>
                      </a:r>
                      <a:r>
                        <a:rPr sz="7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NN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26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Teacher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ensembles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compressible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single</a:t>
                      </a:r>
                      <a:r>
                        <a:rPr sz="7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model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Hinton</a:t>
                      </a:r>
                      <a:r>
                        <a:rPr sz="7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et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al.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(2015)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38760" marR="393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Soft</a:t>
                      </a:r>
                      <a:r>
                        <a:rPr sz="7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targets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7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temperature</a:t>
                      </a:r>
                      <a:r>
                        <a:rPr sz="7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scaling</a:t>
                      </a:r>
                      <a:r>
                        <a:rPr sz="7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(T)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Response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Smaller</a:t>
                      </a:r>
                      <a:r>
                        <a:rPr sz="7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DNN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26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Temperature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softening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 reveals</a:t>
                      </a:r>
                      <a:r>
                        <a:rPr sz="7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inter-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class</a:t>
                      </a:r>
                      <a:r>
                        <a:rPr sz="7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knowledge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Romero</a:t>
                      </a:r>
                      <a:r>
                        <a:rPr sz="7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et</a:t>
                      </a:r>
                      <a:r>
                        <a:rPr sz="7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al.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(2015)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38760" marR="393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FitNets: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intermediate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 hint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 layers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Feature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Thin</a:t>
                      </a:r>
                      <a:r>
                        <a:rPr sz="7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deep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 net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26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Feature-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level</a:t>
                      </a:r>
                      <a:r>
                        <a:rPr sz="7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supervision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enables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deeper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students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Ba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7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Caruana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(2014)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38760" marR="393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Shallow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nets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mimic</a:t>
                      </a:r>
                      <a:r>
                        <a:rPr sz="7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deep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nets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Response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Shallow</a:t>
                      </a:r>
                      <a:r>
                        <a:rPr sz="7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net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26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Architecture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 depth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7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necessary for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high</a:t>
                      </a:r>
                      <a:r>
                        <a:rPr sz="7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performance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Zagoruyko</a:t>
                      </a:r>
                      <a:r>
                        <a:rPr sz="7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&amp; Komodakis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(2017)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38760" marR="393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Attention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Transfer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 maps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Feature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Various</a:t>
                      </a:r>
                      <a:r>
                        <a:rPr sz="7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CNN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26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Attention</a:t>
                      </a:r>
                      <a:r>
                        <a:rPr sz="7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map</a:t>
                      </a:r>
                      <a:r>
                        <a:rPr sz="7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replication</a:t>
                      </a:r>
                      <a:r>
                        <a:rPr sz="7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across</a:t>
                      </a:r>
                      <a:r>
                        <a:rPr sz="7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architectures</a:t>
                      </a:r>
                      <a:r>
                        <a:rPr sz="7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works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Park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et</a:t>
                      </a:r>
                      <a:r>
                        <a:rPr sz="7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al.</a:t>
                      </a:r>
                      <a:r>
                        <a:rPr sz="7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(2019)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38760" marR="393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RKD:</a:t>
                      </a:r>
                      <a:r>
                        <a:rPr sz="7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pairwise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distance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+ angle</a:t>
                      </a:r>
                      <a:r>
                        <a:rPr sz="7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loss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Relation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Various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26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Architecture-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agnostic</a:t>
                      </a:r>
                      <a:r>
                        <a:rPr sz="7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structural</a:t>
                      </a:r>
                      <a:r>
                        <a:rPr sz="75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knowledge</a:t>
                      </a:r>
                      <a:r>
                        <a:rPr sz="7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transfer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Sanh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et</a:t>
                      </a:r>
                      <a:r>
                        <a:rPr sz="7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al.</a:t>
                      </a:r>
                      <a:r>
                        <a:rPr sz="7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(2019)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38760" marR="393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DistilBERT:</a:t>
                      </a:r>
                      <a:r>
                        <a:rPr sz="75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triple</a:t>
                      </a:r>
                      <a:r>
                        <a:rPr sz="7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distillation</a:t>
                      </a:r>
                      <a:r>
                        <a:rPr sz="7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objective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Response+Feature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25" dirty="0">
                          <a:latin typeface="Calibri"/>
                          <a:cs typeface="Calibri"/>
                        </a:rPr>
                        <a:t>BERT-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6L</a:t>
                      </a:r>
                      <a:r>
                        <a:rPr sz="75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(66M)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26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97%</a:t>
                      </a:r>
                      <a:r>
                        <a:rPr sz="7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BERT</a:t>
                      </a:r>
                      <a:r>
                        <a:rPr sz="7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perf;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 -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40%</a:t>
                      </a:r>
                      <a:r>
                        <a:rPr sz="7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params;</a:t>
                      </a:r>
                      <a:r>
                        <a:rPr sz="7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60%</a:t>
                      </a:r>
                      <a:r>
                        <a:rPr sz="7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faster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Jiao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et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al.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 (2019)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38760" marR="393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TinyBERT:</a:t>
                      </a:r>
                      <a:r>
                        <a:rPr sz="7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two-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stage</a:t>
                      </a:r>
                      <a:r>
                        <a:rPr sz="75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transformer</a:t>
                      </a:r>
                      <a:r>
                        <a:rPr sz="7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KD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Feature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25" dirty="0">
                          <a:latin typeface="Calibri"/>
                          <a:cs typeface="Calibri"/>
                        </a:rPr>
                        <a:t>BERT-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4L</a:t>
                      </a:r>
                      <a:r>
                        <a:rPr sz="75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(14.5M)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26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96.8%</a:t>
                      </a:r>
                      <a:r>
                        <a:rPr sz="7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GLUE;</a:t>
                      </a:r>
                      <a:r>
                        <a:rPr sz="7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7.5x</a:t>
                      </a:r>
                      <a:r>
                        <a:rPr sz="7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faster</a:t>
                      </a:r>
                      <a:r>
                        <a:rPr sz="7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inference;</a:t>
                      </a:r>
                      <a:r>
                        <a:rPr sz="7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87%</a:t>
                      </a:r>
                      <a:r>
                        <a:rPr sz="7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params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Sun</a:t>
                      </a:r>
                      <a:r>
                        <a:rPr sz="7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et</a:t>
                      </a:r>
                      <a:r>
                        <a:rPr sz="7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al.</a:t>
                      </a:r>
                      <a:r>
                        <a:rPr sz="7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(2019)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38760" marR="393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PKD:</a:t>
                      </a:r>
                      <a:r>
                        <a:rPr sz="7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patient</a:t>
                      </a:r>
                      <a:r>
                        <a:rPr sz="7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multi-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layer</a:t>
                      </a:r>
                      <a:r>
                        <a:rPr sz="7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distillation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Feature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25" dirty="0">
                          <a:latin typeface="Calibri"/>
                          <a:cs typeface="Calibri"/>
                        </a:rPr>
                        <a:t>BERT-6L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26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Avoids</a:t>
                      </a:r>
                      <a:r>
                        <a:rPr sz="7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teacher</a:t>
                      </a:r>
                      <a:r>
                        <a:rPr sz="7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overfitting</a:t>
                      </a:r>
                      <a:r>
                        <a:rPr sz="7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via</a:t>
                      </a:r>
                      <a:r>
                        <a:rPr sz="7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patience</a:t>
                      </a:r>
                      <a:r>
                        <a:rPr sz="7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mechanism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Wang</a:t>
                      </a:r>
                      <a:r>
                        <a:rPr sz="7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et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al.</a:t>
                      </a:r>
                      <a:r>
                        <a:rPr sz="7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(2020/21)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38760" marR="393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MiniLM/MiniLMv2:</a:t>
                      </a:r>
                      <a:r>
                        <a:rPr sz="7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self-attention</a:t>
                      </a:r>
                      <a:r>
                        <a:rPr sz="7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KD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Feature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12-22M</a:t>
                      </a:r>
                      <a:r>
                        <a:rPr sz="7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params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26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Final-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layer</a:t>
                      </a:r>
                      <a:r>
                        <a:rPr sz="75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relation</a:t>
                      </a:r>
                      <a:r>
                        <a:rPr sz="7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distillation</a:t>
                      </a:r>
                      <a:r>
                        <a:rPr sz="75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sufficient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Ho</a:t>
                      </a:r>
                      <a:r>
                        <a:rPr sz="7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et al.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 (2023)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38760" marR="393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CoT</a:t>
                      </a:r>
                      <a:r>
                        <a:rPr sz="7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distillation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 via reasoning</a:t>
                      </a:r>
                      <a:r>
                        <a:rPr sz="7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traces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Response+CoT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Small</a:t>
                      </a:r>
                      <a:r>
                        <a:rPr sz="7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LM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26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Reasoning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traces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significantly</a:t>
                      </a:r>
                      <a:r>
                        <a:rPr sz="7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improve</a:t>
                      </a:r>
                      <a:r>
                        <a:rPr sz="7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student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 reasoning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Mukherjee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et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al.</a:t>
                      </a:r>
                      <a:r>
                        <a:rPr sz="7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(2023)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38760" marR="393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Orca: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explanation</a:t>
                      </a:r>
                      <a:r>
                        <a:rPr sz="7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tuning from 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GPT-</a:t>
                      </a:r>
                      <a:r>
                        <a:rPr sz="750" spc="-50" dirty="0">
                          <a:latin typeface="Calibri"/>
                          <a:cs typeface="Calibri"/>
                        </a:rPr>
                        <a:t>4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Black-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Box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CoT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LLaMA-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13B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26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Approaches</a:t>
                      </a:r>
                      <a:r>
                        <a:rPr sz="7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ChatGPT</a:t>
                      </a:r>
                      <a:r>
                        <a:rPr sz="75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7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professional</a:t>
                      </a:r>
                      <a:r>
                        <a:rPr sz="75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benchmarks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DeepSeek-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AI</a:t>
                      </a:r>
                      <a:r>
                        <a:rPr sz="75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(2025)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T w="9525">
                      <a:solidFill>
                        <a:srgbClr val="CAD4E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38760" marR="393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DeepSeek-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R1:</a:t>
                      </a:r>
                      <a:r>
                        <a:rPr sz="7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RL</a:t>
                      </a:r>
                      <a:r>
                        <a:rPr sz="7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7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CoT</a:t>
                      </a:r>
                      <a:r>
                        <a:rPr sz="7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distillation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CoT</a:t>
                      </a:r>
                      <a:r>
                        <a:rPr sz="7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7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RLKD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1.5B</a:t>
                      </a:r>
                      <a:r>
                        <a:rPr sz="7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7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70B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26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7B student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 near-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parity with</a:t>
                      </a:r>
                      <a:r>
                        <a:rPr sz="7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GPT-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4o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AIME 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2024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9525">
                      <a:solidFill>
                        <a:srgbClr val="CAD4E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>
                        <a:lnSpc>
                          <a:spcPts val="969"/>
                        </a:lnSpc>
                      </a:pPr>
                      <a:r>
                        <a:rPr sz="1350" b="1" i="1" spc="-150" baseline="-30864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800" spc="-335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K</a:t>
                      </a:r>
                      <a:r>
                        <a:rPr sz="1350" b="1" i="1" spc="-254" baseline="-30864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h</a:t>
                      </a:r>
                      <a:r>
                        <a:rPr sz="800" spc="-28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350" b="1" i="1" spc="-97" baseline="-30864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800" spc="-375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sz="1350" b="1" i="1" spc="-120" baseline="-30864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800" spc="-525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1350" b="1" i="1" spc="75" baseline="-30864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800" spc="-5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l</a:t>
                      </a:r>
                      <a:r>
                        <a:rPr sz="1350" b="1" i="1" spc="-660" baseline="-30864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g</a:t>
                      </a:r>
                      <a:r>
                        <a:rPr sz="800" spc="-15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800" spc="-40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d</a:t>
                      </a:r>
                      <a:r>
                        <a:rPr sz="1350" b="1" i="1" spc="-104" baseline="-30864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800" spc="-32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g</a:t>
                      </a:r>
                      <a:r>
                        <a:rPr sz="1350" b="1" i="1" spc="-262" baseline="-30864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800" spc="-25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1350" b="1" i="1" spc="-37" baseline="-30864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800" spc="-48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D</a:t>
                      </a:r>
                      <a:r>
                        <a:rPr sz="1350" b="1" i="1" spc="-22" baseline="-30864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350" b="1" i="1" spc="-487" baseline="-30864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800" spc="-15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800" spc="-185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sz="1350" b="1" i="1" spc="-555" baseline="-30864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ti</a:t>
                      </a:r>
                      <a:r>
                        <a:rPr sz="800" spc="-5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800" spc="-105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350" b="1" i="1" spc="-592" baseline="-30864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sz="80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l</a:t>
                      </a:r>
                      <a:r>
                        <a:rPr sz="800" spc="-15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l</a:t>
                      </a:r>
                      <a:r>
                        <a:rPr sz="800" spc="-39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350" b="1" i="1" spc="-179" baseline="-30864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800" spc="-34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ti</a:t>
                      </a:r>
                      <a:r>
                        <a:rPr sz="1350" b="1" i="1" spc="-37" baseline="-30864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sz="800" spc="-415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sz="1350" b="1" i="1" spc="-7" baseline="-30864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1350" b="1" i="1" spc="359" baseline="-30864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04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350" b="1" i="1" spc="-307" baseline="-30864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sz="800" spc="-204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f</a:t>
                      </a:r>
                      <a:r>
                        <a:rPr sz="1350" b="1" i="1" spc="-307" baseline="-30864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u</a:t>
                      </a:r>
                      <a:r>
                        <a:rPr sz="800" spc="-204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sz="1350" b="1" i="1" spc="-307" baseline="-30864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800" spc="-204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350" b="1" i="1" spc="-307" baseline="-30864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p</a:t>
                      </a:r>
                      <a:r>
                        <a:rPr sz="800" spc="-204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L</a:t>
                      </a:r>
                      <a:r>
                        <a:rPr sz="1350" b="1" i="1" spc="-307" baseline="-30864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u</a:t>
                      </a:r>
                      <a:r>
                        <a:rPr sz="800" spc="-204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L</a:t>
                      </a:r>
                      <a:r>
                        <a:rPr sz="1350" b="1" i="1" spc="-307" baseline="-30864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800" spc="-204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1350" b="1" i="1" spc="-307" baseline="-30864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350" b="1" i="1" spc="-135" baseline="-30864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l</a:t>
                      </a:r>
                      <a:r>
                        <a:rPr sz="800" spc="-9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sz="1350" b="1" i="1" spc="-135" baseline="-30864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ev</a:t>
                      </a:r>
                      <a:r>
                        <a:rPr sz="800" spc="-9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|</a:t>
                      </a:r>
                      <a:r>
                        <a:rPr sz="1350" b="1" i="1" spc="-135" baseline="-30864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sz="800" spc="-90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M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00" b="1" i="1" spc="-18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(</a:t>
                      </a:r>
                      <a:r>
                        <a:rPr sz="1200" spc="-277" baseline="34722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900" b="1" i="1" spc="-18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sz="1200" spc="-277" baseline="34722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900" b="1" i="1" spc="-18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1200" spc="-277" baseline="34722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900" b="1" i="1" spc="-18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1200" spc="-277" baseline="34722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sa</a:t>
                      </a:r>
                      <a:r>
                        <a:rPr sz="900" b="1" i="1" spc="-18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6-</a:t>
                      </a:r>
                      <a:r>
                        <a:rPr sz="1200" spc="-270" baseline="34722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sz="900" b="1" i="1" spc="-18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sz="1200" spc="-270" baseline="34722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900" b="1" i="1" spc="-18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1200" spc="-270" baseline="34722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sz="900" b="1" i="1" spc="-18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200" spc="-270" baseline="34722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l</a:t>
                      </a:r>
                      <a:r>
                        <a:rPr sz="900" b="1" i="1" spc="-18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5</a:t>
                      </a:r>
                      <a:r>
                        <a:rPr sz="1200" spc="-270" baseline="34722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B</a:t>
                      </a:r>
                      <a:r>
                        <a:rPr sz="900" b="1" i="1" spc="-18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)</a:t>
                      </a:r>
                      <a:r>
                        <a:rPr sz="1200" spc="-270" baseline="34722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900" b="1" i="1" spc="-18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200" spc="-225" baseline="34722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sz="900" b="1" i="1" spc="-15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200" spc="-232" baseline="34722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900" b="1" i="1" spc="-15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sz="1200" spc="-232" baseline="34722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200" spc="172" baseline="34722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i="1" spc="-51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200" spc="-60" baseline="34722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U</a:t>
                      </a:r>
                      <a:r>
                        <a:rPr sz="900" b="1" i="1" spc="-41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1200" spc="-30" baseline="34722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200" spc="-292" baseline="34722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900" b="1" i="1" spc="-29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p</a:t>
                      </a:r>
                      <a:r>
                        <a:rPr sz="1200" spc="-142" baseline="34722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v</a:t>
                      </a:r>
                      <a:r>
                        <a:rPr sz="900" b="1" i="1" spc="-254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200" spc="-247" baseline="34722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900" b="1" i="1" spc="-28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1200" spc="-30" baseline="34722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200" spc="-457" baseline="34722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sz="900" b="1" i="1" spc="-6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sz="1200" spc="-195" baseline="34722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900" b="1" i="1" spc="-32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1200" spc="-15" baseline="34722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1200" spc="-502" baseline="34722" dirty="0">
                          <a:solidFill>
                            <a:srgbClr val="CAD4E0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sz="900" b="1" i="1" spc="-1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900" b="1" i="1" spc="-2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900" b="1" i="1" spc="-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900" b="1" i="1" spc="-1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tio</a:t>
                      </a:r>
                      <a:r>
                        <a:rPr sz="900" b="1" i="1" spc="-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900" b="1" i="1" spc="-1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900" b="1" i="1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level</a:t>
                      </a:r>
                      <a:r>
                        <a:rPr sz="900" b="1" i="1" spc="16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i="1" spc="-1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(2015-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0165" marB="0"/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00" b="1" i="1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2022)</a:t>
                      </a:r>
                      <a:r>
                        <a:rPr sz="900" b="1" i="1" spc="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i="1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900" b="1" i="1" spc="-1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900" b="1" i="1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sz="900" b="1" i="1" spc="-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i="1" spc="-1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Reasoning-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01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900" b="1" i="1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level</a:t>
                      </a:r>
                      <a:r>
                        <a:rPr sz="900" b="1" i="1" spc="-3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i="1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(2022-</a:t>
                      </a:r>
                      <a:r>
                        <a:rPr sz="900" b="1" i="1" spc="-1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present)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50165" marB="0"/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ts val="950"/>
                        </a:lnSpc>
                      </a:pPr>
                      <a:r>
                        <a:rPr sz="800" dirty="0">
                          <a:solidFill>
                            <a:srgbClr val="00C1CA"/>
                          </a:solidFill>
                          <a:latin typeface="Calibri"/>
                          <a:cs typeface="Calibri"/>
                        </a:rPr>
                        <a:t>14 /</a:t>
                      </a:r>
                      <a:r>
                        <a:rPr sz="800" spc="-5" dirty="0">
                          <a:solidFill>
                            <a:srgbClr val="00C1C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5" dirty="0">
                          <a:solidFill>
                            <a:srgbClr val="00C1CA"/>
                          </a:solidFill>
                          <a:latin typeface="Calibri"/>
                          <a:cs typeface="Calibri"/>
                        </a:rPr>
                        <a:t>18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/>
              <a:t>Benefits,</a:t>
            </a:r>
            <a:r>
              <a:rPr sz="2000" spc="-80" dirty="0"/>
              <a:t> </a:t>
            </a:r>
            <a:r>
              <a:rPr sz="2000" dirty="0"/>
              <a:t>Challenges</a:t>
            </a:r>
            <a:r>
              <a:rPr sz="2000" spc="-75" dirty="0"/>
              <a:t> </a:t>
            </a:r>
            <a:r>
              <a:rPr sz="2000" dirty="0"/>
              <a:t>&amp;</a:t>
            </a:r>
            <a:r>
              <a:rPr sz="2000" spc="-85" dirty="0"/>
              <a:t> </a:t>
            </a:r>
            <a:r>
              <a:rPr sz="2000" spc="-10" dirty="0"/>
              <a:t>Limitations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7539735" y="232107"/>
            <a:ext cx="12960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spc="-65" dirty="0">
                <a:solidFill>
                  <a:srgbClr val="00C1CA"/>
                </a:solidFill>
                <a:latin typeface="Arial"/>
                <a:cs typeface="Arial"/>
              </a:rPr>
              <a:t>07</a:t>
            </a:r>
            <a:r>
              <a:rPr sz="1100" i="1" spc="-40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30" dirty="0">
                <a:solidFill>
                  <a:srgbClr val="00C1CA"/>
                </a:solidFill>
                <a:latin typeface="Arial"/>
                <a:cs typeface="Arial"/>
              </a:rPr>
              <a:t>-</a:t>
            </a:r>
            <a:r>
              <a:rPr sz="1100" i="1" spc="-45" dirty="0">
                <a:solidFill>
                  <a:srgbClr val="00C1CA"/>
                </a:solidFill>
                <a:latin typeface="Arial"/>
                <a:cs typeface="Arial"/>
              </a:rPr>
              <a:t> Critical</a:t>
            </a:r>
            <a:r>
              <a:rPr sz="1100" i="1" spc="-40" dirty="0">
                <a:solidFill>
                  <a:srgbClr val="00C1CA"/>
                </a:solidFill>
                <a:latin typeface="Arial"/>
                <a:cs typeface="Arial"/>
              </a:rPr>
              <a:t> Evaluation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6655" y="4885742"/>
            <a:ext cx="9156700" cy="264160"/>
            <a:chOff x="-6655" y="4885742"/>
            <a:chExt cx="9156700" cy="264160"/>
          </a:xfrm>
        </p:grpSpPr>
        <p:sp>
          <p:nvSpPr>
            <p:cNvPr id="5" name="object 5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631" y="0"/>
                  </a:moveTo>
                  <a:lnTo>
                    <a:pt x="0" y="0"/>
                  </a:lnTo>
                  <a:lnTo>
                    <a:pt x="0" y="251282"/>
                  </a:lnTo>
                  <a:lnTo>
                    <a:pt x="4572000" y="251282"/>
                  </a:lnTo>
                  <a:lnTo>
                    <a:pt x="9143631" y="251282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4572000" y="251282"/>
                  </a:moveTo>
                  <a:lnTo>
                    <a:pt x="0" y="251282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251282"/>
                  </a:lnTo>
                  <a:lnTo>
                    <a:pt x="4572000" y="251282"/>
                  </a:lnTo>
                  <a:close/>
                </a:path>
              </a:pathLst>
            </a:custGeom>
            <a:ln w="12599">
              <a:solidFill>
                <a:srgbClr val="0C1A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22758" y="795606"/>
            <a:ext cx="4437380" cy="1293495"/>
            <a:chOff x="122758" y="795606"/>
            <a:chExt cx="4437380" cy="1293495"/>
          </a:xfrm>
        </p:grpSpPr>
        <p:sp>
          <p:nvSpPr>
            <p:cNvPr id="8" name="object 8"/>
            <p:cNvSpPr/>
            <p:nvPr/>
          </p:nvSpPr>
          <p:spPr>
            <a:xfrm>
              <a:off x="255955" y="795606"/>
              <a:ext cx="4224655" cy="292735"/>
            </a:xfrm>
            <a:custGeom>
              <a:avLst/>
              <a:gdLst/>
              <a:ahLst/>
              <a:cxnLst/>
              <a:rect l="l" t="t" r="r" b="b"/>
              <a:pathLst>
                <a:path w="4224655" h="292734">
                  <a:moveTo>
                    <a:pt x="4224248" y="0"/>
                  </a:moveTo>
                  <a:lnTo>
                    <a:pt x="0" y="0"/>
                  </a:lnTo>
                  <a:lnTo>
                    <a:pt x="0" y="292315"/>
                  </a:lnTo>
                  <a:lnTo>
                    <a:pt x="2112124" y="292315"/>
                  </a:lnTo>
                  <a:lnTo>
                    <a:pt x="4224248" y="292315"/>
                  </a:lnTo>
                  <a:lnTo>
                    <a:pt x="4224248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758" y="1072072"/>
              <a:ext cx="4437354" cy="101700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55955" y="1152006"/>
              <a:ext cx="4224655" cy="804545"/>
            </a:xfrm>
            <a:custGeom>
              <a:avLst/>
              <a:gdLst/>
              <a:ahLst/>
              <a:cxnLst/>
              <a:rect l="l" t="t" r="r" b="b"/>
              <a:pathLst>
                <a:path w="4224655" h="804544">
                  <a:moveTo>
                    <a:pt x="4224248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2112124" y="804240"/>
                  </a:lnTo>
                  <a:lnTo>
                    <a:pt x="4224248" y="804240"/>
                  </a:lnTo>
                  <a:lnTo>
                    <a:pt x="42242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49300" y="789306"/>
          <a:ext cx="4197350" cy="1159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9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Benefits</a:t>
                      </a:r>
                      <a:r>
                        <a:rPr sz="10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0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Knowledge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Distillation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9850" marB="0">
                    <a:lnL w="76200">
                      <a:solidFill>
                        <a:srgbClr val="21C45D"/>
                      </a:solidFill>
                      <a:prstDash val="solid"/>
                    </a:lnL>
                    <a:lnR w="12700">
                      <a:solidFill>
                        <a:srgbClr val="21C45D"/>
                      </a:solidFill>
                      <a:prstDash val="solid"/>
                    </a:lnR>
                    <a:lnT w="12700">
                      <a:solidFill>
                        <a:srgbClr val="21C45D"/>
                      </a:solidFill>
                      <a:prstDash val="solid"/>
                    </a:lnT>
                    <a:lnB w="12700">
                      <a:solidFill>
                        <a:srgbClr val="21C45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21C45D"/>
                      </a:solidFill>
                      <a:prstDash val="solid"/>
                    </a:lnT>
                    <a:lnB w="12700">
                      <a:solidFill>
                        <a:srgbClr val="21C45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910"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900" b="1" spc="-1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Computational</a:t>
                      </a:r>
                      <a:r>
                        <a:rPr sz="900" b="1" spc="-2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Efficiency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0965" marR="229235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DistilBERT:</a:t>
                      </a:r>
                      <a:r>
                        <a:rPr sz="80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60%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faster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inference.</a:t>
                      </a:r>
                      <a:r>
                        <a:rPr sz="80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DeepSeek-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R1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7B:</a:t>
                      </a:r>
                      <a:r>
                        <a:rPr sz="80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~100x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less</a:t>
                      </a:r>
                      <a:r>
                        <a:rPr sz="80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compute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than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671B</a:t>
                      </a:r>
                      <a:r>
                        <a:rPr sz="80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teacher.</a:t>
                      </a:r>
                      <a:r>
                        <a:rPr sz="800" spc="5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Direct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reduction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latency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and API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cost</a:t>
                      </a:r>
                      <a:r>
                        <a:rPr sz="80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at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scale.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81915" marB="0">
                    <a:lnL w="76200">
                      <a:solidFill>
                        <a:srgbClr val="21C45D"/>
                      </a:solidFill>
                      <a:prstDash val="solid"/>
                    </a:lnL>
                    <a:lnR w="12700">
                      <a:solidFill>
                        <a:srgbClr val="21C45D"/>
                      </a:solidFill>
                      <a:prstDash val="solid"/>
                    </a:lnR>
                    <a:lnT w="12700">
                      <a:solidFill>
                        <a:srgbClr val="21C45D"/>
                      </a:solidFill>
                      <a:prstDash val="solid"/>
                    </a:lnT>
                    <a:lnB w="12700">
                      <a:solidFill>
                        <a:srgbClr val="21C45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2" name="object 12"/>
          <p:cNvGrpSpPr/>
          <p:nvPr/>
        </p:nvGrpSpPr>
        <p:grpSpPr>
          <a:xfrm>
            <a:off x="122758" y="1968476"/>
            <a:ext cx="4437380" cy="1017269"/>
            <a:chOff x="122758" y="1968476"/>
            <a:chExt cx="4437380" cy="1017269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758" y="1968476"/>
              <a:ext cx="4437354" cy="101700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55955" y="2048397"/>
              <a:ext cx="4224655" cy="804545"/>
            </a:xfrm>
            <a:custGeom>
              <a:avLst/>
              <a:gdLst/>
              <a:ahLst/>
              <a:cxnLst/>
              <a:rect l="l" t="t" r="r" b="b"/>
              <a:pathLst>
                <a:path w="4224655" h="804544">
                  <a:moveTo>
                    <a:pt x="4224248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2112124" y="804240"/>
                  </a:lnTo>
                  <a:lnTo>
                    <a:pt x="4224248" y="804240"/>
                  </a:lnTo>
                  <a:lnTo>
                    <a:pt x="42242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5955" y="2048397"/>
              <a:ext cx="4224655" cy="804545"/>
            </a:xfrm>
            <a:custGeom>
              <a:avLst/>
              <a:gdLst/>
              <a:ahLst/>
              <a:cxnLst/>
              <a:rect l="l" t="t" r="r" b="b"/>
              <a:pathLst>
                <a:path w="4224655" h="804544">
                  <a:moveTo>
                    <a:pt x="2112124" y="804240"/>
                  </a:moveTo>
                  <a:lnTo>
                    <a:pt x="0" y="804240"/>
                  </a:lnTo>
                  <a:lnTo>
                    <a:pt x="0" y="0"/>
                  </a:lnTo>
                  <a:lnTo>
                    <a:pt x="4224248" y="0"/>
                  </a:lnTo>
                  <a:lnTo>
                    <a:pt x="4224248" y="804240"/>
                  </a:lnTo>
                  <a:lnTo>
                    <a:pt x="2112124" y="804240"/>
                  </a:lnTo>
                  <a:close/>
                </a:path>
              </a:pathLst>
            </a:custGeom>
            <a:ln w="1007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5600" y="2048397"/>
              <a:ext cx="54610" cy="804545"/>
            </a:xfrm>
            <a:custGeom>
              <a:avLst/>
              <a:gdLst/>
              <a:ahLst/>
              <a:cxnLst/>
              <a:rect l="l" t="t" r="r" b="b"/>
              <a:pathLst>
                <a:path w="54610" h="804544">
                  <a:moveTo>
                    <a:pt x="54355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27355" y="804240"/>
                  </a:lnTo>
                  <a:lnTo>
                    <a:pt x="54355" y="804240"/>
                  </a:lnTo>
                  <a:lnTo>
                    <a:pt x="54355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5600" y="2048397"/>
              <a:ext cx="54610" cy="804545"/>
            </a:xfrm>
            <a:custGeom>
              <a:avLst/>
              <a:gdLst/>
              <a:ahLst/>
              <a:cxnLst/>
              <a:rect l="l" t="t" r="r" b="b"/>
              <a:pathLst>
                <a:path w="54610" h="804544">
                  <a:moveTo>
                    <a:pt x="27355" y="804240"/>
                  </a:moveTo>
                  <a:lnTo>
                    <a:pt x="0" y="804240"/>
                  </a:lnTo>
                  <a:lnTo>
                    <a:pt x="0" y="0"/>
                  </a:lnTo>
                  <a:lnTo>
                    <a:pt x="54355" y="0"/>
                  </a:lnTo>
                  <a:lnTo>
                    <a:pt x="54355" y="804240"/>
                  </a:lnTo>
                  <a:lnTo>
                    <a:pt x="27355" y="804240"/>
                  </a:lnTo>
                  <a:close/>
                </a:path>
              </a:pathLst>
            </a:custGeom>
            <a:ln w="1259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16256" y="2117422"/>
            <a:ext cx="415925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1A396A"/>
                </a:solidFill>
                <a:latin typeface="Calibri"/>
                <a:cs typeface="Calibri"/>
              </a:rPr>
              <a:t>Edge</a:t>
            </a:r>
            <a:r>
              <a:rPr sz="900" b="1" spc="-5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1A396A"/>
                </a:solidFill>
                <a:latin typeface="Calibri"/>
                <a:cs typeface="Calibri"/>
              </a:rPr>
              <a:t>&amp;</a:t>
            </a:r>
            <a:r>
              <a:rPr sz="900" b="1" spc="-20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1A396A"/>
                </a:solidFill>
                <a:latin typeface="Calibri"/>
                <a:cs typeface="Calibri"/>
              </a:rPr>
              <a:t>On-Premises</a:t>
            </a:r>
            <a:r>
              <a:rPr sz="900" b="1" spc="-5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1A396A"/>
                </a:solidFill>
                <a:latin typeface="Calibri"/>
                <a:cs typeface="Calibri"/>
              </a:rPr>
              <a:t>Deployment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900">
              <a:latin typeface="Calibri"/>
              <a:cs typeface="Calibri"/>
            </a:endParaRPr>
          </a:p>
          <a:p>
            <a:pPr marL="67310" marR="359410">
              <a:lnSpc>
                <a:spcPct val="100000"/>
              </a:lnSpc>
            </a:pP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Compact</a:t>
            </a:r>
            <a:r>
              <a:rPr sz="80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models</a:t>
            </a:r>
            <a:r>
              <a:rPr sz="80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(1-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13B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params)</a:t>
            </a:r>
            <a:r>
              <a:rPr sz="80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run</a:t>
            </a:r>
            <a:r>
              <a:rPr sz="80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on</a:t>
            </a:r>
            <a:r>
              <a:rPr sz="80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consumer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GPUs</a:t>
            </a:r>
            <a:r>
              <a:rPr sz="80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or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mobile</a:t>
            </a:r>
            <a:r>
              <a:rPr sz="80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NPUs.</a:t>
            </a:r>
            <a:r>
              <a:rPr sz="80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Privacy-sensitive</a:t>
            </a:r>
            <a:r>
              <a:rPr sz="800" spc="5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enterprise applications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become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feasible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 without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cloud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 dependency.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22758" y="2864512"/>
            <a:ext cx="4437380" cy="1017269"/>
            <a:chOff x="122758" y="2864512"/>
            <a:chExt cx="4437380" cy="1017269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758" y="2864512"/>
              <a:ext cx="4437354" cy="101700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55955" y="2944446"/>
              <a:ext cx="4224655" cy="804545"/>
            </a:xfrm>
            <a:custGeom>
              <a:avLst/>
              <a:gdLst/>
              <a:ahLst/>
              <a:cxnLst/>
              <a:rect l="l" t="t" r="r" b="b"/>
              <a:pathLst>
                <a:path w="4224655" h="804545">
                  <a:moveTo>
                    <a:pt x="4224248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2112124" y="804240"/>
                  </a:lnTo>
                  <a:lnTo>
                    <a:pt x="4224248" y="804240"/>
                  </a:lnTo>
                  <a:lnTo>
                    <a:pt x="42242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5955" y="2944446"/>
              <a:ext cx="4224655" cy="804545"/>
            </a:xfrm>
            <a:custGeom>
              <a:avLst/>
              <a:gdLst/>
              <a:ahLst/>
              <a:cxnLst/>
              <a:rect l="l" t="t" r="r" b="b"/>
              <a:pathLst>
                <a:path w="4224655" h="804545">
                  <a:moveTo>
                    <a:pt x="2112124" y="804240"/>
                  </a:moveTo>
                  <a:lnTo>
                    <a:pt x="0" y="804240"/>
                  </a:lnTo>
                  <a:lnTo>
                    <a:pt x="0" y="0"/>
                  </a:lnTo>
                  <a:lnTo>
                    <a:pt x="4224248" y="0"/>
                  </a:lnTo>
                  <a:lnTo>
                    <a:pt x="4224248" y="804240"/>
                  </a:lnTo>
                  <a:lnTo>
                    <a:pt x="2112124" y="804240"/>
                  </a:lnTo>
                  <a:close/>
                </a:path>
              </a:pathLst>
            </a:custGeom>
            <a:ln w="1007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55600" y="2944446"/>
              <a:ext cx="54610" cy="804545"/>
            </a:xfrm>
            <a:custGeom>
              <a:avLst/>
              <a:gdLst/>
              <a:ahLst/>
              <a:cxnLst/>
              <a:rect l="l" t="t" r="r" b="b"/>
              <a:pathLst>
                <a:path w="54610" h="804545">
                  <a:moveTo>
                    <a:pt x="54355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27355" y="804240"/>
                  </a:lnTo>
                  <a:lnTo>
                    <a:pt x="54355" y="804240"/>
                  </a:lnTo>
                  <a:lnTo>
                    <a:pt x="54355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5600" y="2944446"/>
              <a:ext cx="54610" cy="804545"/>
            </a:xfrm>
            <a:custGeom>
              <a:avLst/>
              <a:gdLst/>
              <a:ahLst/>
              <a:cxnLst/>
              <a:rect l="l" t="t" r="r" b="b"/>
              <a:pathLst>
                <a:path w="54610" h="804545">
                  <a:moveTo>
                    <a:pt x="27355" y="804240"/>
                  </a:moveTo>
                  <a:lnTo>
                    <a:pt x="0" y="804240"/>
                  </a:lnTo>
                  <a:lnTo>
                    <a:pt x="0" y="0"/>
                  </a:lnTo>
                  <a:lnTo>
                    <a:pt x="54355" y="0"/>
                  </a:lnTo>
                  <a:lnTo>
                    <a:pt x="54355" y="804240"/>
                  </a:lnTo>
                  <a:lnTo>
                    <a:pt x="27355" y="804240"/>
                  </a:lnTo>
                  <a:close/>
                </a:path>
              </a:pathLst>
            </a:custGeom>
            <a:ln w="1259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16256" y="3013457"/>
            <a:ext cx="4159250" cy="638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1A396A"/>
                </a:solidFill>
                <a:latin typeface="Calibri"/>
                <a:cs typeface="Calibri"/>
              </a:rPr>
              <a:t>Regularization</a:t>
            </a:r>
            <a:r>
              <a:rPr sz="900" b="1" spc="-30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1A396A"/>
                </a:solidFill>
                <a:latin typeface="Calibri"/>
                <a:cs typeface="Calibri"/>
              </a:rPr>
              <a:t>Effect</a:t>
            </a:r>
            <a:endParaRPr sz="900">
              <a:latin typeface="Calibri"/>
              <a:cs typeface="Calibri"/>
            </a:endParaRPr>
          </a:p>
          <a:p>
            <a:pPr marL="67310" marR="288925">
              <a:lnSpc>
                <a:spcPct val="100000"/>
              </a:lnSpc>
              <a:spcBef>
                <a:spcPts val="870"/>
              </a:spcBef>
            </a:pP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Soft</a:t>
            </a:r>
            <a:r>
              <a:rPr sz="8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targets</a:t>
            </a:r>
            <a:r>
              <a:rPr sz="8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act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as label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smoothing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+</a:t>
            </a:r>
            <a:r>
              <a:rPr sz="800" spc="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implicit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data</a:t>
            </a:r>
            <a:r>
              <a:rPr sz="8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augmentation.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Distilled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models</a:t>
            </a:r>
            <a:r>
              <a:rPr sz="800" spc="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often</a:t>
            </a:r>
            <a:r>
              <a:rPr sz="800" spc="5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generalize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better</a:t>
            </a:r>
            <a:r>
              <a:rPr sz="8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than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191F2B"/>
                </a:solidFill>
                <a:latin typeface="Calibri"/>
                <a:cs typeface="Calibri"/>
              </a:rPr>
              <a:t>equivalently-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sized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models</a:t>
            </a:r>
            <a:r>
              <a:rPr sz="800" spc="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trained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from</a:t>
            </a:r>
            <a:r>
              <a:rPr sz="8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scratch,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especially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 in</a:t>
            </a:r>
            <a:r>
              <a:rPr sz="8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low-</a:t>
            </a:r>
            <a:r>
              <a:rPr sz="800" spc="-20" dirty="0">
                <a:solidFill>
                  <a:srgbClr val="191F2B"/>
                </a:solidFill>
                <a:latin typeface="Calibri"/>
                <a:cs typeface="Calibri"/>
              </a:rPr>
              <a:t>data</a:t>
            </a:r>
            <a:r>
              <a:rPr sz="800" spc="5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regimes</a:t>
            </a:r>
            <a:r>
              <a:rPr sz="800" spc="-3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(Tang</a:t>
            </a:r>
            <a:r>
              <a:rPr sz="80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et</a:t>
            </a:r>
            <a:r>
              <a:rPr sz="80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al.,</a:t>
            </a:r>
            <a:r>
              <a:rPr sz="800" spc="-2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2020).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22758" y="3760560"/>
            <a:ext cx="4437380" cy="1017269"/>
            <a:chOff x="122758" y="3760560"/>
            <a:chExt cx="4437380" cy="1017269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758" y="3760560"/>
              <a:ext cx="4437354" cy="101700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55955" y="3840481"/>
              <a:ext cx="4224655" cy="804545"/>
            </a:xfrm>
            <a:custGeom>
              <a:avLst/>
              <a:gdLst/>
              <a:ahLst/>
              <a:cxnLst/>
              <a:rect l="l" t="t" r="r" b="b"/>
              <a:pathLst>
                <a:path w="4224655" h="804545">
                  <a:moveTo>
                    <a:pt x="4224248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2112124" y="804240"/>
                  </a:lnTo>
                  <a:lnTo>
                    <a:pt x="4224248" y="804240"/>
                  </a:lnTo>
                  <a:lnTo>
                    <a:pt x="42242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55955" y="3840481"/>
              <a:ext cx="4224655" cy="804545"/>
            </a:xfrm>
            <a:custGeom>
              <a:avLst/>
              <a:gdLst/>
              <a:ahLst/>
              <a:cxnLst/>
              <a:rect l="l" t="t" r="r" b="b"/>
              <a:pathLst>
                <a:path w="4224655" h="804545">
                  <a:moveTo>
                    <a:pt x="2112124" y="804240"/>
                  </a:moveTo>
                  <a:lnTo>
                    <a:pt x="0" y="804240"/>
                  </a:lnTo>
                  <a:lnTo>
                    <a:pt x="0" y="0"/>
                  </a:lnTo>
                  <a:lnTo>
                    <a:pt x="4224248" y="0"/>
                  </a:lnTo>
                  <a:lnTo>
                    <a:pt x="4224248" y="804240"/>
                  </a:lnTo>
                  <a:lnTo>
                    <a:pt x="2112124" y="804240"/>
                  </a:lnTo>
                  <a:close/>
                </a:path>
              </a:pathLst>
            </a:custGeom>
            <a:ln w="1007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55600" y="3840481"/>
              <a:ext cx="54610" cy="804545"/>
            </a:xfrm>
            <a:custGeom>
              <a:avLst/>
              <a:gdLst/>
              <a:ahLst/>
              <a:cxnLst/>
              <a:rect l="l" t="t" r="r" b="b"/>
              <a:pathLst>
                <a:path w="54610" h="804545">
                  <a:moveTo>
                    <a:pt x="54355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27355" y="804240"/>
                  </a:lnTo>
                  <a:lnTo>
                    <a:pt x="54355" y="804240"/>
                  </a:lnTo>
                  <a:lnTo>
                    <a:pt x="54355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5600" y="3840481"/>
              <a:ext cx="54610" cy="804545"/>
            </a:xfrm>
            <a:custGeom>
              <a:avLst/>
              <a:gdLst/>
              <a:ahLst/>
              <a:cxnLst/>
              <a:rect l="l" t="t" r="r" b="b"/>
              <a:pathLst>
                <a:path w="54610" h="804545">
                  <a:moveTo>
                    <a:pt x="27355" y="804240"/>
                  </a:moveTo>
                  <a:lnTo>
                    <a:pt x="0" y="804240"/>
                  </a:lnTo>
                  <a:lnTo>
                    <a:pt x="0" y="0"/>
                  </a:lnTo>
                  <a:lnTo>
                    <a:pt x="54355" y="0"/>
                  </a:lnTo>
                  <a:lnTo>
                    <a:pt x="54355" y="804240"/>
                  </a:lnTo>
                  <a:lnTo>
                    <a:pt x="27355" y="804240"/>
                  </a:lnTo>
                  <a:close/>
                </a:path>
              </a:pathLst>
            </a:custGeom>
            <a:ln w="1259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16256" y="3909862"/>
            <a:ext cx="4159250" cy="577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1A396A"/>
                </a:solidFill>
                <a:latin typeface="Calibri"/>
                <a:cs typeface="Calibri"/>
              </a:rPr>
              <a:t>Open-</a:t>
            </a:r>
            <a:r>
              <a:rPr sz="900" b="1" dirty="0">
                <a:solidFill>
                  <a:srgbClr val="1A396A"/>
                </a:solidFill>
                <a:latin typeface="Calibri"/>
                <a:cs typeface="Calibri"/>
              </a:rPr>
              <a:t>Source</a:t>
            </a:r>
            <a:r>
              <a:rPr sz="900" b="1" spc="-30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1A396A"/>
                </a:solidFill>
                <a:latin typeface="Calibri"/>
                <a:cs typeface="Calibri"/>
              </a:rPr>
              <a:t>Democratization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900">
              <a:latin typeface="Calibri"/>
              <a:cs typeface="Calibri"/>
            </a:endParaRPr>
          </a:p>
          <a:p>
            <a:pPr marL="67310" marR="176530">
              <a:lnSpc>
                <a:spcPct val="100000"/>
              </a:lnSpc>
            </a:pP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DeepSeek-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R1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 distilled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 models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 released publicly.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Enables the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research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community</a:t>
            </a:r>
            <a:r>
              <a:rPr sz="8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to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 deploy</a:t>
            </a:r>
            <a:r>
              <a:rPr sz="800" spc="5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capable</a:t>
            </a:r>
            <a:r>
              <a:rPr sz="800" spc="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mathematical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reasoning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models</a:t>
            </a:r>
            <a:r>
              <a:rPr sz="800" spc="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on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consumer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hardware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without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proprietary</a:t>
            </a:r>
            <a:r>
              <a:rPr sz="800" spc="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API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costs.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530242" y="795606"/>
            <a:ext cx="4437380" cy="1293495"/>
            <a:chOff x="4530242" y="795606"/>
            <a:chExt cx="4437380" cy="1293495"/>
          </a:xfrm>
        </p:grpSpPr>
        <p:sp>
          <p:nvSpPr>
            <p:cNvPr id="34" name="object 34"/>
            <p:cNvSpPr/>
            <p:nvPr/>
          </p:nvSpPr>
          <p:spPr>
            <a:xfrm>
              <a:off x="4663440" y="795606"/>
              <a:ext cx="4224655" cy="292735"/>
            </a:xfrm>
            <a:custGeom>
              <a:avLst/>
              <a:gdLst/>
              <a:ahLst/>
              <a:cxnLst/>
              <a:rect l="l" t="t" r="r" b="b"/>
              <a:pathLst>
                <a:path w="4224655" h="292734">
                  <a:moveTo>
                    <a:pt x="4224235" y="0"/>
                  </a:moveTo>
                  <a:lnTo>
                    <a:pt x="0" y="0"/>
                  </a:lnTo>
                  <a:lnTo>
                    <a:pt x="0" y="292315"/>
                  </a:lnTo>
                  <a:lnTo>
                    <a:pt x="2112124" y="292315"/>
                  </a:lnTo>
                  <a:lnTo>
                    <a:pt x="4224235" y="292315"/>
                  </a:lnTo>
                  <a:lnTo>
                    <a:pt x="4224235" y="0"/>
                  </a:lnTo>
                  <a:close/>
                </a:path>
              </a:pathLst>
            </a:custGeom>
            <a:solidFill>
              <a:srgbClr val="EE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0242" y="1072072"/>
              <a:ext cx="4437354" cy="1017003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663440" y="1152006"/>
              <a:ext cx="4224655" cy="804545"/>
            </a:xfrm>
            <a:custGeom>
              <a:avLst/>
              <a:gdLst/>
              <a:ahLst/>
              <a:cxnLst/>
              <a:rect l="l" t="t" r="r" b="b"/>
              <a:pathLst>
                <a:path w="4224655" h="804544">
                  <a:moveTo>
                    <a:pt x="4224235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2112124" y="804240"/>
                  </a:lnTo>
                  <a:lnTo>
                    <a:pt x="4224235" y="804240"/>
                  </a:lnTo>
                  <a:lnTo>
                    <a:pt x="4224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4656784" y="789306"/>
          <a:ext cx="4197350" cy="1159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9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Challenges</a:t>
                      </a:r>
                      <a:r>
                        <a:rPr sz="10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 </a:t>
                      </a:r>
                      <a:r>
                        <a:rPr sz="1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Limitations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9850" marB="0">
                    <a:lnL w="76200">
                      <a:solidFill>
                        <a:srgbClr val="EE4343"/>
                      </a:solidFill>
                      <a:prstDash val="solid"/>
                    </a:lnL>
                    <a:lnR w="12700">
                      <a:solidFill>
                        <a:srgbClr val="EE4343"/>
                      </a:solidFill>
                      <a:prstDash val="solid"/>
                    </a:lnR>
                    <a:lnT w="12700">
                      <a:solidFill>
                        <a:srgbClr val="EE4343"/>
                      </a:solidFill>
                      <a:prstDash val="solid"/>
                    </a:lnT>
                    <a:lnB w="12700">
                      <a:solidFill>
                        <a:srgbClr val="EE434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EE4343"/>
                      </a:solidFill>
                      <a:prstDash val="solid"/>
                    </a:lnT>
                    <a:lnB w="12700">
                      <a:solidFill>
                        <a:srgbClr val="EE434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910"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900" b="1" spc="-1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Capacity</a:t>
                      </a:r>
                      <a:r>
                        <a:rPr sz="900" b="1" spc="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Gap</a:t>
                      </a:r>
                      <a:r>
                        <a:rPr sz="900" b="1" spc="-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Problem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0965" marR="146050">
                        <a:lnSpc>
                          <a:spcPct val="100000"/>
                        </a:lnSpc>
                      </a:pP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When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teacher/student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size</a:t>
                      </a:r>
                      <a:r>
                        <a:rPr sz="80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ratio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exceeds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~10x,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80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student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lacks</a:t>
                      </a:r>
                      <a:r>
                        <a:rPr sz="800" spc="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sufficient parameter</a:t>
                      </a:r>
                      <a:r>
                        <a:rPr sz="80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budget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800" spc="5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absorb</a:t>
                      </a:r>
                      <a:r>
                        <a:rPr sz="800" spc="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teacher</a:t>
                      </a:r>
                      <a:r>
                        <a:rPr sz="80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knowledge.</a:t>
                      </a:r>
                      <a:r>
                        <a:rPr sz="800" spc="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Performance</a:t>
                      </a:r>
                      <a:r>
                        <a:rPr sz="80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plateaus</a:t>
                      </a:r>
                      <a:r>
                        <a:rPr sz="800" spc="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or</a:t>
                      </a:r>
                      <a:r>
                        <a:rPr sz="80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degrades</a:t>
                      </a:r>
                      <a:r>
                        <a:rPr sz="80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beyond</a:t>
                      </a:r>
                      <a:r>
                        <a:rPr sz="800" spc="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this</a:t>
                      </a:r>
                      <a:r>
                        <a:rPr sz="80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threshold.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81915" marB="0">
                    <a:lnL w="76200">
                      <a:solidFill>
                        <a:srgbClr val="EE4343"/>
                      </a:solidFill>
                      <a:prstDash val="solid"/>
                    </a:lnL>
                    <a:lnR w="12700">
                      <a:solidFill>
                        <a:srgbClr val="EE4343"/>
                      </a:solidFill>
                      <a:prstDash val="solid"/>
                    </a:lnR>
                    <a:lnT w="12700">
                      <a:solidFill>
                        <a:srgbClr val="EE4343"/>
                      </a:solidFill>
                      <a:prstDash val="solid"/>
                    </a:lnT>
                    <a:lnB w="12700">
                      <a:solidFill>
                        <a:srgbClr val="EE434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8" name="object 38"/>
          <p:cNvGrpSpPr/>
          <p:nvPr/>
        </p:nvGrpSpPr>
        <p:grpSpPr>
          <a:xfrm>
            <a:off x="4530242" y="1968476"/>
            <a:ext cx="4437380" cy="1017269"/>
            <a:chOff x="4530242" y="1968476"/>
            <a:chExt cx="4437380" cy="1017269"/>
          </a:xfrm>
        </p:grpSpPr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0242" y="1968476"/>
              <a:ext cx="4437354" cy="1017003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4663440" y="2048397"/>
              <a:ext cx="4224655" cy="804545"/>
            </a:xfrm>
            <a:custGeom>
              <a:avLst/>
              <a:gdLst/>
              <a:ahLst/>
              <a:cxnLst/>
              <a:rect l="l" t="t" r="r" b="b"/>
              <a:pathLst>
                <a:path w="4224655" h="804544">
                  <a:moveTo>
                    <a:pt x="4224235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2112124" y="804240"/>
                  </a:lnTo>
                  <a:lnTo>
                    <a:pt x="4224235" y="804240"/>
                  </a:lnTo>
                  <a:lnTo>
                    <a:pt x="4224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663440" y="2048397"/>
              <a:ext cx="4224655" cy="804545"/>
            </a:xfrm>
            <a:custGeom>
              <a:avLst/>
              <a:gdLst/>
              <a:ahLst/>
              <a:cxnLst/>
              <a:rect l="l" t="t" r="r" b="b"/>
              <a:pathLst>
                <a:path w="4224655" h="804544">
                  <a:moveTo>
                    <a:pt x="2112124" y="804240"/>
                  </a:moveTo>
                  <a:lnTo>
                    <a:pt x="0" y="804240"/>
                  </a:lnTo>
                  <a:lnTo>
                    <a:pt x="0" y="0"/>
                  </a:lnTo>
                  <a:lnTo>
                    <a:pt x="4224235" y="0"/>
                  </a:lnTo>
                  <a:lnTo>
                    <a:pt x="4224235" y="804240"/>
                  </a:lnTo>
                  <a:lnTo>
                    <a:pt x="2112124" y="804240"/>
                  </a:lnTo>
                  <a:close/>
                </a:path>
              </a:pathLst>
            </a:custGeom>
            <a:ln w="10079">
              <a:solidFill>
                <a:srgbClr val="EE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663084" y="2048397"/>
              <a:ext cx="54610" cy="804545"/>
            </a:xfrm>
            <a:custGeom>
              <a:avLst/>
              <a:gdLst/>
              <a:ahLst/>
              <a:cxnLst/>
              <a:rect l="l" t="t" r="r" b="b"/>
              <a:pathLst>
                <a:path w="54610" h="804544">
                  <a:moveTo>
                    <a:pt x="54355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27355" y="804240"/>
                  </a:lnTo>
                  <a:lnTo>
                    <a:pt x="54355" y="804240"/>
                  </a:lnTo>
                  <a:lnTo>
                    <a:pt x="54355" y="0"/>
                  </a:lnTo>
                  <a:close/>
                </a:path>
              </a:pathLst>
            </a:custGeom>
            <a:solidFill>
              <a:srgbClr val="EE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663084" y="2048397"/>
              <a:ext cx="54610" cy="804545"/>
            </a:xfrm>
            <a:custGeom>
              <a:avLst/>
              <a:gdLst/>
              <a:ahLst/>
              <a:cxnLst/>
              <a:rect l="l" t="t" r="r" b="b"/>
              <a:pathLst>
                <a:path w="54610" h="804544">
                  <a:moveTo>
                    <a:pt x="27355" y="804240"/>
                  </a:moveTo>
                  <a:lnTo>
                    <a:pt x="0" y="804240"/>
                  </a:lnTo>
                  <a:lnTo>
                    <a:pt x="0" y="0"/>
                  </a:lnTo>
                  <a:lnTo>
                    <a:pt x="54355" y="0"/>
                  </a:lnTo>
                  <a:lnTo>
                    <a:pt x="54355" y="804240"/>
                  </a:lnTo>
                  <a:lnTo>
                    <a:pt x="27355" y="804240"/>
                  </a:lnTo>
                  <a:close/>
                </a:path>
              </a:pathLst>
            </a:custGeom>
            <a:ln w="12599">
              <a:solidFill>
                <a:srgbClr val="EE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4723740" y="2117422"/>
            <a:ext cx="415925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1A396A"/>
                </a:solidFill>
                <a:latin typeface="Calibri"/>
                <a:cs typeface="Calibri"/>
              </a:rPr>
              <a:t>Hallucination</a:t>
            </a:r>
            <a:r>
              <a:rPr sz="900" b="1" spc="5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1A396A"/>
                </a:solidFill>
                <a:latin typeface="Calibri"/>
                <a:cs typeface="Calibri"/>
              </a:rPr>
              <a:t>Inheritance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900">
              <a:latin typeface="Calibri"/>
              <a:cs typeface="Calibri"/>
            </a:endParaRPr>
          </a:p>
          <a:p>
            <a:pPr marL="67310" marR="79375">
              <a:lnSpc>
                <a:spcPct val="100000"/>
              </a:lnSpc>
            </a:pP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Student</a:t>
            </a:r>
            <a:r>
              <a:rPr sz="80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trained</a:t>
            </a:r>
            <a:r>
              <a:rPr sz="80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on</a:t>
            </a:r>
            <a:r>
              <a:rPr sz="80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teacher's</a:t>
            </a:r>
            <a:r>
              <a:rPr sz="8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flawed reasoning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traces</a:t>
            </a:r>
            <a:r>
              <a:rPr sz="800" spc="-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inherits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 factual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errors</a:t>
            </a:r>
            <a:r>
              <a:rPr sz="80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with</a:t>
            </a:r>
            <a:r>
              <a:rPr sz="8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high</a:t>
            </a:r>
            <a:r>
              <a:rPr sz="800" spc="-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confidence.</a:t>
            </a:r>
            <a:r>
              <a:rPr sz="800" spc="5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Outcome-supervised</a:t>
            </a:r>
            <a:r>
              <a:rPr sz="800" spc="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filtering</a:t>
            </a:r>
            <a:r>
              <a:rPr sz="800" spc="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of</a:t>
            </a:r>
            <a:r>
              <a:rPr sz="800" spc="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training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 data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mitigates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 but does</a:t>
            </a:r>
            <a:r>
              <a:rPr sz="800" spc="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not</a:t>
            </a:r>
            <a:r>
              <a:rPr sz="800" spc="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eliminate</a:t>
            </a:r>
            <a:r>
              <a:rPr sz="800" spc="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this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risk.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530242" y="2864512"/>
            <a:ext cx="4437380" cy="1017269"/>
            <a:chOff x="4530242" y="2864512"/>
            <a:chExt cx="4437380" cy="1017269"/>
          </a:xfrm>
        </p:grpSpPr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0242" y="2864512"/>
              <a:ext cx="4437354" cy="1017003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4663440" y="2944446"/>
              <a:ext cx="4224655" cy="804545"/>
            </a:xfrm>
            <a:custGeom>
              <a:avLst/>
              <a:gdLst/>
              <a:ahLst/>
              <a:cxnLst/>
              <a:rect l="l" t="t" r="r" b="b"/>
              <a:pathLst>
                <a:path w="4224655" h="804545">
                  <a:moveTo>
                    <a:pt x="4224235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2112124" y="804240"/>
                  </a:lnTo>
                  <a:lnTo>
                    <a:pt x="4224235" y="804240"/>
                  </a:lnTo>
                  <a:lnTo>
                    <a:pt x="4224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663440" y="2944446"/>
              <a:ext cx="4224655" cy="804545"/>
            </a:xfrm>
            <a:custGeom>
              <a:avLst/>
              <a:gdLst/>
              <a:ahLst/>
              <a:cxnLst/>
              <a:rect l="l" t="t" r="r" b="b"/>
              <a:pathLst>
                <a:path w="4224655" h="804545">
                  <a:moveTo>
                    <a:pt x="2112124" y="804240"/>
                  </a:moveTo>
                  <a:lnTo>
                    <a:pt x="0" y="804240"/>
                  </a:lnTo>
                  <a:lnTo>
                    <a:pt x="0" y="0"/>
                  </a:lnTo>
                  <a:lnTo>
                    <a:pt x="4224235" y="0"/>
                  </a:lnTo>
                  <a:lnTo>
                    <a:pt x="4224235" y="804240"/>
                  </a:lnTo>
                  <a:lnTo>
                    <a:pt x="2112124" y="804240"/>
                  </a:lnTo>
                  <a:close/>
                </a:path>
              </a:pathLst>
            </a:custGeom>
            <a:ln w="10079">
              <a:solidFill>
                <a:srgbClr val="EE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663084" y="2944446"/>
              <a:ext cx="54610" cy="804545"/>
            </a:xfrm>
            <a:custGeom>
              <a:avLst/>
              <a:gdLst/>
              <a:ahLst/>
              <a:cxnLst/>
              <a:rect l="l" t="t" r="r" b="b"/>
              <a:pathLst>
                <a:path w="54610" h="804545">
                  <a:moveTo>
                    <a:pt x="54355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27355" y="804240"/>
                  </a:lnTo>
                  <a:lnTo>
                    <a:pt x="54355" y="804240"/>
                  </a:lnTo>
                  <a:lnTo>
                    <a:pt x="54355" y="0"/>
                  </a:lnTo>
                  <a:close/>
                </a:path>
              </a:pathLst>
            </a:custGeom>
            <a:solidFill>
              <a:srgbClr val="EE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663084" y="2944446"/>
              <a:ext cx="54610" cy="804545"/>
            </a:xfrm>
            <a:custGeom>
              <a:avLst/>
              <a:gdLst/>
              <a:ahLst/>
              <a:cxnLst/>
              <a:rect l="l" t="t" r="r" b="b"/>
              <a:pathLst>
                <a:path w="54610" h="804545">
                  <a:moveTo>
                    <a:pt x="27355" y="804240"/>
                  </a:moveTo>
                  <a:lnTo>
                    <a:pt x="0" y="804240"/>
                  </a:lnTo>
                  <a:lnTo>
                    <a:pt x="0" y="0"/>
                  </a:lnTo>
                  <a:lnTo>
                    <a:pt x="54355" y="0"/>
                  </a:lnTo>
                  <a:lnTo>
                    <a:pt x="54355" y="804240"/>
                  </a:lnTo>
                  <a:lnTo>
                    <a:pt x="27355" y="804240"/>
                  </a:lnTo>
                  <a:close/>
                </a:path>
              </a:pathLst>
            </a:custGeom>
            <a:ln w="12599">
              <a:solidFill>
                <a:srgbClr val="EE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4723740" y="3013457"/>
            <a:ext cx="4159250" cy="638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1A396A"/>
                </a:solidFill>
                <a:latin typeface="Calibri"/>
                <a:cs typeface="Calibri"/>
              </a:rPr>
              <a:t>Alignment</a:t>
            </a:r>
            <a:r>
              <a:rPr sz="900" b="1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1A396A"/>
                </a:solidFill>
                <a:latin typeface="Calibri"/>
                <a:cs typeface="Calibri"/>
              </a:rPr>
              <a:t>Degradation</a:t>
            </a:r>
            <a:endParaRPr sz="900">
              <a:latin typeface="Calibri"/>
              <a:cs typeface="Calibri"/>
            </a:endParaRPr>
          </a:p>
          <a:p>
            <a:pPr marL="67310" marR="80010">
              <a:lnSpc>
                <a:spcPct val="100000"/>
              </a:lnSpc>
              <a:spcBef>
                <a:spcPts val="870"/>
              </a:spcBef>
            </a:pP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RLHF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and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Constitutional</a:t>
            </a:r>
            <a:r>
              <a:rPr sz="800" spc="1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AI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safety</a:t>
            </a:r>
            <a:r>
              <a:rPr sz="800" spc="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properties</a:t>
            </a:r>
            <a:r>
              <a:rPr sz="800" spc="2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are</a:t>
            </a:r>
            <a:r>
              <a:rPr sz="800" spc="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NOT</a:t>
            </a:r>
            <a:r>
              <a:rPr sz="800" spc="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preserved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 by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standard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distillation.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50" dirty="0">
                <a:solidFill>
                  <a:srgbClr val="191F2B"/>
                </a:solidFill>
                <a:latin typeface="Calibri"/>
                <a:cs typeface="Calibri"/>
              </a:rPr>
              <a:t>A</a:t>
            </a:r>
            <a:r>
              <a:rPr sz="800" spc="5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distilled</a:t>
            </a:r>
            <a:r>
              <a:rPr sz="8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student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may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lose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safety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guardrails.</a:t>
            </a:r>
            <a:r>
              <a:rPr sz="8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Alignment-preserving</a:t>
            </a:r>
            <a:r>
              <a:rPr sz="800" spc="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distillation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is</a:t>
            </a:r>
            <a:r>
              <a:rPr sz="8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an active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research</a:t>
            </a:r>
            <a:r>
              <a:rPr sz="800" spc="5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area.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4530242" y="3760560"/>
            <a:ext cx="4437380" cy="1017269"/>
            <a:chOff x="4530242" y="3760560"/>
            <a:chExt cx="4437380" cy="1017269"/>
          </a:xfrm>
        </p:grpSpPr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30242" y="3760560"/>
              <a:ext cx="4437354" cy="1017003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4663440" y="3840481"/>
              <a:ext cx="4224655" cy="804545"/>
            </a:xfrm>
            <a:custGeom>
              <a:avLst/>
              <a:gdLst/>
              <a:ahLst/>
              <a:cxnLst/>
              <a:rect l="l" t="t" r="r" b="b"/>
              <a:pathLst>
                <a:path w="4224655" h="804545">
                  <a:moveTo>
                    <a:pt x="4224235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2112124" y="804240"/>
                  </a:lnTo>
                  <a:lnTo>
                    <a:pt x="4224235" y="804240"/>
                  </a:lnTo>
                  <a:lnTo>
                    <a:pt x="4224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663440" y="3840481"/>
              <a:ext cx="4224655" cy="804545"/>
            </a:xfrm>
            <a:custGeom>
              <a:avLst/>
              <a:gdLst/>
              <a:ahLst/>
              <a:cxnLst/>
              <a:rect l="l" t="t" r="r" b="b"/>
              <a:pathLst>
                <a:path w="4224655" h="804545">
                  <a:moveTo>
                    <a:pt x="2112124" y="804240"/>
                  </a:moveTo>
                  <a:lnTo>
                    <a:pt x="0" y="804240"/>
                  </a:lnTo>
                  <a:lnTo>
                    <a:pt x="0" y="0"/>
                  </a:lnTo>
                  <a:lnTo>
                    <a:pt x="4224235" y="0"/>
                  </a:lnTo>
                  <a:lnTo>
                    <a:pt x="4224235" y="804240"/>
                  </a:lnTo>
                  <a:lnTo>
                    <a:pt x="2112124" y="804240"/>
                  </a:lnTo>
                  <a:close/>
                </a:path>
              </a:pathLst>
            </a:custGeom>
            <a:ln w="10079">
              <a:solidFill>
                <a:srgbClr val="EE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663084" y="3840481"/>
              <a:ext cx="54610" cy="804545"/>
            </a:xfrm>
            <a:custGeom>
              <a:avLst/>
              <a:gdLst/>
              <a:ahLst/>
              <a:cxnLst/>
              <a:rect l="l" t="t" r="r" b="b"/>
              <a:pathLst>
                <a:path w="54610" h="804545">
                  <a:moveTo>
                    <a:pt x="54355" y="0"/>
                  </a:moveTo>
                  <a:lnTo>
                    <a:pt x="0" y="0"/>
                  </a:lnTo>
                  <a:lnTo>
                    <a:pt x="0" y="804240"/>
                  </a:lnTo>
                  <a:lnTo>
                    <a:pt x="27355" y="804240"/>
                  </a:lnTo>
                  <a:lnTo>
                    <a:pt x="54355" y="804240"/>
                  </a:lnTo>
                  <a:lnTo>
                    <a:pt x="54355" y="0"/>
                  </a:lnTo>
                  <a:close/>
                </a:path>
              </a:pathLst>
            </a:custGeom>
            <a:solidFill>
              <a:srgbClr val="EE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663084" y="3840481"/>
              <a:ext cx="54610" cy="804545"/>
            </a:xfrm>
            <a:custGeom>
              <a:avLst/>
              <a:gdLst/>
              <a:ahLst/>
              <a:cxnLst/>
              <a:rect l="l" t="t" r="r" b="b"/>
              <a:pathLst>
                <a:path w="54610" h="804545">
                  <a:moveTo>
                    <a:pt x="27355" y="804240"/>
                  </a:moveTo>
                  <a:lnTo>
                    <a:pt x="0" y="804240"/>
                  </a:lnTo>
                  <a:lnTo>
                    <a:pt x="0" y="0"/>
                  </a:lnTo>
                  <a:lnTo>
                    <a:pt x="54355" y="0"/>
                  </a:lnTo>
                  <a:lnTo>
                    <a:pt x="54355" y="804240"/>
                  </a:lnTo>
                  <a:lnTo>
                    <a:pt x="27355" y="804240"/>
                  </a:lnTo>
                  <a:close/>
                </a:path>
              </a:pathLst>
            </a:custGeom>
            <a:ln w="12599">
              <a:solidFill>
                <a:srgbClr val="EE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4723740" y="3909862"/>
            <a:ext cx="4159250" cy="577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1A396A"/>
                </a:solidFill>
                <a:latin typeface="Calibri"/>
                <a:cs typeface="Calibri"/>
              </a:rPr>
              <a:t>Legal</a:t>
            </a:r>
            <a:r>
              <a:rPr sz="900" b="1" spc="-15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1A396A"/>
                </a:solidFill>
                <a:latin typeface="Calibri"/>
                <a:cs typeface="Calibri"/>
              </a:rPr>
              <a:t>&amp;</a:t>
            </a:r>
            <a:r>
              <a:rPr sz="900" b="1" spc="-25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1A396A"/>
                </a:solidFill>
                <a:latin typeface="Calibri"/>
                <a:cs typeface="Calibri"/>
              </a:rPr>
              <a:t>IP</a:t>
            </a:r>
            <a:r>
              <a:rPr sz="900" b="1" spc="-15" dirty="0">
                <a:solidFill>
                  <a:srgbClr val="1A396A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1A396A"/>
                </a:solidFill>
                <a:latin typeface="Calibri"/>
                <a:cs typeface="Calibri"/>
              </a:rPr>
              <a:t>Constraints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900">
              <a:latin typeface="Calibri"/>
              <a:cs typeface="Calibri"/>
            </a:endParaRPr>
          </a:p>
          <a:p>
            <a:pPr marL="67310" marR="163195">
              <a:lnSpc>
                <a:spcPct val="100000"/>
              </a:lnSpc>
            </a:pPr>
            <a:r>
              <a:rPr sz="800" spc="-20" dirty="0">
                <a:solidFill>
                  <a:srgbClr val="191F2B"/>
                </a:solidFill>
                <a:latin typeface="Calibri"/>
                <a:cs typeface="Calibri"/>
              </a:rPr>
              <a:t>Black-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box</a:t>
            </a:r>
            <a:r>
              <a:rPr sz="800" spc="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distillation</a:t>
            </a:r>
            <a:r>
              <a:rPr sz="8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from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proprietary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APIs</a:t>
            </a:r>
            <a:r>
              <a:rPr sz="8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violates</a:t>
            </a:r>
            <a:r>
              <a:rPr sz="8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major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providers'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Terms</a:t>
            </a:r>
            <a:r>
              <a:rPr sz="8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of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Service.</a:t>
            </a:r>
            <a:r>
              <a:rPr sz="800" spc="1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The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legal</a:t>
            </a:r>
            <a:r>
              <a:rPr sz="800" spc="500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landscape</a:t>
            </a:r>
            <a:r>
              <a:rPr sz="8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for</a:t>
            </a:r>
            <a:r>
              <a:rPr sz="8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API-distilled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models</a:t>
            </a:r>
            <a:r>
              <a:rPr sz="800" spc="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remains</a:t>
            </a:r>
            <a:r>
              <a:rPr sz="8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uncertain.</a:t>
            </a:r>
            <a:r>
              <a:rPr sz="8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Focus</a:t>
            </a:r>
            <a:r>
              <a:rPr sz="8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shifting</a:t>
            </a:r>
            <a:r>
              <a:rPr sz="8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to</a:t>
            </a:r>
            <a:r>
              <a:rPr sz="8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open-</a:t>
            </a:r>
            <a:r>
              <a:rPr sz="800" dirty="0">
                <a:solidFill>
                  <a:srgbClr val="191F2B"/>
                </a:solidFill>
                <a:latin typeface="Calibri"/>
                <a:cs typeface="Calibri"/>
              </a:rPr>
              <a:t>source</a:t>
            </a:r>
            <a:r>
              <a:rPr sz="800" spc="-5" dirty="0">
                <a:solidFill>
                  <a:srgbClr val="191F2B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191F2B"/>
                </a:solidFill>
                <a:latin typeface="Calibri"/>
                <a:cs typeface="Calibri"/>
              </a:rPr>
              <a:t>teachers.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10" dirty="0"/>
              <a:t>Knowledge</a:t>
            </a:r>
            <a:r>
              <a:rPr dirty="0"/>
              <a:t> </a:t>
            </a:r>
            <a:r>
              <a:rPr spc="-10" dirty="0"/>
              <a:t>Distillation</a:t>
            </a:r>
            <a:r>
              <a:rPr spc="-5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LLMs</a:t>
            </a:r>
            <a:r>
              <a:rPr spc="170" dirty="0"/>
              <a:t> </a:t>
            </a:r>
            <a:r>
              <a:rPr dirty="0"/>
              <a:t>|</a:t>
            </a:r>
            <a:r>
              <a:rPr spc="180" dirty="0"/>
              <a:t> </a:t>
            </a:r>
            <a:r>
              <a:rPr spc="-10" dirty="0"/>
              <a:t>Manisa</a:t>
            </a:r>
            <a:r>
              <a:rPr spc="-5" dirty="0"/>
              <a:t> </a:t>
            </a:r>
            <a:r>
              <a:rPr dirty="0"/>
              <a:t>Celal </a:t>
            </a:r>
            <a:r>
              <a:rPr spc="-10" dirty="0"/>
              <a:t>Bayar</a:t>
            </a:r>
            <a:r>
              <a:rPr spc="-5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60" name="object 6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13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/>
              <a:t>Future</a:t>
            </a:r>
            <a:r>
              <a:rPr sz="2000" spc="-60" dirty="0"/>
              <a:t> </a:t>
            </a:r>
            <a:r>
              <a:rPr sz="2000" spc="-10" dirty="0"/>
              <a:t>Research</a:t>
            </a:r>
            <a:r>
              <a:rPr sz="2000" spc="-55" dirty="0"/>
              <a:t> </a:t>
            </a:r>
            <a:r>
              <a:rPr sz="2000" spc="-10" dirty="0"/>
              <a:t>Directions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6363258" y="232107"/>
            <a:ext cx="24695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spc="-65" dirty="0">
                <a:solidFill>
                  <a:srgbClr val="00C1CA"/>
                </a:solidFill>
                <a:latin typeface="Arial"/>
                <a:cs typeface="Arial"/>
              </a:rPr>
              <a:t>07</a:t>
            </a:r>
            <a:r>
              <a:rPr sz="1100" i="1" spc="-30" dirty="0">
                <a:solidFill>
                  <a:srgbClr val="00C1CA"/>
                </a:solidFill>
                <a:latin typeface="Arial"/>
                <a:cs typeface="Arial"/>
              </a:rPr>
              <a:t> -</a:t>
            </a:r>
            <a:r>
              <a:rPr sz="1100" i="1" spc="-40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90" dirty="0">
                <a:solidFill>
                  <a:srgbClr val="00C1CA"/>
                </a:solidFill>
                <a:latin typeface="Arial"/>
                <a:cs typeface="Arial"/>
              </a:rPr>
              <a:t>Open</a:t>
            </a:r>
            <a:r>
              <a:rPr sz="1100" i="1" spc="-40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70" dirty="0">
                <a:solidFill>
                  <a:srgbClr val="00C1CA"/>
                </a:solidFill>
                <a:latin typeface="Arial"/>
                <a:cs typeface="Arial"/>
              </a:rPr>
              <a:t>Problems</a:t>
            </a:r>
            <a:r>
              <a:rPr sz="1100" i="1" spc="-3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C1CA"/>
                </a:solidFill>
                <a:latin typeface="Arial"/>
                <a:cs typeface="Arial"/>
              </a:rPr>
              <a:t>&amp;</a:t>
            </a:r>
            <a:r>
              <a:rPr sz="1100" i="1" spc="-2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70" dirty="0">
                <a:solidFill>
                  <a:srgbClr val="00C1CA"/>
                </a:solidFill>
                <a:latin typeface="Arial"/>
                <a:cs typeface="Arial"/>
              </a:rPr>
              <a:t>Emerging</a:t>
            </a:r>
            <a:r>
              <a:rPr sz="1100" i="1" spc="-40" dirty="0">
                <a:solidFill>
                  <a:srgbClr val="00C1CA"/>
                </a:solidFill>
                <a:latin typeface="Arial"/>
                <a:cs typeface="Arial"/>
              </a:rPr>
              <a:t> Paradigms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6655" y="4885742"/>
            <a:ext cx="9156700" cy="264160"/>
            <a:chOff x="-6655" y="4885742"/>
            <a:chExt cx="9156700" cy="264160"/>
          </a:xfrm>
        </p:grpSpPr>
        <p:sp>
          <p:nvSpPr>
            <p:cNvPr id="5" name="object 5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631" y="0"/>
                  </a:moveTo>
                  <a:lnTo>
                    <a:pt x="0" y="0"/>
                  </a:lnTo>
                  <a:lnTo>
                    <a:pt x="0" y="251282"/>
                  </a:lnTo>
                  <a:lnTo>
                    <a:pt x="4572000" y="251282"/>
                  </a:lnTo>
                  <a:lnTo>
                    <a:pt x="9143631" y="251282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4572000" y="251282"/>
                  </a:moveTo>
                  <a:lnTo>
                    <a:pt x="0" y="251282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251282"/>
                  </a:lnTo>
                  <a:lnTo>
                    <a:pt x="4572000" y="251282"/>
                  </a:lnTo>
                  <a:close/>
                </a:path>
              </a:pathLst>
            </a:custGeom>
            <a:ln w="12599">
              <a:solidFill>
                <a:srgbClr val="0C1A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19875" y="713157"/>
            <a:ext cx="3052445" cy="2028189"/>
            <a:chOff x="119875" y="713157"/>
            <a:chExt cx="3052445" cy="2028189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5" y="713157"/>
              <a:ext cx="3052445" cy="202788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55600" y="795606"/>
              <a:ext cx="2834640" cy="1810385"/>
            </a:xfrm>
            <a:custGeom>
              <a:avLst/>
              <a:gdLst/>
              <a:ahLst/>
              <a:cxnLst/>
              <a:rect l="l" t="t" r="r" b="b"/>
              <a:pathLst>
                <a:path w="2834640" h="1810385">
                  <a:moveTo>
                    <a:pt x="2834284" y="0"/>
                  </a:moveTo>
                  <a:lnTo>
                    <a:pt x="0" y="0"/>
                  </a:lnTo>
                  <a:lnTo>
                    <a:pt x="0" y="1810080"/>
                  </a:lnTo>
                  <a:lnTo>
                    <a:pt x="1417320" y="1810080"/>
                  </a:lnTo>
                  <a:lnTo>
                    <a:pt x="2834284" y="1810080"/>
                  </a:lnTo>
                  <a:lnTo>
                    <a:pt x="283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5600" y="795237"/>
              <a:ext cx="2834640" cy="328930"/>
            </a:xfrm>
            <a:custGeom>
              <a:avLst/>
              <a:gdLst/>
              <a:ahLst/>
              <a:cxnLst/>
              <a:rect l="l" t="t" r="r" b="b"/>
              <a:pathLst>
                <a:path w="2834640" h="328930">
                  <a:moveTo>
                    <a:pt x="2834284" y="0"/>
                  </a:moveTo>
                  <a:lnTo>
                    <a:pt x="0" y="0"/>
                  </a:lnTo>
                  <a:lnTo>
                    <a:pt x="0" y="328688"/>
                  </a:lnTo>
                  <a:lnTo>
                    <a:pt x="1417320" y="328688"/>
                  </a:lnTo>
                  <a:lnTo>
                    <a:pt x="2834284" y="328688"/>
                  </a:lnTo>
                  <a:lnTo>
                    <a:pt x="2834284" y="0"/>
                  </a:lnTo>
                  <a:close/>
                </a:path>
              </a:pathLst>
            </a:custGeom>
            <a:solidFill>
              <a:srgbClr val="00C1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8676" y="1169646"/>
              <a:ext cx="869315" cy="183515"/>
            </a:xfrm>
            <a:custGeom>
              <a:avLst/>
              <a:gdLst/>
              <a:ahLst/>
              <a:cxnLst/>
              <a:rect l="l" t="t" r="r" b="b"/>
              <a:pathLst>
                <a:path w="869315" h="183515">
                  <a:moveTo>
                    <a:pt x="30607" y="0"/>
                  </a:moveTo>
                  <a:lnTo>
                    <a:pt x="24130" y="1790"/>
                  </a:lnTo>
                  <a:lnTo>
                    <a:pt x="18719" y="5029"/>
                  </a:lnTo>
                  <a:lnTo>
                    <a:pt x="12966" y="8280"/>
                  </a:lnTo>
                  <a:lnTo>
                    <a:pt x="8648" y="12953"/>
                  </a:lnTo>
                  <a:lnTo>
                    <a:pt x="5410" y="18351"/>
                  </a:lnTo>
                  <a:lnTo>
                    <a:pt x="2159" y="24117"/>
                  </a:lnTo>
                  <a:lnTo>
                    <a:pt x="368" y="30238"/>
                  </a:lnTo>
                  <a:lnTo>
                    <a:pt x="368" y="36715"/>
                  </a:lnTo>
                  <a:lnTo>
                    <a:pt x="0" y="146519"/>
                  </a:lnTo>
                  <a:lnTo>
                    <a:pt x="0" y="152996"/>
                  </a:lnTo>
                  <a:lnTo>
                    <a:pt x="1704" y="159118"/>
                  </a:lnTo>
                  <a:lnTo>
                    <a:pt x="1803" y="159473"/>
                  </a:lnTo>
                  <a:lnTo>
                    <a:pt x="5041" y="164871"/>
                  </a:lnTo>
                  <a:lnTo>
                    <a:pt x="8280" y="170637"/>
                  </a:lnTo>
                  <a:lnTo>
                    <a:pt x="12966" y="174955"/>
                  </a:lnTo>
                  <a:lnTo>
                    <a:pt x="18364" y="178193"/>
                  </a:lnTo>
                  <a:lnTo>
                    <a:pt x="24130" y="181432"/>
                  </a:lnTo>
                  <a:lnTo>
                    <a:pt x="30238" y="183235"/>
                  </a:lnTo>
                  <a:lnTo>
                    <a:pt x="838809" y="183235"/>
                  </a:lnTo>
                  <a:lnTo>
                    <a:pt x="845286" y="181432"/>
                  </a:lnTo>
                  <a:lnTo>
                    <a:pt x="850684" y="178193"/>
                  </a:lnTo>
                  <a:lnTo>
                    <a:pt x="856449" y="174955"/>
                  </a:lnTo>
                  <a:lnTo>
                    <a:pt x="860767" y="170281"/>
                  </a:lnTo>
                  <a:lnTo>
                    <a:pt x="864006" y="164871"/>
                  </a:lnTo>
                  <a:lnTo>
                    <a:pt x="867244" y="159118"/>
                  </a:lnTo>
                  <a:lnTo>
                    <a:pt x="869048" y="152996"/>
                  </a:lnTo>
                  <a:lnTo>
                    <a:pt x="868949" y="30238"/>
                  </a:lnTo>
                  <a:lnTo>
                    <a:pt x="867244" y="24117"/>
                  </a:lnTo>
                  <a:lnTo>
                    <a:pt x="864006" y="18719"/>
                  </a:lnTo>
                  <a:lnTo>
                    <a:pt x="860767" y="12953"/>
                  </a:lnTo>
                  <a:lnTo>
                    <a:pt x="856081" y="8636"/>
                  </a:lnTo>
                  <a:lnTo>
                    <a:pt x="850684" y="5397"/>
                  </a:lnTo>
                  <a:lnTo>
                    <a:pt x="844918" y="2159"/>
                  </a:lnTo>
                  <a:lnTo>
                    <a:pt x="838809" y="355"/>
                  </a:lnTo>
                  <a:lnTo>
                    <a:pt x="30607" y="0"/>
                  </a:lnTo>
                  <a:close/>
                </a:path>
              </a:pathLst>
            </a:custGeom>
            <a:solidFill>
              <a:srgbClr val="00C1CA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8676" y="1169646"/>
              <a:ext cx="869315" cy="183515"/>
            </a:xfrm>
            <a:custGeom>
              <a:avLst/>
              <a:gdLst/>
              <a:ahLst/>
              <a:cxnLst/>
              <a:rect l="l" t="t" r="r" b="b"/>
              <a:pathLst>
                <a:path w="869315" h="183515">
                  <a:moveTo>
                    <a:pt x="368" y="36715"/>
                  </a:moveTo>
                  <a:lnTo>
                    <a:pt x="368" y="30238"/>
                  </a:lnTo>
                  <a:lnTo>
                    <a:pt x="2159" y="24117"/>
                  </a:lnTo>
                  <a:lnTo>
                    <a:pt x="5410" y="18351"/>
                  </a:lnTo>
                  <a:lnTo>
                    <a:pt x="8648" y="12953"/>
                  </a:lnTo>
                  <a:lnTo>
                    <a:pt x="12966" y="8280"/>
                  </a:lnTo>
                  <a:lnTo>
                    <a:pt x="18719" y="5029"/>
                  </a:lnTo>
                  <a:lnTo>
                    <a:pt x="24130" y="1790"/>
                  </a:lnTo>
                  <a:lnTo>
                    <a:pt x="30607" y="0"/>
                  </a:lnTo>
                  <a:lnTo>
                    <a:pt x="37084" y="0"/>
                  </a:lnTo>
                  <a:lnTo>
                    <a:pt x="832319" y="355"/>
                  </a:lnTo>
                  <a:lnTo>
                    <a:pt x="838809" y="355"/>
                  </a:lnTo>
                  <a:lnTo>
                    <a:pt x="844918" y="2159"/>
                  </a:lnTo>
                  <a:lnTo>
                    <a:pt x="850684" y="5397"/>
                  </a:lnTo>
                  <a:lnTo>
                    <a:pt x="856081" y="8636"/>
                  </a:lnTo>
                  <a:lnTo>
                    <a:pt x="860767" y="12953"/>
                  </a:lnTo>
                  <a:lnTo>
                    <a:pt x="864006" y="18719"/>
                  </a:lnTo>
                  <a:lnTo>
                    <a:pt x="867244" y="24117"/>
                  </a:lnTo>
                  <a:lnTo>
                    <a:pt x="869048" y="30594"/>
                  </a:lnTo>
                  <a:lnTo>
                    <a:pt x="869048" y="37071"/>
                  </a:lnTo>
                  <a:lnTo>
                    <a:pt x="869048" y="146519"/>
                  </a:lnTo>
                  <a:lnTo>
                    <a:pt x="869048" y="152996"/>
                  </a:lnTo>
                  <a:lnTo>
                    <a:pt x="867244" y="159118"/>
                  </a:lnTo>
                  <a:lnTo>
                    <a:pt x="864006" y="164871"/>
                  </a:lnTo>
                  <a:lnTo>
                    <a:pt x="860767" y="170281"/>
                  </a:lnTo>
                  <a:lnTo>
                    <a:pt x="856449" y="174955"/>
                  </a:lnTo>
                  <a:lnTo>
                    <a:pt x="850684" y="178193"/>
                  </a:lnTo>
                  <a:lnTo>
                    <a:pt x="845286" y="181432"/>
                  </a:lnTo>
                  <a:lnTo>
                    <a:pt x="838809" y="183235"/>
                  </a:lnTo>
                  <a:lnTo>
                    <a:pt x="832319" y="183235"/>
                  </a:lnTo>
                  <a:lnTo>
                    <a:pt x="36728" y="183235"/>
                  </a:lnTo>
                  <a:lnTo>
                    <a:pt x="30238" y="183235"/>
                  </a:lnTo>
                  <a:lnTo>
                    <a:pt x="24130" y="181432"/>
                  </a:lnTo>
                  <a:lnTo>
                    <a:pt x="18364" y="178193"/>
                  </a:lnTo>
                  <a:lnTo>
                    <a:pt x="12966" y="174955"/>
                  </a:lnTo>
                  <a:lnTo>
                    <a:pt x="8280" y="170637"/>
                  </a:lnTo>
                  <a:lnTo>
                    <a:pt x="5041" y="164871"/>
                  </a:lnTo>
                  <a:lnTo>
                    <a:pt x="1803" y="159473"/>
                  </a:lnTo>
                  <a:lnTo>
                    <a:pt x="0" y="152996"/>
                  </a:lnTo>
                  <a:lnTo>
                    <a:pt x="0" y="146519"/>
                  </a:lnTo>
                  <a:lnTo>
                    <a:pt x="368" y="36715"/>
                  </a:lnTo>
                  <a:close/>
                </a:path>
              </a:pathLst>
            </a:custGeom>
            <a:ln w="12599">
              <a:solidFill>
                <a:srgbClr val="00C1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48040" y="788046"/>
          <a:ext cx="2834005" cy="1809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34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pos="365760" algn="l"/>
                        </a:tabLst>
                      </a:pPr>
                      <a:r>
                        <a:rPr sz="11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01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350" b="1" spc="-44" baseline="617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Multi-</a:t>
                      </a:r>
                      <a:r>
                        <a:rPr sz="1350" b="1" spc="-15" baseline="617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Teacher</a:t>
                      </a:r>
                      <a:r>
                        <a:rPr sz="1350" b="1" spc="22" baseline="617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b="1" spc="-15" baseline="617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Distillation</a:t>
                      </a:r>
                      <a:endParaRPr sz="1350" baseline="6172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L w="19050">
                      <a:solidFill>
                        <a:srgbClr val="00C1CA"/>
                      </a:solidFill>
                      <a:prstDash val="solid"/>
                    </a:lnL>
                    <a:lnR w="19050">
                      <a:solidFill>
                        <a:srgbClr val="00C1CA"/>
                      </a:solidFill>
                      <a:prstDash val="solid"/>
                    </a:lnR>
                    <a:lnT w="19050">
                      <a:solidFill>
                        <a:srgbClr val="00C1CA"/>
                      </a:solidFill>
                      <a:prstDash val="solid"/>
                    </a:lnT>
                    <a:lnB w="12700">
                      <a:solidFill>
                        <a:srgbClr val="00C1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1455">
                <a:tc>
                  <a:txBody>
                    <a:bodyPr/>
                    <a:lstStyle/>
                    <a:p>
                      <a:pPr marL="31496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70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Early</a:t>
                      </a:r>
                      <a:r>
                        <a:rPr sz="700" spc="-4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stage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90805" marR="1117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Combine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knowledge</a:t>
                      </a:r>
                      <a:r>
                        <a:rPr sz="80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sz="800" spc="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multiple</a:t>
                      </a:r>
                      <a:r>
                        <a:rPr sz="800" spc="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specialized</a:t>
                      </a:r>
                      <a:r>
                        <a:rPr sz="80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teachers</a:t>
                      </a:r>
                      <a:r>
                        <a:rPr sz="80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(code,</a:t>
                      </a:r>
                      <a:r>
                        <a:rPr sz="800" spc="5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math,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reasoning,</a:t>
                      </a:r>
                      <a:r>
                        <a:rPr sz="80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multilingual)</a:t>
                      </a:r>
                      <a:r>
                        <a:rPr sz="80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into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80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single</a:t>
                      </a:r>
                      <a:r>
                        <a:rPr sz="80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student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via</a:t>
                      </a:r>
                      <a:r>
                        <a:rPr sz="80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Mixture-</a:t>
                      </a:r>
                      <a:r>
                        <a:rPr sz="80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of-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Experts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distillation.</a:t>
                      </a:r>
                      <a:r>
                        <a:rPr sz="800" spc="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Large-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scale</a:t>
                      </a:r>
                      <a:r>
                        <a:rPr sz="80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LLM</a:t>
                      </a:r>
                      <a:r>
                        <a:rPr sz="80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application</a:t>
                      </a:r>
                      <a:r>
                        <a:rPr sz="800" spc="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800" spc="5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understudied.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83820" marB="0">
                    <a:lnL w="19050">
                      <a:solidFill>
                        <a:srgbClr val="00C1CA"/>
                      </a:solidFill>
                      <a:prstDash val="solid"/>
                    </a:lnL>
                    <a:lnR w="19050">
                      <a:solidFill>
                        <a:srgbClr val="00C1CA"/>
                      </a:solidFill>
                      <a:prstDash val="solid"/>
                    </a:lnR>
                    <a:lnT w="12700">
                      <a:solidFill>
                        <a:srgbClr val="00C1CA"/>
                      </a:solidFill>
                      <a:prstDash val="solid"/>
                    </a:lnT>
                    <a:lnB w="19050">
                      <a:solidFill>
                        <a:srgbClr val="00C1C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4" name="object 14"/>
          <p:cNvGrpSpPr/>
          <p:nvPr/>
        </p:nvGrpSpPr>
        <p:grpSpPr>
          <a:xfrm>
            <a:off x="3091675" y="713157"/>
            <a:ext cx="3052445" cy="2028189"/>
            <a:chOff x="3091675" y="713157"/>
            <a:chExt cx="3052445" cy="2028189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675" y="713157"/>
              <a:ext cx="3052445" cy="202788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227400" y="795606"/>
              <a:ext cx="2834640" cy="1810385"/>
            </a:xfrm>
            <a:custGeom>
              <a:avLst/>
              <a:gdLst/>
              <a:ahLst/>
              <a:cxnLst/>
              <a:rect l="l" t="t" r="r" b="b"/>
              <a:pathLst>
                <a:path w="2834640" h="1810385">
                  <a:moveTo>
                    <a:pt x="2834284" y="0"/>
                  </a:moveTo>
                  <a:lnTo>
                    <a:pt x="0" y="0"/>
                  </a:lnTo>
                  <a:lnTo>
                    <a:pt x="0" y="1810080"/>
                  </a:lnTo>
                  <a:lnTo>
                    <a:pt x="1417320" y="1810080"/>
                  </a:lnTo>
                  <a:lnTo>
                    <a:pt x="2834284" y="1810080"/>
                  </a:lnTo>
                  <a:lnTo>
                    <a:pt x="283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27400" y="795237"/>
              <a:ext cx="2834640" cy="328930"/>
            </a:xfrm>
            <a:custGeom>
              <a:avLst/>
              <a:gdLst/>
              <a:ahLst/>
              <a:cxnLst/>
              <a:rect l="l" t="t" r="r" b="b"/>
              <a:pathLst>
                <a:path w="2834640" h="328930">
                  <a:moveTo>
                    <a:pt x="2834284" y="0"/>
                  </a:moveTo>
                  <a:lnTo>
                    <a:pt x="0" y="0"/>
                  </a:lnTo>
                  <a:lnTo>
                    <a:pt x="0" y="328688"/>
                  </a:lnTo>
                  <a:lnTo>
                    <a:pt x="1417320" y="328688"/>
                  </a:lnTo>
                  <a:lnTo>
                    <a:pt x="2834284" y="328688"/>
                  </a:lnTo>
                  <a:lnTo>
                    <a:pt x="2834284" y="0"/>
                  </a:lnTo>
                  <a:close/>
                </a:path>
              </a:pathLst>
            </a:custGeom>
            <a:solidFill>
              <a:srgbClr val="1D5E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00475" y="1169646"/>
              <a:ext cx="869315" cy="183515"/>
            </a:xfrm>
            <a:custGeom>
              <a:avLst/>
              <a:gdLst/>
              <a:ahLst/>
              <a:cxnLst/>
              <a:rect l="l" t="t" r="r" b="b"/>
              <a:pathLst>
                <a:path w="869314" h="183515">
                  <a:moveTo>
                    <a:pt x="30607" y="0"/>
                  </a:moveTo>
                  <a:lnTo>
                    <a:pt x="24129" y="1790"/>
                  </a:lnTo>
                  <a:lnTo>
                    <a:pt x="18719" y="5029"/>
                  </a:lnTo>
                  <a:lnTo>
                    <a:pt x="12966" y="8280"/>
                  </a:lnTo>
                  <a:lnTo>
                    <a:pt x="8648" y="12953"/>
                  </a:lnTo>
                  <a:lnTo>
                    <a:pt x="5410" y="18351"/>
                  </a:lnTo>
                  <a:lnTo>
                    <a:pt x="2159" y="24117"/>
                  </a:lnTo>
                  <a:lnTo>
                    <a:pt x="368" y="30238"/>
                  </a:lnTo>
                  <a:lnTo>
                    <a:pt x="368" y="36715"/>
                  </a:lnTo>
                  <a:lnTo>
                    <a:pt x="0" y="146519"/>
                  </a:lnTo>
                  <a:lnTo>
                    <a:pt x="0" y="152996"/>
                  </a:lnTo>
                  <a:lnTo>
                    <a:pt x="1704" y="159118"/>
                  </a:lnTo>
                  <a:lnTo>
                    <a:pt x="1803" y="159473"/>
                  </a:lnTo>
                  <a:lnTo>
                    <a:pt x="5041" y="164871"/>
                  </a:lnTo>
                  <a:lnTo>
                    <a:pt x="8280" y="170637"/>
                  </a:lnTo>
                  <a:lnTo>
                    <a:pt x="12966" y="174955"/>
                  </a:lnTo>
                  <a:lnTo>
                    <a:pt x="18364" y="178193"/>
                  </a:lnTo>
                  <a:lnTo>
                    <a:pt x="24129" y="181432"/>
                  </a:lnTo>
                  <a:lnTo>
                    <a:pt x="30238" y="183235"/>
                  </a:lnTo>
                  <a:lnTo>
                    <a:pt x="838809" y="183235"/>
                  </a:lnTo>
                  <a:lnTo>
                    <a:pt x="845286" y="181432"/>
                  </a:lnTo>
                  <a:lnTo>
                    <a:pt x="850684" y="178193"/>
                  </a:lnTo>
                  <a:lnTo>
                    <a:pt x="856449" y="174955"/>
                  </a:lnTo>
                  <a:lnTo>
                    <a:pt x="860767" y="170281"/>
                  </a:lnTo>
                  <a:lnTo>
                    <a:pt x="864006" y="164871"/>
                  </a:lnTo>
                  <a:lnTo>
                    <a:pt x="867244" y="159118"/>
                  </a:lnTo>
                  <a:lnTo>
                    <a:pt x="869048" y="152996"/>
                  </a:lnTo>
                  <a:lnTo>
                    <a:pt x="868949" y="30238"/>
                  </a:lnTo>
                  <a:lnTo>
                    <a:pt x="867244" y="24117"/>
                  </a:lnTo>
                  <a:lnTo>
                    <a:pt x="864006" y="18719"/>
                  </a:lnTo>
                  <a:lnTo>
                    <a:pt x="860767" y="12953"/>
                  </a:lnTo>
                  <a:lnTo>
                    <a:pt x="856081" y="8636"/>
                  </a:lnTo>
                  <a:lnTo>
                    <a:pt x="850684" y="5397"/>
                  </a:lnTo>
                  <a:lnTo>
                    <a:pt x="844918" y="2159"/>
                  </a:lnTo>
                  <a:lnTo>
                    <a:pt x="838809" y="355"/>
                  </a:lnTo>
                  <a:lnTo>
                    <a:pt x="30607" y="0"/>
                  </a:lnTo>
                  <a:close/>
                </a:path>
              </a:pathLst>
            </a:custGeom>
            <a:solidFill>
              <a:srgbClr val="1D5EAC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00475" y="1169646"/>
              <a:ext cx="869315" cy="183515"/>
            </a:xfrm>
            <a:custGeom>
              <a:avLst/>
              <a:gdLst/>
              <a:ahLst/>
              <a:cxnLst/>
              <a:rect l="l" t="t" r="r" b="b"/>
              <a:pathLst>
                <a:path w="869314" h="183515">
                  <a:moveTo>
                    <a:pt x="368" y="36715"/>
                  </a:moveTo>
                  <a:lnTo>
                    <a:pt x="368" y="30238"/>
                  </a:lnTo>
                  <a:lnTo>
                    <a:pt x="2159" y="24117"/>
                  </a:lnTo>
                  <a:lnTo>
                    <a:pt x="5410" y="18351"/>
                  </a:lnTo>
                  <a:lnTo>
                    <a:pt x="8648" y="12953"/>
                  </a:lnTo>
                  <a:lnTo>
                    <a:pt x="12966" y="8280"/>
                  </a:lnTo>
                  <a:lnTo>
                    <a:pt x="18719" y="5029"/>
                  </a:lnTo>
                  <a:lnTo>
                    <a:pt x="24129" y="1790"/>
                  </a:lnTo>
                  <a:lnTo>
                    <a:pt x="30607" y="0"/>
                  </a:lnTo>
                  <a:lnTo>
                    <a:pt x="37084" y="0"/>
                  </a:lnTo>
                  <a:lnTo>
                    <a:pt x="832319" y="355"/>
                  </a:lnTo>
                  <a:lnTo>
                    <a:pt x="838809" y="355"/>
                  </a:lnTo>
                  <a:lnTo>
                    <a:pt x="844918" y="2159"/>
                  </a:lnTo>
                  <a:lnTo>
                    <a:pt x="850684" y="5397"/>
                  </a:lnTo>
                  <a:lnTo>
                    <a:pt x="856081" y="8636"/>
                  </a:lnTo>
                  <a:lnTo>
                    <a:pt x="860767" y="12953"/>
                  </a:lnTo>
                  <a:lnTo>
                    <a:pt x="864006" y="18719"/>
                  </a:lnTo>
                  <a:lnTo>
                    <a:pt x="867244" y="24117"/>
                  </a:lnTo>
                  <a:lnTo>
                    <a:pt x="869048" y="30594"/>
                  </a:lnTo>
                  <a:lnTo>
                    <a:pt x="869048" y="37071"/>
                  </a:lnTo>
                  <a:lnTo>
                    <a:pt x="869048" y="146519"/>
                  </a:lnTo>
                  <a:lnTo>
                    <a:pt x="869048" y="152996"/>
                  </a:lnTo>
                  <a:lnTo>
                    <a:pt x="867244" y="159118"/>
                  </a:lnTo>
                  <a:lnTo>
                    <a:pt x="864006" y="164871"/>
                  </a:lnTo>
                  <a:lnTo>
                    <a:pt x="860767" y="170281"/>
                  </a:lnTo>
                  <a:lnTo>
                    <a:pt x="856449" y="174955"/>
                  </a:lnTo>
                  <a:lnTo>
                    <a:pt x="850684" y="178193"/>
                  </a:lnTo>
                  <a:lnTo>
                    <a:pt x="845286" y="181432"/>
                  </a:lnTo>
                  <a:lnTo>
                    <a:pt x="838809" y="183235"/>
                  </a:lnTo>
                  <a:lnTo>
                    <a:pt x="832319" y="183235"/>
                  </a:lnTo>
                  <a:lnTo>
                    <a:pt x="36728" y="183235"/>
                  </a:lnTo>
                  <a:lnTo>
                    <a:pt x="30238" y="183235"/>
                  </a:lnTo>
                  <a:lnTo>
                    <a:pt x="24129" y="181432"/>
                  </a:lnTo>
                  <a:lnTo>
                    <a:pt x="18364" y="178193"/>
                  </a:lnTo>
                  <a:lnTo>
                    <a:pt x="12966" y="174955"/>
                  </a:lnTo>
                  <a:lnTo>
                    <a:pt x="8280" y="170637"/>
                  </a:lnTo>
                  <a:lnTo>
                    <a:pt x="5041" y="164871"/>
                  </a:lnTo>
                  <a:lnTo>
                    <a:pt x="1803" y="159473"/>
                  </a:lnTo>
                  <a:lnTo>
                    <a:pt x="0" y="152996"/>
                  </a:lnTo>
                  <a:lnTo>
                    <a:pt x="0" y="146519"/>
                  </a:lnTo>
                  <a:lnTo>
                    <a:pt x="368" y="36715"/>
                  </a:lnTo>
                  <a:close/>
                </a:path>
              </a:pathLst>
            </a:custGeom>
            <a:ln w="12599">
              <a:solidFill>
                <a:srgbClr val="1D5E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3219840" y="788046"/>
          <a:ext cx="2834005" cy="1809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34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pos="365760" algn="l"/>
                        </a:tabLst>
                      </a:pPr>
                      <a:r>
                        <a:rPr sz="11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02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350" b="1" spc="-30" baseline="617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Privacy-</a:t>
                      </a:r>
                      <a:r>
                        <a:rPr sz="1350" b="1" baseline="617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Preserving</a:t>
                      </a:r>
                      <a:r>
                        <a:rPr sz="1350" b="1" spc="60" baseline="617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b="1" spc="-15" baseline="617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Distillation</a:t>
                      </a:r>
                      <a:endParaRPr sz="1350" baseline="6172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L w="19050">
                      <a:solidFill>
                        <a:srgbClr val="1D5EAC"/>
                      </a:solidFill>
                      <a:prstDash val="solid"/>
                    </a:lnL>
                    <a:lnR w="19050">
                      <a:solidFill>
                        <a:srgbClr val="1D5EAC"/>
                      </a:solidFill>
                      <a:prstDash val="solid"/>
                    </a:lnR>
                    <a:lnT w="19050">
                      <a:solidFill>
                        <a:srgbClr val="1D5EAC"/>
                      </a:solidFill>
                      <a:prstDash val="solid"/>
                    </a:lnT>
                    <a:lnB w="12700">
                      <a:solidFill>
                        <a:srgbClr val="1D5EA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1455"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700" spc="-1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Active</a:t>
                      </a:r>
                      <a:r>
                        <a:rPr sz="700" spc="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research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91440" marR="184785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Federated distillation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and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differentially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private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KT for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teachers</a:t>
                      </a:r>
                      <a:r>
                        <a:rPr sz="800" spc="5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trained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on</a:t>
                      </a:r>
                      <a:r>
                        <a:rPr sz="80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sensitive</a:t>
                      </a:r>
                      <a:r>
                        <a:rPr sz="800" spc="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data.</a:t>
                      </a:r>
                      <a:r>
                        <a:rPr sz="80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Critical</a:t>
                      </a:r>
                      <a:r>
                        <a:rPr sz="80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80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healthcare,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finance,</a:t>
                      </a:r>
                      <a:r>
                        <a:rPr sz="800" spc="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800" spc="5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government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LLM</a:t>
                      </a:r>
                      <a:r>
                        <a:rPr sz="80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applications</a:t>
                      </a:r>
                      <a:r>
                        <a:rPr sz="800" spc="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without</a:t>
                      </a:r>
                      <a:r>
                        <a:rPr sz="80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exposure.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83820" marB="0">
                    <a:lnL w="19050">
                      <a:solidFill>
                        <a:srgbClr val="1D5EAC"/>
                      </a:solidFill>
                      <a:prstDash val="solid"/>
                    </a:lnL>
                    <a:lnR w="19050">
                      <a:solidFill>
                        <a:srgbClr val="1D5EAC"/>
                      </a:solidFill>
                      <a:prstDash val="solid"/>
                    </a:lnR>
                    <a:lnT w="12700">
                      <a:solidFill>
                        <a:srgbClr val="1D5EAC"/>
                      </a:solidFill>
                      <a:prstDash val="solid"/>
                    </a:lnT>
                    <a:lnB w="19050">
                      <a:solidFill>
                        <a:srgbClr val="1D5EA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63475" y="713157"/>
            <a:ext cx="3052444" cy="2027885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6199200" y="795237"/>
            <a:ext cx="2834640" cy="1811020"/>
            <a:chOff x="6199200" y="795237"/>
            <a:chExt cx="2834640" cy="1811020"/>
          </a:xfrm>
        </p:grpSpPr>
        <p:sp>
          <p:nvSpPr>
            <p:cNvPr id="23" name="object 23"/>
            <p:cNvSpPr/>
            <p:nvPr/>
          </p:nvSpPr>
          <p:spPr>
            <a:xfrm>
              <a:off x="6199200" y="795606"/>
              <a:ext cx="2834640" cy="1810385"/>
            </a:xfrm>
            <a:custGeom>
              <a:avLst/>
              <a:gdLst/>
              <a:ahLst/>
              <a:cxnLst/>
              <a:rect l="l" t="t" r="r" b="b"/>
              <a:pathLst>
                <a:path w="2834640" h="1810385">
                  <a:moveTo>
                    <a:pt x="2834284" y="0"/>
                  </a:moveTo>
                  <a:lnTo>
                    <a:pt x="0" y="0"/>
                  </a:lnTo>
                  <a:lnTo>
                    <a:pt x="0" y="1810080"/>
                  </a:lnTo>
                  <a:lnTo>
                    <a:pt x="1417320" y="1810080"/>
                  </a:lnTo>
                  <a:lnTo>
                    <a:pt x="2834284" y="1810080"/>
                  </a:lnTo>
                  <a:lnTo>
                    <a:pt x="283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199200" y="795237"/>
              <a:ext cx="2834640" cy="328930"/>
            </a:xfrm>
            <a:custGeom>
              <a:avLst/>
              <a:gdLst/>
              <a:ahLst/>
              <a:cxnLst/>
              <a:rect l="l" t="t" r="r" b="b"/>
              <a:pathLst>
                <a:path w="2834640" h="328930">
                  <a:moveTo>
                    <a:pt x="2834284" y="0"/>
                  </a:moveTo>
                  <a:lnTo>
                    <a:pt x="0" y="0"/>
                  </a:lnTo>
                  <a:lnTo>
                    <a:pt x="0" y="328688"/>
                  </a:lnTo>
                  <a:lnTo>
                    <a:pt x="1417320" y="328688"/>
                  </a:lnTo>
                  <a:lnTo>
                    <a:pt x="2834284" y="328688"/>
                  </a:lnTo>
                  <a:lnTo>
                    <a:pt x="2834284" y="0"/>
                  </a:lnTo>
                  <a:close/>
                </a:path>
              </a:pathLst>
            </a:custGeom>
            <a:solidFill>
              <a:srgbClr val="8A5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72276" y="1169646"/>
              <a:ext cx="869315" cy="183515"/>
            </a:xfrm>
            <a:custGeom>
              <a:avLst/>
              <a:gdLst/>
              <a:ahLst/>
              <a:cxnLst/>
              <a:rect l="l" t="t" r="r" b="b"/>
              <a:pathLst>
                <a:path w="869315" h="183515">
                  <a:moveTo>
                    <a:pt x="30607" y="0"/>
                  </a:moveTo>
                  <a:lnTo>
                    <a:pt x="24129" y="1790"/>
                  </a:lnTo>
                  <a:lnTo>
                    <a:pt x="18719" y="5029"/>
                  </a:lnTo>
                  <a:lnTo>
                    <a:pt x="12966" y="8280"/>
                  </a:lnTo>
                  <a:lnTo>
                    <a:pt x="8648" y="12953"/>
                  </a:lnTo>
                  <a:lnTo>
                    <a:pt x="5410" y="18351"/>
                  </a:lnTo>
                  <a:lnTo>
                    <a:pt x="2159" y="24117"/>
                  </a:lnTo>
                  <a:lnTo>
                    <a:pt x="368" y="30238"/>
                  </a:lnTo>
                  <a:lnTo>
                    <a:pt x="368" y="36715"/>
                  </a:lnTo>
                  <a:lnTo>
                    <a:pt x="0" y="146519"/>
                  </a:lnTo>
                  <a:lnTo>
                    <a:pt x="0" y="152996"/>
                  </a:lnTo>
                  <a:lnTo>
                    <a:pt x="1704" y="159118"/>
                  </a:lnTo>
                  <a:lnTo>
                    <a:pt x="1803" y="159473"/>
                  </a:lnTo>
                  <a:lnTo>
                    <a:pt x="5041" y="164871"/>
                  </a:lnTo>
                  <a:lnTo>
                    <a:pt x="8280" y="170637"/>
                  </a:lnTo>
                  <a:lnTo>
                    <a:pt x="12966" y="174955"/>
                  </a:lnTo>
                  <a:lnTo>
                    <a:pt x="18364" y="178193"/>
                  </a:lnTo>
                  <a:lnTo>
                    <a:pt x="24129" y="181432"/>
                  </a:lnTo>
                  <a:lnTo>
                    <a:pt x="30238" y="183235"/>
                  </a:lnTo>
                  <a:lnTo>
                    <a:pt x="838809" y="183235"/>
                  </a:lnTo>
                  <a:lnTo>
                    <a:pt x="845286" y="181432"/>
                  </a:lnTo>
                  <a:lnTo>
                    <a:pt x="850684" y="178193"/>
                  </a:lnTo>
                  <a:lnTo>
                    <a:pt x="856449" y="174955"/>
                  </a:lnTo>
                  <a:lnTo>
                    <a:pt x="860767" y="170281"/>
                  </a:lnTo>
                  <a:lnTo>
                    <a:pt x="864006" y="164871"/>
                  </a:lnTo>
                  <a:lnTo>
                    <a:pt x="867244" y="159118"/>
                  </a:lnTo>
                  <a:lnTo>
                    <a:pt x="869048" y="152996"/>
                  </a:lnTo>
                  <a:lnTo>
                    <a:pt x="868949" y="30238"/>
                  </a:lnTo>
                  <a:lnTo>
                    <a:pt x="867244" y="24117"/>
                  </a:lnTo>
                  <a:lnTo>
                    <a:pt x="864006" y="18719"/>
                  </a:lnTo>
                  <a:lnTo>
                    <a:pt x="860767" y="12953"/>
                  </a:lnTo>
                  <a:lnTo>
                    <a:pt x="856081" y="8636"/>
                  </a:lnTo>
                  <a:lnTo>
                    <a:pt x="850684" y="5397"/>
                  </a:lnTo>
                  <a:lnTo>
                    <a:pt x="844918" y="2159"/>
                  </a:lnTo>
                  <a:lnTo>
                    <a:pt x="838809" y="355"/>
                  </a:lnTo>
                  <a:lnTo>
                    <a:pt x="30607" y="0"/>
                  </a:lnTo>
                  <a:close/>
                </a:path>
              </a:pathLst>
            </a:custGeom>
            <a:solidFill>
              <a:srgbClr val="8A5BF5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272276" y="1169646"/>
              <a:ext cx="869315" cy="183515"/>
            </a:xfrm>
            <a:custGeom>
              <a:avLst/>
              <a:gdLst/>
              <a:ahLst/>
              <a:cxnLst/>
              <a:rect l="l" t="t" r="r" b="b"/>
              <a:pathLst>
                <a:path w="869315" h="183515">
                  <a:moveTo>
                    <a:pt x="368" y="36715"/>
                  </a:moveTo>
                  <a:lnTo>
                    <a:pt x="368" y="30238"/>
                  </a:lnTo>
                  <a:lnTo>
                    <a:pt x="2159" y="24117"/>
                  </a:lnTo>
                  <a:lnTo>
                    <a:pt x="5410" y="18351"/>
                  </a:lnTo>
                  <a:lnTo>
                    <a:pt x="8648" y="12953"/>
                  </a:lnTo>
                  <a:lnTo>
                    <a:pt x="12966" y="8280"/>
                  </a:lnTo>
                  <a:lnTo>
                    <a:pt x="18719" y="5029"/>
                  </a:lnTo>
                  <a:lnTo>
                    <a:pt x="24129" y="1790"/>
                  </a:lnTo>
                  <a:lnTo>
                    <a:pt x="30607" y="0"/>
                  </a:lnTo>
                  <a:lnTo>
                    <a:pt x="37084" y="0"/>
                  </a:lnTo>
                  <a:lnTo>
                    <a:pt x="832319" y="355"/>
                  </a:lnTo>
                  <a:lnTo>
                    <a:pt x="838809" y="355"/>
                  </a:lnTo>
                  <a:lnTo>
                    <a:pt x="844918" y="2159"/>
                  </a:lnTo>
                  <a:lnTo>
                    <a:pt x="850684" y="5397"/>
                  </a:lnTo>
                  <a:lnTo>
                    <a:pt x="856081" y="8636"/>
                  </a:lnTo>
                  <a:lnTo>
                    <a:pt x="860767" y="12953"/>
                  </a:lnTo>
                  <a:lnTo>
                    <a:pt x="864006" y="18719"/>
                  </a:lnTo>
                  <a:lnTo>
                    <a:pt x="867244" y="24117"/>
                  </a:lnTo>
                  <a:lnTo>
                    <a:pt x="869048" y="30594"/>
                  </a:lnTo>
                  <a:lnTo>
                    <a:pt x="869048" y="37071"/>
                  </a:lnTo>
                  <a:lnTo>
                    <a:pt x="869048" y="146519"/>
                  </a:lnTo>
                  <a:lnTo>
                    <a:pt x="869048" y="152996"/>
                  </a:lnTo>
                  <a:lnTo>
                    <a:pt x="867244" y="159118"/>
                  </a:lnTo>
                  <a:lnTo>
                    <a:pt x="864006" y="164871"/>
                  </a:lnTo>
                  <a:lnTo>
                    <a:pt x="860767" y="170281"/>
                  </a:lnTo>
                  <a:lnTo>
                    <a:pt x="856449" y="174955"/>
                  </a:lnTo>
                  <a:lnTo>
                    <a:pt x="850684" y="178193"/>
                  </a:lnTo>
                  <a:lnTo>
                    <a:pt x="845286" y="181432"/>
                  </a:lnTo>
                  <a:lnTo>
                    <a:pt x="838809" y="183235"/>
                  </a:lnTo>
                  <a:lnTo>
                    <a:pt x="832319" y="183235"/>
                  </a:lnTo>
                  <a:lnTo>
                    <a:pt x="36728" y="183235"/>
                  </a:lnTo>
                  <a:lnTo>
                    <a:pt x="30238" y="183235"/>
                  </a:lnTo>
                  <a:lnTo>
                    <a:pt x="24129" y="181432"/>
                  </a:lnTo>
                  <a:lnTo>
                    <a:pt x="18364" y="178193"/>
                  </a:lnTo>
                  <a:lnTo>
                    <a:pt x="12966" y="174955"/>
                  </a:lnTo>
                  <a:lnTo>
                    <a:pt x="8280" y="170637"/>
                  </a:lnTo>
                  <a:lnTo>
                    <a:pt x="5041" y="164871"/>
                  </a:lnTo>
                  <a:lnTo>
                    <a:pt x="1803" y="159473"/>
                  </a:lnTo>
                  <a:lnTo>
                    <a:pt x="0" y="152996"/>
                  </a:lnTo>
                  <a:lnTo>
                    <a:pt x="0" y="146519"/>
                  </a:lnTo>
                  <a:lnTo>
                    <a:pt x="368" y="36715"/>
                  </a:lnTo>
                  <a:close/>
                </a:path>
              </a:pathLst>
            </a:custGeom>
            <a:ln w="12599">
              <a:solidFill>
                <a:srgbClr val="8A5B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6191640" y="788046"/>
          <a:ext cx="2834005" cy="1809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34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pos="365760" algn="l"/>
                        </a:tabLst>
                      </a:pPr>
                      <a:r>
                        <a:rPr sz="11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03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350" b="1" spc="-30" baseline="617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Alignment-</a:t>
                      </a:r>
                      <a:r>
                        <a:rPr sz="1350" b="1" spc="-15" baseline="617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Aware</a:t>
                      </a:r>
                      <a:r>
                        <a:rPr sz="1350" b="1" spc="75" baseline="617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b="1" spc="-15" baseline="617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Distillation</a:t>
                      </a:r>
                      <a:endParaRPr sz="1350" baseline="6172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L w="19050">
                      <a:solidFill>
                        <a:srgbClr val="8A5BF5"/>
                      </a:solidFill>
                      <a:prstDash val="solid"/>
                    </a:lnL>
                    <a:lnR w="19050">
                      <a:solidFill>
                        <a:srgbClr val="8A5BF5"/>
                      </a:solidFill>
                      <a:prstDash val="solid"/>
                    </a:lnR>
                    <a:lnT w="19050">
                      <a:solidFill>
                        <a:srgbClr val="8A5BF5"/>
                      </a:solidFill>
                      <a:prstDash val="solid"/>
                    </a:lnT>
                    <a:lnB w="12700">
                      <a:solidFill>
                        <a:srgbClr val="8A5BF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1455">
                <a:tc>
                  <a:txBody>
                    <a:bodyPr/>
                    <a:lstStyle/>
                    <a:p>
                      <a:pPr marL="3098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700" spc="-1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Critical</a:t>
                      </a:r>
                      <a:r>
                        <a:rPr sz="700" spc="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2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gap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91440" marR="125730">
                        <a:lnSpc>
                          <a:spcPct val="100000"/>
                        </a:lnSpc>
                      </a:pP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Simultaneously</a:t>
                      </a:r>
                      <a:r>
                        <a:rPr sz="800" spc="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transfer</a:t>
                      </a:r>
                      <a:r>
                        <a:rPr sz="800" spc="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capability</a:t>
                      </a:r>
                      <a:r>
                        <a:rPr sz="800" spc="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800" spc="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safety</a:t>
                      </a:r>
                      <a:r>
                        <a:rPr sz="800" spc="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alignment</a:t>
                      </a:r>
                      <a:r>
                        <a:rPr sz="800" spc="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sz="800" spc="5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RLHF-trained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teachers.</a:t>
                      </a:r>
                      <a:r>
                        <a:rPr sz="80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Approach:</a:t>
                      </a:r>
                      <a:r>
                        <a:rPr sz="800" spc="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embed</a:t>
                      </a:r>
                      <a:r>
                        <a:rPr sz="800" spc="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RLHF</a:t>
                      </a:r>
                      <a:r>
                        <a:rPr sz="800" spc="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reward</a:t>
                      </a:r>
                      <a:r>
                        <a:rPr sz="80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signal </a:t>
                      </a:r>
                      <a:r>
                        <a:rPr sz="80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800" spc="5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KD</a:t>
                      </a:r>
                      <a:r>
                        <a:rPr sz="800" spc="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objective;</a:t>
                      </a:r>
                      <a:r>
                        <a:rPr sz="800" spc="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use</a:t>
                      </a:r>
                      <a:r>
                        <a:rPr sz="800" spc="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Constitutional</a:t>
                      </a:r>
                      <a:r>
                        <a:rPr sz="800" spc="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AI</a:t>
                      </a:r>
                      <a:r>
                        <a:rPr sz="800" spc="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principles</a:t>
                      </a:r>
                      <a:r>
                        <a:rPr sz="800" spc="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as</a:t>
                      </a:r>
                      <a:r>
                        <a:rPr sz="800" spc="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constraints.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83820" marB="0">
                    <a:lnL w="19050">
                      <a:solidFill>
                        <a:srgbClr val="8A5BF5"/>
                      </a:solidFill>
                      <a:prstDash val="solid"/>
                    </a:lnL>
                    <a:lnR w="19050">
                      <a:solidFill>
                        <a:srgbClr val="8A5BF5"/>
                      </a:solidFill>
                      <a:prstDash val="solid"/>
                    </a:lnR>
                    <a:lnT w="12700">
                      <a:solidFill>
                        <a:srgbClr val="8A5BF5"/>
                      </a:solidFill>
                      <a:prstDash val="solid"/>
                    </a:lnT>
                    <a:lnB w="19050">
                      <a:solidFill>
                        <a:srgbClr val="8A5BF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8" name="object 28"/>
          <p:cNvGrpSpPr/>
          <p:nvPr/>
        </p:nvGrpSpPr>
        <p:grpSpPr>
          <a:xfrm>
            <a:off x="119875" y="2706473"/>
            <a:ext cx="3052445" cy="2028189"/>
            <a:chOff x="119875" y="2706473"/>
            <a:chExt cx="3052445" cy="2028189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5" y="2706473"/>
              <a:ext cx="3052445" cy="202788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55600" y="2788921"/>
              <a:ext cx="2834640" cy="1810385"/>
            </a:xfrm>
            <a:custGeom>
              <a:avLst/>
              <a:gdLst/>
              <a:ahLst/>
              <a:cxnLst/>
              <a:rect l="l" t="t" r="r" b="b"/>
              <a:pathLst>
                <a:path w="2834640" h="1810385">
                  <a:moveTo>
                    <a:pt x="2834284" y="0"/>
                  </a:moveTo>
                  <a:lnTo>
                    <a:pt x="0" y="0"/>
                  </a:lnTo>
                  <a:lnTo>
                    <a:pt x="0" y="1810080"/>
                  </a:lnTo>
                  <a:lnTo>
                    <a:pt x="1417320" y="1810080"/>
                  </a:lnTo>
                  <a:lnTo>
                    <a:pt x="2834284" y="1810080"/>
                  </a:lnTo>
                  <a:lnTo>
                    <a:pt x="283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5600" y="2788566"/>
              <a:ext cx="2834640" cy="328930"/>
            </a:xfrm>
            <a:custGeom>
              <a:avLst/>
              <a:gdLst/>
              <a:ahLst/>
              <a:cxnLst/>
              <a:rect l="l" t="t" r="r" b="b"/>
              <a:pathLst>
                <a:path w="2834640" h="328930">
                  <a:moveTo>
                    <a:pt x="2834284" y="0"/>
                  </a:moveTo>
                  <a:lnTo>
                    <a:pt x="0" y="0"/>
                  </a:lnTo>
                  <a:lnTo>
                    <a:pt x="0" y="328675"/>
                  </a:lnTo>
                  <a:lnTo>
                    <a:pt x="1417320" y="328675"/>
                  </a:lnTo>
                  <a:lnTo>
                    <a:pt x="2834284" y="328675"/>
                  </a:lnTo>
                  <a:lnTo>
                    <a:pt x="2834284" y="0"/>
                  </a:lnTo>
                  <a:close/>
                </a:path>
              </a:pathLst>
            </a:custGeom>
            <a:solidFill>
              <a:srgbClr val="F3A1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8676" y="3162962"/>
              <a:ext cx="869315" cy="183515"/>
            </a:xfrm>
            <a:custGeom>
              <a:avLst/>
              <a:gdLst/>
              <a:ahLst/>
              <a:cxnLst/>
              <a:rect l="l" t="t" r="r" b="b"/>
              <a:pathLst>
                <a:path w="869315" h="183514">
                  <a:moveTo>
                    <a:pt x="30607" y="0"/>
                  </a:moveTo>
                  <a:lnTo>
                    <a:pt x="24130" y="1803"/>
                  </a:lnTo>
                  <a:lnTo>
                    <a:pt x="18719" y="5041"/>
                  </a:lnTo>
                  <a:lnTo>
                    <a:pt x="12966" y="8280"/>
                  </a:lnTo>
                  <a:lnTo>
                    <a:pt x="8648" y="12953"/>
                  </a:lnTo>
                  <a:lnTo>
                    <a:pt x="5410" y="18364"/>
                  </a:lnTo>
                  <a:lnTo>
                    <a:pt x="2159" y="24117"/>
                  </a:lnTo>
                  <a:lnTo>
                    <a:pt x="368" y="30238"/>
                  </a:lnTo>
                  <a:lnTo>
                    <a:pt x="368" y="36715"/>
                  </a:lnTo>
                  <a:lnTo>
                    <a:pt x="0" y="146519"/>
                  </a:lnTo>
                  <a:lnTo>
                    <a:pt x="0" y="152996"/>
                  </a:lnTo>
                  <a:lnTo>
                    <a:pt x="1704" y="159118"/>
                  </a:lnTo>
                  <a:lnTo>
                    <a:pt x="1803" y="159473"/>
                  </a:lnTo>
                  <a:lnTo>
                    <a:pt x="5041" y="164884"/>
                  </a:lnTo>
                  <a:lnTo>
                    <a:pt x="8280" y="170637"/>
                  </a:lnTo>
                  <a:lnTo>
                    <a:pt x="12966" y="174955"/>
                  </a:lnTo>
                  <a:lnTo>
                    <a:pt x="18364" y="178193"/>
                  </a:lnTo>
                  <a:lnTo>
                    <a:pt x="24130" y="181444"/>
                  </a:lnTo>
                  <a:lnTo>
                    <a:pt x="30238" y="183235"/>
                  </a:lnTo>
                  <a:lnTo>
                    <a:pt x="838809" y="183235"/>
                  </a:lnTo>
                  <a:lnTo>
                    <a:pt x="845286" y="181444"/>
                  </a:lnTo>
                  <a:lnTo>
                    <a:pt x="850684" y="178193"/>
                  </a:lnTo>
                  <a:lnTo>
                    <a:pt x="856449" y="174955"/>
                  </a:lnTo>
                  <a:lnTo>
                    <a:pt x="860767" y="170281"/>
                  </a:lnTo>
                  <a:lnTo>
                    <a:pt x="864006" y="164884"/>
                  </a:lnTo>
                  <a:lnTo>
                    <a:pt x="867244" y="159118"/>
                  </a:lnTo>
                  <a:lnTo>
                    <a:pt x="869048" y="152996"/>
                  </a:lnTo>
                  <a:lnTo>
                    <a:pt x="868949" y="30238"/>
                  </a:lnTo>
                  <a:lnTo>
                    <a:pt x="867244" y="24117"/>
                  </a:lnTo>
                  <a:lnTo>
                    <a:pt x="864006" y="18719"/>
                  </a:lnTo>
                  <a:lnTo>
                    <a:pt x="860767" y="12953"/>
                  </a:lnTo>
                  <a:lnTo>
                    <a:pt x="856081" y="8635"/>
                  </a:lnTo>
                  <a:lnTo>
                    <a:pt x="850684" y="5397"/>
                  </a:lnTo>
                  <a:lnTo>
                    <a:pt x="844918" y="2158"/>
                  </a:lnTo>
                  <a:lnTo>
                    <a:pt x="838809" y="355"/>
                  </a:lnTo>
                  <a:lnTo>
                    <a:pt x="30607" y="0"/>
                  </a:lnTo>
                  <a:close/>
                </a:path>
              </a:pathLst>
            </a:custGeom>
            <a:solidFill>
              <a:srgbClr val="F3A160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8676" y="3162962"/>
              <a:ext cx="869315" cy="183515"/>
            </a:xfrm>
            <a:custGeom>
              <a:avLst/>
              <a:gdLst/>
              <a:ahLst/>
              <a:cxnLst/>
              <a:rect l="l" t="t" r="r" b="b"/>
              <a:pathLst>
                <a:path w="869315" h="183514">
                  <a:moveTo>
                    <a:pt x="368" y="36715"/>
                  </a:moveTo>
                  <a:lnTo>
                    <a:pt x="368" y="30238"/>
                  </a:lnTo>
                  <a:lnTo>
                    <a:pt x="2159" y="24117"/>
                  </a:lnTo>
                  <a:lnTo>
                    <a:pt x="5410" y="18364"/>
                  </a:lnTo>
                  <a:lnTo>
                    <a:pt x="8648" y="12953"/>
                  </a:lnTo>
                  <a:lnTo>
                    <a:pt x="12966" y="8280"/>
                  </a:lnTo>
                  <a:lnTo>
                    <a:pt x="18719" y="5041"/>
                  </a:lnTo>
                  <a:lnTo>
                    <a:pt x="24130" y="1803"/>
                  </a:lnTo>
                  <a:lnTo>
                    <a:pt x="30607" y="0"/>
                  </a:lnTo>
                  <a:lnTo>
                    <a:pt x="37084" y="0"/>
                  </a:lnTo>
                  <a:lnTo>
                    <a:pt x="832319" y="355"/>
                  </a:lnTo>
                  <a:lnTo>
                    <a:pt x="838809" y="355"/>
                  </a:lnTo>
                  <a:lnTo>
                    <a:pt x="844918" y="2158"/>
                  </a:lnTo>
                  <a:lnTo>
                    <a:pt x="850684" y="5397"/>
                  </a:lnTo>
                  <a:lnTo>
                    <a:pt x="856081" y="8635"/>
                  </a:lnTo>
                  <a:lnTo>
                    <a:pt x="860767" y="12953"/>
                  </a:lnTo>
                  <a:lnTo>
                    <a:pt x="864006" y="18719"/>
                  </a:lnTo>
                  <a:lnTo>
                    <a:pt x="867244" y="24117"/>
                  </a:lnTo>
                  <a:lnTo>
                    <a:pt x="869048" y="30594"/>
                  </a:lnTo>
                  <a:lnTo>
                    <a:pt x="869048" y="37083"/>
                  </a:lnTo>
                  <a:lnTo>
                    <a:pt x="869048" y="146519"/>
                  </a:lnTo>
                  <a:lnTo>
                    <a:pt x="869048" y="152996"/>
                  </a:lnTo>
                  <a:lnTo>
                    <a:pt x="867244" y="159118"/>
                  </a:lnTo>
                  <a:lnTo>
                    <a:pt x="864006" y="164884"/>
                  </a:lnTo>
                  <a:lnTo>
                    <a:pt x="860767" y="170281"/>
                  </a:lnTo>
                  <a:lnTo>
                    <a:pt x="856449" y="174955"/>
                  </a:lnTo>
                  <a:lnTo>
                    <a:pt x="850684" y="178193"/>
                  </a:lnTo>
                  <a:lnTo>
                    <a:pt x="845286" y="181444"/>
                  </a:lnTo>
                  <a:lnTo>
                    <a:pt x="838809" y="183235"/>
                  </a:lnTo>
                  <a:lnTo>
                    <a:pt x="832319" y="183235"/>
                  </a:lnTo>
                  <a:lnTo>
                    <a:pt x="36728" y="183235"/>
                  </a:lnTo>
                  <a:lnTo>
                    <a:pt x="30238" y="183235"/>
                  </a:lnTo>
                  <a:lnTo>
                    <a:pt x="24130" y="181444"/>
                  </a:lnTo>
                  <a:lnTo>
                    <a:pt x="18364" y="178193"/>
                  </a:lnTo>
                  <a:lnTo>
                    <a:pt x="12966" y="174955"/>
                  </a:lnTo>
                  <a:lnTo>
                    <a:pt x="8280" y="170637"/>
                  </a:lnTo>
                  <a:lnTo>
                    <a:pt x="5041" y="164884"/>
                  </a:lnTo>
                  <a:lnTo>
                    <a:pt x="1803" y="159473"/>
                  </a:lnTo>
                  <a:lnTo>
                    <a:pt x="0" y="152996"/>
                  </a:lnTo>
                  <a:lnTo>
                    <a:pt x="0" y="146519"/>
                  </a:lnTo>
                  <a:lnTo>
                    <a:pt x="368" y="36715"/>
                  </a:lnTo>
                  <a:close/>
                </a:path>
              </a:pathLst>
            </a:custGeom>
            <a:ln w="12599">
              <a:solidFill>
                <a:srgbClr val="F3A1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248040" y="2781362"/>
          <a:ext cx="2834005" cy="1809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34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705"/>
                        </a:spcBef>
                        <a:tabLst>
                          <a:tab pos="365760" algn="l"/>
                        </a:tabLst>
                      </a:pPr>
                      <a:r>
                        <a:rPr sz="11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04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350" b="1" spc="-30" baseline="617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Hardware-</a:t>
                      </a:r>
                      <a:r>
                        <a:rPr sz="1350" b="1" spc="-15" baseline="617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Aware</a:t>
                      </a:r>
                      <a:r>
                        <a:rPr sz="1350" b="1" spc="75" baseline="617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b="1" spc="-15" baseline="617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Distillation</a:t>
                      </a:r>
                      <a:endParaRPr sz="1350" baseline="6172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9050">
                      <a:solidFill>
                        <a:srgbClr val="F3A160"/>
                      </a:solidFill>
                      <a:prstDash val="solid"/>
                    </a:lnL>
                    <a:lnR w="19050">
                      <a:solidFill>
                        <a:srgbClr val="F3A160"/>
                      </a:solidFill>
                      <a:prstDash val="solid"/>
                    </a:lnR>
                    <a:lnT w="19050">
                      <a:solidFill>
                        <a:srgbClr val="F3A160"/>
                      </a:solidFill>
                      <a:prstDash val="solid"/>
                    </a:lnT>
                    <a:lnB w="12700">
                      <a:solidFill>
                        <a:srgbClr val="F3A1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1455">
                <a:tc>
                  <a:txBody>
                    <a:bodyPr/>
                    <a:lstStyle/>
                    <a:p>
                      <a:pPr marL="259079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700" spc="-1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Industry</a:t>
                      </a:r>
                      <a:r>
                        <a:rPr sz="700" spc="3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2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need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90805" marR="1117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Co-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design</a:t>
                      </a:r>
                      <a:r>
                        <a:rPr sz="80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student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architecture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80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distillation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objective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800" spc="5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specific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deployment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targets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(mobile NPU,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FPGA).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Incorporate</a:t>
                      </a:r>
                      <a:r>
                        <a:rPr sz="800" spc="5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hardware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efficiency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metrics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(latency,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bandwidth)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directly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loss</a:t>
                      </a:r>
                      <a:r>
                        <a:rPr sz="800" spc="5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function.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83820" marB="0">
                    <a:lnL w="19050">
                      <a:solidFill>
                        <a:srgbClr val="F3A160"/>
                      </a:solidFill>
                      <a:prstDash val="solid"/>
                    </a:lnL>
                    <a:lnR w="19050">
                      <a:solidFill>
                        <a:srgbClr val="F3A160"/>
                      </a:solidFill>
                      <a:prstDash val="solid"/>
                    </a:lnR>
                    <a:lnT w="12700">
                      <a:solidFill>
                        <a:srgbClr val="F3A160"/>
                      </a:solidFill>
                      <a:prstDash val="solid"/>
                    </a:lnT>
                    <a:lnB w="19050">
                      <a:solidFill>
                        <a:srgbClr val="F3A1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5" name="object 35"/>
          <p:cNvGrpSpPr/>
          <p:nvPr/>
        </p:nvGrpSpPr>
        <p:grpSpPr>
          <a:xfrm>
            <a:off x="3091675" y="2706473"/>
            <a:ext cx="3052445" cy="2028189"/>
            <a:chOff x="3091675" y="2706473"/>
            <a:chExt cx="3052445" cy="2028189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675" y="2706473"/>
              <a:ext cx="3052445" cy="202788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227400" y="2788921"/>
              <a:ext cx="2834640" cy="1810385"/>
            </a:xfrm>
            <a:custGeom>
              <a:avLst/>
              <a:gdLst/>
              <a:ahLst/>
              <a:cxnLst/>
              <a:rect l="l" t="t" r="r" b="b"/>
              <a:pathLst>
                <a:path w="2834640" h="1810385">
                  <a:moveTo>
                    <a:pt x="2834284" y="0"/>
                  </a:moveTo>
                  <a:lnTo>
                    <a:pt x="0" y="0"/>
                  </a:lnTo>
                  <a:lnTo>
                    <a:pt x="0" y="1810080"/>
                  </a:lnTo>
                  <a:lnTo>
                    <a:pt x="1417320" y="1810080"/>
                  </a:lnTo>
                  <a:lnTo>
                    <a:pt x="2834284" y="1810080"/>
                  </a:lnTo>
                  <a:lnTo>
                    <a:pt x="283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227400" y="2788566"/>
              <a:ext cx="2834640" cy="328930"/>
            </a:xfrm>
            <a:custGeom>
              <a:avLst/>
              <a:gdLst/>
              <a:ahLst/>
              <a:cxnLst/>
              <a:rect l="l" t="t" r="r" b="b"/>
              <a:pathLst>
                <a:path w="2834640" h="328930">
                  <a:moveTo>
                    <a:pt x="2834284" y="0"/>
                  </a:moveTo>
                  <a:lnTo>
                    <a:pt x="0" y="0"/>
                  </a:lnTo>
                  <a:lnTo>
                    <a:pt x="0" y="328675"/>
                  </a:lnTo>
                  <a:lnTo>
                    <a:pt x="1417320" y="328675"/>
                  </a:lnTo>
                  <a:lnTo>
                    <a:pt x="2834284" y="328675"/>
                  </a:lnTo>
                  <a:lnTo>
                    <a:pt x="2834284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300475" y="3162962"/>
              <a:ext cx="869315" cy="183515"/>
            </a:xfrm>
            <a:custGeom>
              <a:avLst/>
              <a:gdLst/>
              <a:ahLst/>
              <a:cxnLst/>
              <a:rect l="l" t="t" r="r" b="b"/>
              <a:pathLst>
                <a:path w="869314" h="183514">
                  <a:moveTo>
                    <a:pt x="30607" y="0"/>
                  </a:moveTo>
                  <a:lnTo>
                    <a:pt x="24129" y="1803"/>
                  </a:lnTo>
                  <a:lnTo>
                    <a:pt x="18719" y="5041"/>
                  </a:lnTo>
                  <a:lnTo>
                    <a:pt x="12966" y="8280"/>
                  </a:lnTo>
                  <a:lnTo>
                    <a:pt x="8648" y="12953"/>
                  </a:lnTo>
                  <a:lnTo>
                    <a:pt x="5410" y="18364"/>
                  </a:lnTo>
                  <a:lnTo>
                    <a:pt x="2159" y="24117"/>
                  </a:lnTo>
                  <a:lnTo>
                    <a:pt x="368" y="30238"/>
                  </a:lnTo>
                  <a:lnTo>
                    <a:pt x="368" y="36715"/>
                  </a:lnTo>
                  <a:lnTo>
                    <a:pt x="0" y="146519"/>
                  </a:lnTo>
                  <a:lnTo>
                    <a:pt x="0" y="152996"/>
                  </a:lnTo>
                  <a:lnTo>
                    <a:pt x="1704" y="159118"/>
                  </a:lnTo>
                  <a:lnTo>
                    <a:pt x="1803" y="159473"/>
                  </a:lnTo>
                  <a:lnTo>
                    <a:pt x="5041" y="164884"/>
                  </a:lnTo>
                  <a:lnTo>
                    <a:pt x="8280" y="170637"/>
                  </a:lnTo>
                  <a:lnTo>
                    <a:pt x="12966" y="174955"/>
                  </a:lnTo>
                  <a:lnTo>
                    <a:pt x="18364" y="178193"/>
                  </a:lnTo>
                  <a:lnTo>
                    <a:pt x="24129" y="181444"/>
                  </a:lnTo>
                  <a:lnTo>
                    <a:pt x="30238" y="183235"/>
                  </a:lnTo>
                  <a:lnTo>
                    <a:pt x="838809" y="183235"/>
                  </a:lnTo>
                  <a:lnTo>
                    <a:pt x="845286" y="181444"/>
                  </a:lnTo>
                  <a:lnTo>
                    <a:pt x="850684" y="178193"/>
                  </a:lnTo>
                  <a:lnTo>
                    <a:pt x="856449" y="174955"/>
                  </a:lnTo>
                  <a:lnTo>
                    <a:pt x="860767" y="170281"/>
                  </a:lnTo>
                  <a:lnTo>
                    <a:pt x="864006" y="164884"/>
                  </a:lnTo>
                  <a:lnTo>
                    <a:pt x="867244" y="159118"/>
                  </a:lnTo>
                  <a:lnTo>
                    <a:pt x="869048" y="152996"/>
                  </a:lnTo>
                  <a:lnTo>
                    <a:pt x="868949" y="30238"/>
                  </a:lnTo>
                  <a:lnTo>
                    <a:pt x="867244" y="24117"/>
                  </a:lnTo>
                  <a:lnTo>
                    <a:pt x="864006" y="18719"/>
                  </a:lnTo>
                  <a:lnTo>
                    <a:pt x="860767" y="12953"/>
                  </a:lnTo>
                  <a:lnTo>
                    <a:pt x="856081" y="8635"/>
                  </a:lnTo>
                  <a:lnTo>
                    <a:pt x="850684" y="5397"/>
                  </a:lnTo>
                  <a:lnTo>
                    <a:pt x="844918" y="2158"/>
                  </a:lnTo>
                  <a:lnTo>
                    <a:pt x="838809" y="355"/>
                  </a:lnTo>
                  <a:lnTo>
                    <a:pt x="30607" y="0"/>
                  </a:lnTo>
                  <a:close/>
                </a:path>
              </a:pathLst>
            </a:custGeom>
            <a:solidFill>
              <a:srgbClr val="21C45D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300475" y="3162962"/>
              <a:ext cx="869315" cy="183515"/>
            </a:xfrm>
            <a:custGeom>
              <a:avLst/>
              <a:gdLst/>
              <a:ahLst/>
              <a:cxnLst/>
              <a:rect l="l" t="t" r="r" b="b"/>
              <a:pathLst>
                <a:path w="869314" h="183514">
                  <a:moveTo>
                    <a:pt x="368" y="36715"/>
                  </a:moveTo>
                  <a:lnTo>
                    <a:pt x="368" y="30238"/>
                  </a:lnTo>
                  <a:lnTo>
                    <a:pt x="2159" y="24117"/>
                  </a:lnTo>
                  <a:lnTo>
                    <a:pt x="5410" y="18364"/>
                  </a:lnTo>
                  <a:lnTo>
                    <a:pt x="8648" y="12953"/>
                  </a:lnTo>
                  <a:lnTo>
                    <a:pt x="12966" y="8280"/>
                  </a:lnTo>
                  <a:lnTo>
                    <a:pt x="18719" y="5041"/>
                  </a:lnTo>
                  <a:lnTo>
                    <a:pt x="24129" y="1803"/>
                  </a:lnTo>
                  <a:lnTo>
                    <a:pt x="30607" y="0"/>
                  </a:lnTo>
                  <a:lnTo>
                    <a:pt x="37084" y="0"/>
                  </a:lnTo>
                  <a:lnTo>
                    <a:pt x="832319" y="355"/>
                  </a:lnTo>
                  <a:lnTo>
                    <a:pt x="838809" y="355"/>
                  </a:lnTo>
                  <a:lnTo>
                    <a:pt x="844918" y="2158"/>
                  </a:lnTo>
                  <a:lnTo>
                    <a:pt x="850684" y="5397"/>
                  </a:lnTo>
                  <a:lnTo>
                    <a:pt x="856081" y="8635"/>
                  </a:lnTo>
                  <a:lnTo>
                    <a:pt x="860767" y="12953"/>
                  </a:lnTo>
                  <a:lnTo>
                    <a:pt x="864006" y="18719"/>
                  </a:lnTo>
                  <a:lnTo>
                    <a:pt x="867244" y="24117"/>
                  </a:lnTo>
                  <a:lnTo>
                    <a:pt x="869048" y="30594"/>
                  </a:lnTo>
                  <a:lnTo>
                    <a:pt x="869048" y="37083"/>
                  </a:lnTo>
                  <a:lnTo>
                    <a:pt x="869048" y="146519"/>
                  </a:lnTo>
                  <a:lnTo>
                    <a:pt x="869048" y="152996"/>
                  </a:lnTo>
                  <a:lnTo>
                    <a:pt x="867244" y="159118"/>
                  </a:lnTo>
                  <a:lnTo>
                    <a:pt x="864006" y="164884"/>
                  </a:lnTo>
                  <a:lnTo>
                    <a:pt x="860767" y="170281"/>
                  </a:lnTo>
                  <a:lnTo>
                    <a:pt x="856449" y="174955"/>
                  </a:lnTo>
                  <a:lnTo>
                    <a:pt x="850684" y="178193"/>
                  </a:lnTo>
                  <a:lnTo>
                    <a:pt x="845286" y="181444"/>
                  </a:lnTo>
                  <a:lnTo>
                    <a:pt x="838809" y="183235"/>
                  </a:lnTo>
                  <a:lnTo>
                    <a:pt x="832319" y="183235"/>
                  </a:lnTo>
                  <a:lnTo>
                    <a:pt x="36728" y="183235"/>
                  </a:lnTo>
                  <a:lnTo>
                    <a:pt x="30238" y="183235"/>
                  </a:lnTo>
                  <a:lnTo>
                    <a:pt x="24129" y="181444"/>
                  </a:lnTo>
                  <a:lnTo>
                    <a:pt x="18364" y="178193"/>
                  </a:lnTo>
                  <a:lnTo>
                    <a:pt x="12966" y="174955"/>
                  </a:lnTo>
                  <a:lnTo>
                    <a:pt x="8280" y="170637"/>
                  </a:lnTo>
                  <a:lnTo>
                    <a:pt x="5041" y="164884"/>
                  </a:lnTo>
                  <a:lnTo>
                    <a:pt x="1803" y="159473"/>
                  </a:lnTo>
                  <a:lnTo>
                    <a:pt x="0" y="152996"/>
                  </a:lnTo>
                  <a:lnTo>
                    <a:pt x="0" y="146519"/>
                  </a:lnTo>
                  <a:lnTo>
                    <a:pt x="368" y="36715"/>
                  </a:lnTo>
                  <a:close/>
                </a:path>
              </a:pathLst>
            </a:custGeom>
            <a:ln w="1259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1" name="object 41"/>
          <p:cNvGraphicFramePr>
            <a:graphicFrameLocks noGrp="1"/>
          </p:cNvGraphicFramePr>
          <p:nvPr/>
        </p:nvGraphicFramePr>
        <p:xfrm>
          <a:off x="3219840" y="2781362"/>
          <a:ext cx="2834005" cy="1809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34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705"/>
                        </a:spcBef>
                        <a:tabLst>
                          <a:tab pos="365760" algn="l"/>
                        </a:tabLst>
                      </a:pPr>
                      <a:r>
                        <a:rPr sz="11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05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350" b="1" spc="-15" baseline="617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Distillation</a:t>
                      </a:r>
                      <a:r>
                        <a:rPr sz="1350" b="1" spc="-37" baseline="617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b="1" baseline="617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Scaling</a:t>
                      </a:r>
                      <a:r>
                        <a:rPr sz="1350" b="1" spc="-15" baseline="617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Theory</a:t>
                      </a:r>
                      <a:endParaRPr sz="1350" baseline="6172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9050">
                      <a:solidFill>
                        <a:srgbClr val="21C45D"/>
                      </a:solidFill>
                      <a:prstDash val="solid"/>
                    </a:lnL>
                    <a:lnR w="19050">
                      <a:solidFill>
                        <a:srgbClr val="21C45D"/>
                      </a:solidFill>
                      <a:prstDash val="solid"/>
                    </a:lnR>
                    <a:lnT w="19050">
                      <a:solidFill>
                        <a:srgbClr val="21C45D"/>
                      </a:solidFill>
                      <a:prstDash val="solid"/>
                    </a:lnT>
                    <a:lnB w="12700">
                      <a:solidFill>
                        <a:srgbClr val="21C45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1455"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70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Open</a:t>
                      </a:r>
                      <a:r>
                        <a:rPr sz="700" spc="-25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1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problem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91440" marR="2203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Extend</a:t>
                      </a:r>
                      <a:r>
                        <a:rPr sz="80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Chinchilla-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style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scaling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laws</a:t>
                      </a:r>
                      <a:r>
                        <a:rPr sz="80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3-variable (teacher</a:t>
                      </a:r>
                      <a:r>
                        <a:rPr sz="800" spc="5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size,</a:t>
                      </a:r>
                      <a:r>
                        <a:rPr sz="80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student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size,</a:t>
                      </a:r>
                      <a:r>
                        <a:rPr sz="80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80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volume)</a:t>
                      </a:r>
                      <a:r>
                        <a:rPr sz="80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distillation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setting.</a:t>
                      </a:r>
                      <a:r>
                        <a:rPr sz="80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Provide</a:t>
                      </a:r>
                      <a:r>
                        <a:rPr sz="800" spc="5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theoretical</a:t>
                      </a:r>
                      <a:r>
                        <a:rPr sz="80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bounds</a:t>
                      </a:r>
                      <a:r>
                        <a:rPr sz="80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sz="80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capacity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gap</a:t>
                      </a:r>
                      <a:r>
                        <a:rPr sz="80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80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optimal</a:t>
                      </a:r>
                      <a:r>
                        <a:rPr sz="80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compute</a:t>
                      </a:r>
                      <a:r>
                        <a:rPr sz="800" spc="5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allocation.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83820" marB="0">
                    <a:lnL w="19050">
                      <a:solidFill>
                        <a:srgbClr val="21C45D"/>
                      </a:solidFill>
                      <a:prstDash val="solid"/>
                    </a:lnL>
                    <a:lnR w="19050">
                      <a:solidFill>
                        <a:srgbClr val="21C45D"/>
                      </a:solidFill>
                      <a:prstDash val="solid"/>
                    </a:lnR>
                    <a:lnT w="12700">
                      <a:solidFill>
                        <a:srgbClr val="21C45D"/>
                      </a:solidFill>
                      <a:prstDash val="solid"/>
                    </a:lnT>
                    <a:lnB w="19050">
                      <a:solidFill>
                        <a:srgbClr val="21C45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2" name="object 4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63475" y="2706473"/>
            <a:ext cx="3052444" cy="2027885"/>
          </a:xfrm>
          <a:prstGeom prst="rect">
            <a:avLst/>
          </a:prstGeom>
        </p:spPr>
      </p:pic>
      <p:grpSp>
        <p:nvGrpSpPr>
          <p:cNvPr id="43" name="object 43"/>
          <p:cNvGrpSpPr/>
          <p:nvPr/>
        </p:nvGrpSpPr>
        <p:grpSpPr>
          <a:xfrm>
            <a:off x="6199200" y="2788566"/>
            <a:ext cx="2834640" cy="1811020"/>
            <a:chOff x="6199200" y="2788566"/>
            <a:chExt cx="2834640" cy="1811020"/>
          </a:xfrm>
        </p:grpSpPr>
        <p:sp>
          <p:nvSpPr>
            <p:cNvPr id="44" name="object 44"/>
            <p:cNvSpPr/>
            <p:nvPr/>
          </p:nvSpPr>
          <p:spPr>
            <a:xfrm>
              <a:off x="6199200" y="2788922"/>
              <a:ext cx="2834640" cy="1810385"/>
            </a:xfrm>
            <a:custGeom>
              <a:avLst/>
              <a:gdLst/>
              <a:ahLst/>
              <a:cxnLst/>
              <a:rect l="l" t="t" r="r" b="b"/>
              <a:pathLst>
                <a:path w="2834640" h="1810385">
                  <a:moveTo>
                    <a:pt x="2834284" y="0"/>
                  </a:moveTo>
                  <a:lnTo>
                    <a:pt x="0" y="0"/>
                  </a:lnTo>
                  <a:lnTo>
                    <a:pt x="0" y="1810080"/>
                  </a:lnTo>
                  <a:lnTo>
                    <a:pt x="1417320" y="1810080"/>
                  </a:lnTo>
                  <a:lnTo>
                    <a:pt x="2834284" y="1810080"/>
                  </a:lnTo>
                  <a:lnTo>
                    <a:pt x="283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199200" y="2788566"/>
              <a:ext cx="2834640" cy="328930"/>
            </a:xfrm>
            <a:custGeom>
              <a:avLst/>
              <a:gdLst/>
              <a:ahLst/>
              <a:cxnLst/>
              <a:rect l="l" t="t" r="r" b="b"/>
              <a:pathLst>
                <a:path w="2834640" h="328930">
                  <a:moveTo>
                    <a:pt x="2834284" y="0"/>
                  </a:moveTo>
                  <a:lnTo>
                    <a:pt x="0" y="0"/>
                  </a:lnTo>
                  <a:lnTo>
                    <a:pt x="0" y="328675"/>
                  </a:lnTo>
                  <a:lnTo>
                    <a:pt x="1417320" y="328675"/>
                  </a:lnTo>
                  <a:lnTo>
                    <a:pt x="2834284" y="328675"/>
                  </a:lnTo>
                  <a:lnTo>
                    <a:pt x="2834284" y="0"/>
                  </a:lnTo>
                  <a:close/>
                </a:path>
              </a:pathLst>
            </a:custGeom>
            <a:solidFill>
              <a:srgbClr val="EE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72276" y="3162962"/>
              <a:ext cx="869315" cy="183515"/>
            </a:xfrm>
            <a:custGeom>
              <a:avLst/>
              <a:gdLst/>
              <a:ahLst/>
              <a:cxnLst/>
              <a:rect l="l" t="t" r="r" b="b"/>
              <a:pathLst>
                <a:path w="869315" h="183514">
                  <a:moveTo>
                    <a:pt x="30607" y="0"/>
                  </a:moveTo>
                  <a:lnTo>
                    <a:pt x="24129" y="1803"/>
                  </a:lnTo>
                  <a:lnTo>
                    <a:pt x="18719" y="5041"/>
                  </a:lnTo>
                  <a:lnTo>
                    <a:pt x="12966" y="8280"/>
                  </a:lnTo>
                  <a:lnTo>
                    <a:pt x="8648" y="12953"/>
                  </a:lnTo>
                  <a:lnTo>
                    <a:pt x="5410" y="18364"/>
                  </a:lnTo>
                  <a:lnTo>
                    <a:pt x="2159" y="24117"/>
                  </a:lnTo>
                  <a:lnTo>
                    <a:pt x="368" y="30238"/>
                  </a:lnTo>
                  <a:lnTo>
                    <a:pt x="368" y="36715"/>
                  </a:lnTo>
                  <a:lnTo>
                    <a:pt x="0" y="146519"/>
                  </a:lnTo>
                  <a:lnTo>
                    <a:pt x="0" y="152996"/>
                  </a:lnTo>
                  <a:lnTo>
                    <a:pt x="1704" y="159118"/>
                  </a:lnTo>
                  <a:lnTo>
                    <a:pt x="1803" y="159473"/>
                  </a:lnTo>
                  <a:lnTo>
                    <a:pt x="5041" y="164884"/>
                  </a:lnTo>
                  <a:lnTo>
                    <a:pt x="8280" y="170637"/>
                  </a:lnTo>
                  <a:lnTo>
                    <a:pt x="12966" y="174955"/>
                  </a:lnTo>
                  <a:lnTo>
                    <a:pt x="18364" y="178193"/>
                  </a:lnTo>
                  <a:lnTo>
                    <a:pt x="24129" y="181444"/>
                  </a:lnTo>
                  <a:lnTo>
                    <a:pt x="30238" y="183235"/>
                  </a:lnTo>
                  <a:lnTo>
                    <a:pt x="838809" y="183235"/>
                  </a:lnTo>
                  <a:lnTo>
                    <a:pt x="845286" y="181444"/>
                  </a:lnTo>
                  <a:lnTo>
                    <a:pt x="850684" y="178193"/>
                  </a:lnTo>
                  <a:lnTo>
                    <a:pt x="856449" y="174955"/>
                  </a:lnTo>
                  <a:lnTo>
                    <a:pt x="860767" y="170281"/>
                  </a:lnTo>
                  <a:lnTo>
                    <a:pt x="864006" y="164884"/>
                  </a:lnTo>
                  <a:lnTo>
                    <a:pt x="867244" y="159118"/>
                  </a:lnTo>
                  <a:lnTo>
                    <a:pt x="869048" y="152996"/>
                  </a:lnTo>
                  <a:lnTo>
                    <a:pt x="868949" y="30238"/>
                  </a:lnTo>
                  <a:lnTo>
                    <a:pt x="867244" y="24117"/>
                  </a:lnTo>
                  <a:lnTo>
                    <a:pt x="864006" y="18719"/>
                  </a:lnTo>
                  <a:lnTo>
                    <a:pt x="860767" y="12953"/>
                  </a:lnTo>
                  <a:lnTo>
                    <a:pt x="856081" y="8635"/>
                  </a:lnTo>
                  <a:lnTo>
                    <a:pt x="850684" y="5397"/>
                  </a:lnTo>
                  <a:lnTo>
                    <a:pt x="844918" y="2158"/>
                  </a:lnTo>
                  <a:lnTo>
                    <a:pt x="838809" y="355"/>
                  </a:lnTo>
                  <a:lnTo>
                    <a:pt x="30607" y="0"/>
                  </a:lnTo>
                  <a:close/>
                </a:path>
              </a:pathLst>
            </a:custGeom>
            <a:solidFill>
              <a:srgbClr val="EE4343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272276" y="3162962"/>
              <a:ext cx="869315" cy="183515"/>
            </a:xfrm>
            <a:custGeom>
              <a:avLst/>
              <a:gdLst/>
              <a:ahLst/>
              <a:cxnLst/>
              <a:rect l="l" t="t" r="r" b="b"/>
              <a:pathLst>
                <a:path w="869315" h="183514">
                  <a:moveTo>
                    <a:pt x="368" y="36715"/>
                  </a:moveTo>
                  <a:lnTo>
                    <a:pt x="368" y="30238"/>
                  </a:lnTo>
                  <a:lnTo>
                    <a:pt x="2159" y="24117"/>
                  </a:lnTo>
                  <a:lnTo>
                    <a:pt x="5410" y="18364"/>
                  </a:lnTo>
                  <a:lnTo>
                    <a:pt x="8648" y="12953"/>
                  </a:lnTo>
                  <a:lnTo>
                    <a:pt x="12966" y="8280"/>
                  </a:lnTo>
                  <a:lnTo>
                    <a:pt x="18719" y="5041"/>
                  </a:lnTo>
                  <a:lnTo>
                    <a:pt x="24129" y="1803"/>
                  </a:lnTo>
                  <a:lnTo>
                    <a:pt x="30607" y="0"/>
                  </a:lnTo>
                  <a:lnTo>
                    <a:pt x="37084" y="0"/>
                  </a:lnTo>
                  <a:lnTo>
                    <a:pt x="832319" y="355"/>
                  </a:lnTo>
                  <a:lnTo>
                    <a:pt x="838809" y="355"/>
                  </a:lnTo>
                  <a:lnTo>
                    <a:pt x="844918" y="2158"/>
                  </a:lnTo>
                  <a:lnTo>
                    <a:pt x="850684" y="5397"/>
                  </a:lnTo>
                  <a:lnTo>
                    <a:pt x="856081" y="8635"/>
                  </a:lnTo>
                  <a:lnTo>
                    <a:pt x="860767" y="12953"/>
                  </a:lnTo>
                  <a:lnTo>
                    <a:pt x="864006" y="18719"/>
                  </a:lnTo>
                  <a:lnTo>
                    <a:pt x="867244" y="24117"/>
                  </a:lnTo>
                  <a:lnTo>
                    <a:pt x="869048" y="30594"/>
                  </a:lnTo>
                  <a:lnTo>
                    <a:pt x="869048" y="37083"/>
                  </a:lnTo>
                  <a:lnTo>
                    <a:pt x="869048" y="146519"/>
                  </a:lnTo>
                  <a:lnTo>
                    <a:pt x="869048" y="152996"/>
                  </a:lnTo>
                  <a:lnTo>
                    <a:pt x="867244" y="159118"/>
                  </a:lnTo>
                  <a:lnTo>
                    <a:pt x="864006" y="164884"/>
                  </a:lnTo>
                  <a:lnTo>
                    <a:pt x="860767" y="170281"/>
                  </a:lnTo>
                  <a:lnTo>
                    <a:pt x="856449" y="174955"/>
                  </a:lnTo>
                  <a:lnTo>
                    <a:pt x="850684" y="178193"/>
                  </a:lnTo>
                  <a:lnTo>
                    <a:pt x="845286" y="181444"/>
                  </a:lnTo>
                  <a:lnTo>
                    <a:pt x="838809" y="183235"/>
                  </a:lnTo>
                  <a:lnTo>
                    <a:pt x="832319" y="183235"/>
                  </a:lnTo>
                  <a:lnTo>
                    <a:pt x="36728" y="183235"/>
                  </a:lnTo>
                  <a:lnTo>
                    <a:pt x="30238" y="183235"/>
                  </a:lnTo>
                  <a:lnTo>
                    <a:pt x="24129" y="181444"/>
                  </a:lnTo>
                  <a:lnTo>
                    <a:pt x="18364" y="178193"/>
                  </a:lnTo>
                  <a:lnTo>
                    <a:pt x="12966" y="174955"/>
                  </a:lnTo>
                  <a:lnTo>
                    <a:pt x="8280" y="170637"/>
                  </a:lnTo>
                  <a:lnTo>
                    <a:pt x="5041" y="164884"/>
                  </a:lnTo>
                  <a:lnTo>
                    <a:pt x="1803" y="159473"/>
                  </a:lnTo>
                  <a:lnTo>
                    <a:pt x="0" y="152996"/>
                  </a:lnTo>
                  <a:lnTo>
                    <a:pt x="0" y="146519"/>
                  </a:lnTo>
                  <a:lnTo>
                    <a:pt x="368" y="36715"/>
                  </a:lnTo>
                  <a:close/>
                </a:path>
              </a:pathLst>
            </a:custGeom>
            <a:ln w="12599">
              <a:solidFill>
                <a:srgbClr val="EE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8" name="object 48"/>
          <p:cNvGraphicFramePr>
            <a:graphicFrameLocks noGrp="1"/>
          </p:cNvGraphicFramePr>
          <p:nvPr/>
        </p:nvGraphicFramePr>
        <p:xfrm>
          <a:off x="6191640" y="2781362"/>
          <a:ext cx="2834005" cy="1809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34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829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705"/>
                        </a:spcBef>
                        <a:tabLst>
                          <a:tab pos="365760" algn="l"/>
                        </a:tabLst>
                      </a:pPr>
                      <a:r>
                        <a:rPr sz="11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06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350" b="1" spc="-30" baseline="617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Self-</a:t>
                      </a:r>
                      <a:r>
                        <a:rPr sz="1350" b="1" spc="-15" baseline="617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Distillation</a:t>
                      </a:r>
                      <a:r>
                        <a:rPr sz="1350" b="1" spc="7" baseline="617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b="1" baseline="617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350" b="1" spc="15" baseline="617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b="1" spc="-15" baseline="617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Iterative</a:t>
                      </a:r>
                      <a:r>
                        <a:rPr sz="1350" b="1" spc="15" baseline="617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b="1" spc="-15" baseline="6172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Refinement</a:t>
                      </a:r>
                      <a:endParaRPr sz="1350" baseline="6172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9050">
                      <a:solidFill>
                        <a:srgbClr val="EE4343"/>
                      </a:solidFill>
                      <a:prstDash val="solid"/>
                    </a:lnL>
                    <a:lnR w="19050">
                      <a:solidFill>
                        <a:srgbClr val="EE4343"/>
                      </a:solidFill>
                      <a:prstDash val="solid"/>
                    </a:lnR>
                    <a:lnT w="19050">
                      <a:solidFill>
                        <a:srgbClr val="EE4343"/>
                      </a:solidFill>
                      <a:prstDash val="solid"/>
                    </a:lnT>
                    <a:lnB w="12700">
                      <a:solidFill>
                        <a:srgbClr val="EE434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1455">
                <a:tc>
                  <a:txBody>
                    <a:bodyPr/>
                    <a:lstStyle/>
                    <a:p>
                      <a:pPr marL="33909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700" spc="-10" dirty="0">
                          <a:solidFill>
                            <a:srgbClr val="1A396A"/>
                          </a:solidFill>
                          <a:latin typeface="Calibri"/>
                          <a:cs typeface="Calibri"/>
                        </a:rPr>
                        <a:t>Emerging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91440" marR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Student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acts</a:t>
                      </a:r>
                      <a:r>
                        <a:rPr sz="80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as</a:t>
                      </a:r>
                      <a:r>
                        <a:rPr sz="80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teacher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subsequent</a:t>
                      </a:r>
                      <a:r>
                        <a:rPr sz="80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rounds.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Progressive</a:t>
                      </a:r>
                      <a:r>
                        <a:rPr sz="800" spc="-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self-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improvement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without</a:t>
                      </a:r>
                      <a:r>
                        <a:rPr sz="80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external</a:t>
                      </a:r>
                      <a:r>
                        <a:rPr sz="80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teacher.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Combines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RLKD</a:t>
                      </a:r>
                      <a:r>
                        <a:rPr sz="800" spc="-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2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800" spc="5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continuously</a:t>
                      </a:r>
                      <a:r>
                        <a:rPr sz="800" spc="1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improving</a:t>
                      </a:r>
                      <a:r>
                        <a:rPr sz="8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models.</a:t>
                      </a:r>
                      <a:r>
                        <a:rPr sz="800" spc="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Requires</a:t>
                      </a:r>
                      <a:r>
                        <a:rPr sz="80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careful</a:t>
                      </a:r>
                      <a:r>
                        <a:rPr sz="800" spc="5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reward</a:t>
                      </a:r>
                      <a:r>
                        <a:rPr sz="800" spc="50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spc="-10" dirty="0">
                          <a:solidFill>
                            <a:srgbClr val="191F2B"/>
                          </a:solidFill>
                          <a:latin typeface="Calibri"/>
                          <a:cs typeface="Calibri"/>
                        </a:rPr>
                        <a:t>shaping.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83820" marB="0">
                    <a:lnL w="19050">
                      <a:solidFill>
                        <a:srgbClr val="EE4343"/>
                      </a:solidFill>
                      <a:prstDash val="solid"/>
                    </a:lnL>
                    <a:lnR w="19050">
                      <a:solidFill>
                        <a:srgbClr val="EE4343"/>
                      </a:solidFill>
                      <a:prstDash val="solid"/>
                    </a:lnR>
                    <a:lnT w="12700">
                      <a:solidFill>
                        <a:srgbClr val="EE4343"/>
                      </a:solidFill>
                      <a:prstDash val="solid"/>
                    </a:lnT>
                    <a:lnB w="19050">
                      <a:solidFill>
                        <a:srgbClr val="EE434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9" name="object 4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10" dirty="0"/>
              <a:t>Knowledge</a:t>
            </a:r>
            <a:r>
              <a:rPr dirty="0"/>
              <a:t> </a:t>
            </a:r>
            <a:r>
              <a:rPr spc="-10" dirty="0"/>
              <a:t>Distillation</a:t>
            </a:r>
            <a:r>
              <a:rPr spc="-5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LLMs</a:t>
            </a:r>
            <a:r>
              <a:rPr spc="170" dirty="0"/>
              <a:t> </a:t>
            </a:r>
            <a:r>
              <a:rPr dirty="0"/>
              <a:t>|</a:t>
            </a:r>
            <a:r>
              <a:rPr spc="180" dirty="0"/>
              <a:t> </a:t>
            </a:r>
            <a:r>
              <a:rPr spc="-10" dirty="0"/>
              <a:t>Manisa</a:t>
            </a:r>
            <a:r>
              <a:rPr spc="-5" dirty="0"/>
              <a:t> </a:t>
            </a:r>
            <a:r>
              <a:rPr dirty="0"/>
              <a:t>Celal </a:t>
            </a:r>
            <a:r>
              <a:rPr spc="-10" dirty="0"/>
              <a:t>Bayar</a:t>
            </a:r>
            <a:r>
              <a:rPr spc="-5" dirty="0"/>
              <a:t> </a:t>
            </a:r>
            <a:r>
              <a:rPr spc="-10" dirty="0"/>
              <a:t>University</a:t>
            </a: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14</a:t>
            </a:fld>
            <a:r>
              <a:rPr spc="5" dirty="0"/>
              <a:t> </a:t>
            </a:r>
            <a:r>
              <a:rPr dirty="0"/>
              <a:t>/ </a:t>
            </a:r>
            <a:r>
              <a:rPr spc="-25" dirty="0"/>
              <a:t>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/>
              <a:t>Comprehensive</a:t>
            </a:r>
            <a:r>
              <a:rPr sz="2000" spc="-40" dirty="0"/>
              <a:t> </a:t>
            </a:r>
            <a:r>
              <a:rPr sz="2000" spc="-25" dirty="0"/>
              <a:t>Technique</a:t>
            </a:r>
            <a:r>
              <a:rPr sz="2000" spc="-40" dirty="0"/>
              <a:t> </a:t>
            </a:r>
            <a:r>
              <a:rPr sz="2000" spc="-10" dirty="0"/>
              <a:t>Comparison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7229055" y="232107"/>
            <a:ext cx="16065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spc="-55" dirty="0">
                <a:solidFill>
                  <a:srgbClr val="00C1CA"/>
                </a:solidFill>
                <a:latin typeface="Arial"/>
                <a:cs typeface="Arial"/>
              </a:rPr>
              <a:t>04-06</a:t>
            </a:r>
            <a:r>
              <a:rPr sz="1100" i="1" spc="-3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30" dirty="0">
                <a:solidFill>
                  <a:srgbClr val="00C1CA"/>
                </a:solidFill>
                <a:latin typeface="Arial"/>
                <a:cs typeface="Arial"/>
              </a:rPr>
              <a:t>-</a:t>
            </a:r>
            <a:r>
              <a:rPr sz="1100" i="1" spc="-40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75" dirty="0">
                <a:solidFill>
                  <a:srgbClr val="00C1CA"/>
                </a:solidFill>
                <a:latin typeface="Arial"/>
                <a:cs typeface="Arial"/>
              </a:rPr>
              <a:t>Decision</a:t>
            </a:r>
            <a:r>
              <a:rPr sz="1100" i="1" spc="-35" dirty="0">
                <a:solidFill>
                  <a:srgbClr val="00C1CA"/>
                </a:solidFill>
                <a:latin typeface="Arial"/>
                <a:cs typeface="Arial"/>
              </a:rPr>
              <a:t> </a:t>
            </a:r>
            <a:r>
              <a:rPr sz="1100" i="1" spc="-40" dirty="0">
                <a:solidFill>
                  <a:srgbClr val="00C1CA"/>
                </a:solidFill>
                <a:latin typeface="Arial"/>
                <a:cs typeface="Arial"/>
              </a:rPr>
              <a:t>Framework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6705" y="4885692"/>
            <a:ext cx="9156700" cy="264160"/>
            <a:chOff x="-6705" y="4885692"/>
            <a:chExt cx="9156700" cy="264160"/>
          </a:xfrm>
        </p:grpSpPr>
        <p:sp>
          <p:nvSpPr>
            <p:cNvPr id="5" name="object 5"/>
            <p:cNvSpPr/>
            <p:nvPr/>
          </p:nvSpPr>
          <p:spPr>
            <a:xfrm>
              <a:off x="-355" y="4892042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631" y="0"/>
                  </a:moveTo>
                  <a:lnTo>
                    <a:pt x="0" y="0"/>
                  </a:lnTo>
                  <a:lnTo>
                    <a:pt x="0" y="251282"/>
                  </a:lnTo>
                  <a:lnTo>
                    <a:pt x="4572000" y="251282"/>
                  </a:lnTo>
                  <a:lnTo>
                    <a:pt x="9143631" y="251282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355" y="4892042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4572000" y="251282"/>
                  </a:moveTo>
                  <a:lnTo>
                    <a:pt x="0" y="251282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251282"/>
                  </a:lnTo>
                  <a:lnTo>
                    <a:pt x="4572000" y="251282"/>
                  </a:lnTo>
                  <a:close/>
                </a:path>
              </a:pathLst>
            </a:custGeom>
            <a:ln w="12599">
              <a:solidFill>
                <a:srgbClr val="0C1A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576640" y="4914254"/>
            <a:ext cx="3048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00C1CA"/>
                </a:solidFill>
                <a:latin typeface="Calibri"/>
                <a:cs typeface="Calibri"/>
              </a:rPr>
              <a:t>17 /</a:t>
            </a:r>
            <a:r>
              <a:rPr sz="800" spc="-5" dirty="0">
                <a:solidFill>
                  <a:srgbClr val="00C1CA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00C1CA"/>
                </a:solidFill>
                <a:latin typeface="Calibri"/>
                <a:cs typeface="Calibri"/>
              </a:rPr>
              <a:t>18</a:t>
            </a:r>
            <a:endParaRPr sz="80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24155" y="791162"/>
          <a:ext cx="8686160" cy="3968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0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Technique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1A3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Teacher</a:t>
                      </a:r>
                      <a:r>
                        <a:rPr sz="800" b="1" spc="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Access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1A3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Knowledge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Type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1A3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Best</a:t>
                      </a:r>
                      <a:r>
                        <a:rPr sz="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1A3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Complexity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1A3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Key</a:t>
                      </a:r>
                      <a:r>
                        <a:rPr sz="8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Example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1A3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Perf.</a:t>
                      </a:r>
                      <a:r>
                        <a:rPr sz="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Retention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1A39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Response-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75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KD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White</a:t>
                      </a:r>
                      <a:r>
                        <a:rPr sz="7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7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Black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Output</a:t>
                      </a:r>
                      <a:r>
                        <a:rPr sz="7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logits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Classification,</a:t>
                      </a:r>
                      <a:r>
                        <a:rPr sz="75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fast</a:t>
                      </a:r>
                      <a:r>
                        <a:rPr sz="75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compression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25" dirty="0">
                          <a:latin typeface="Calibri"/>
                          <a:cs typeface="Calibri"/>
                        </a:rPr>
                        <a:t>Low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Hinton</a:t>
                      </a:r>
                      <a:r>
                        <a:rPr sz="7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(2015)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85-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97%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Feature-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Based 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KD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White-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box</a:t>
                      </a:r>
                      <a:r>
                        <a:rPr sz="7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only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Intermediate</a:t>
                      </a:r>
                      <a:r>
                        <a:rPr sz="75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repr.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25" dirty="0">
                          <a:latin typeface="Calibri"/>
                          <a:cs typeface="Calibri"/>
                        </a:rPr>
                        <a:t>BERT-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style</a:t>
                      </a:r>
                      <a:r>
                        <a:rPr sz="75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encoders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Medium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TinyBERT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96-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98%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Relation-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KD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White-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box</a:t>
                      </a:r>
                      <a:r>
                        <a:rPr sz="7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only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Pairwise</a:t>
                      </a:r>
                      <a:r>
                        <a:rPr sz="75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structure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Metric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learning,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diff.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arch.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Medium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RKD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(2019)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90-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95%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CoT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 Distillation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White</a:t>
                      </a:r>
                      <a:r>
                        <a:rPr sz="7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7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Black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Reasoning</a:t>
                      </a:r>
                      <a:r>
                        <a:rPr sz="75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traces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Complex</a:t>
                      </a:r>
                      <a:r>
                        <a:rPr sz="7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reasoning</a:t>
                      </a:r>
                      <a:r>
                        <a:rPr sz="7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tasks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Medium-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High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Ho</a:t>
                      </a:r>
                      <a:r>
                        <a:rPr sz="7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et al.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 (2023)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80-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95%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RLKD</a:t>
                      </a:r>
                      <a:r>
                        <a:rPr sz="7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/ 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GRPO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White-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box</a:t>
                      </a:r>
                      <a:r>
                        <a:rPr sz="7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preferred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Policy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 reasoning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06425" marR="197485" indent="-402590">
                        <a:lnSpc>
                          <a:spcPct val="102699"/>
                        </a:lnSpc>
                        <a:spcBef>
                          <a:spcPts val="305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Emergent</a:t>
                      </a:r>
                      <a:r>
                        <a:rPr sz="7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reasoning,</a:t>
                      </a:r>
                      <a:r>
                        <a:rPr sz="7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exceed</a:t>
                      </a:r>
                      <a:r>
                        <a:rPr sz="75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teacher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20" dirty="0">
                          <a:latin typeface="Calibri"/>
                          <a:cs typeface="Calibri"/>
                        </a:rPr>
                        <a:t>High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DeepSeek-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R1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90-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100%+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Black-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Box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/ API</a:t>
                      </a:r>
                      <a:r>
                        <a:rPr sz="7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KD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Black-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box</a:t>
                      </a:r>
                      <a:r>
                        <a:rPr sz="7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only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Output</a:t>
                      </a:r>
                      <a:r>
                        <a:rPr sz="7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text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75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parameter</a:t>
                      </a:r>
                      <a:r>
                        <a:rPr sz="7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access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Low-Medium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Orca,</a:t>
                      </a:r>
                      <a:r>
                        <a:rPr sz="7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Alpaca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70-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85%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Speculative</a:t>
                      </a:r>
                      <a:r>
                        <a:rPr sz="75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Decoding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White-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box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20" dirty="0">
                          <a:latin typeface="Calibri"/>
                          <a:cs typeface="Calibri"/>
                        </a:rPr>
                        <a:t>Token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 distribution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Inference</a:t>
                      </a:r>
                      <a:r>
                        <a:rPr sz="7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speedup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only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Medium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SpecInfer</a:t>
                      </a:r>
                      <a:r>
                        <a:rPr sz="75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(2024)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100%</a:t>
                      </a:r>
                      <a:r>
                        <a:rPr sz="7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(exact)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Attention</a:t>
                      </a:r>
                      <a:r>
                        <a:rPr sz="7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Alignment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White-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box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Attention</a:t>
                      </a:r>
                      <a:r>
                        <a:rPr sz="7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matrices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Transformer</a:t>
                      </a:r>
                      <a:r>
                        <a:rPr sz="7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compression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Medium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MiniLM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94-</a:t>
                      </a:r>
                      <a:r>
                        <a:rPr sz="750" spc="-25" dirty="0">
                          <a:latin typeface="Calibri"/>
                          <a:cs typeface="Calibri"/>
                        </a:rPr>
                        <a:t>98%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Self-Distillation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N/A</a:t>
                      </a:r>
                      <a:r>
                        <a:rPr sz="75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(self)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Own</a:t>
                      </a:r>
                      <a:r>
                        <a:rPr sz="7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distributions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Iterative</a:t>
                      </a:r>
                      <a:r>
                        <a:rPr sz="75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latin typeface="Calibri"/>
                          <a:cs typeface="Calibri"/>
                        </a:rPr>
                        <a:t>improvement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Medium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spc="-10" dirty="0">
                          <a:latin typeface="Calibri"/>
                          <a:cs typeface="Calibri"/>
                        </a:rPr>
                        <a:t>Born-</a:t>
                      </a:r>
                      <a:r>
                        <a:rPr sz="750" dirty="0">
                          <a:latin typeface="Calibri"/>
                          <a:cs typeface="Calibri"/>
                        </a:rPr>
                        <a:t>Again</a:t>
                      </a:r>
                      <a:r>
                        <a:rPr sz="7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Nets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750" dirty="0">
                          <a:latin typeface="Calibri"/>
                          <a:cs typeface="Calibri"/>
                        </a:rPr>
                        <a:t>98-</a:t>
                      </a:r>
                      <a:r>
                        <a:rPr sz="750" spc="-20" dirty="0">
                          <a:latin typeface="Calibri"/>
                          <a:cs typeface="Calibri"/>
                        </a:rPr>
                        <a:t>102%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CAD4E0"/>
                      </a:solidFill>
                      <a:prstDash val="solid"/>
                    </a:lnL>
                    <a:lnR w="9525">
                      <a:solidFill>
                        <a:srgbClr val="CAD4E0"/>
                      </a:solidFill>
                      <a:prstDash val="solid"/>
                    </a:lnR>
                    <a:lnT w="9525">
                      <a:solidFill>
                        <a:srgbClr val="CAD4E0"/>
                      </a:solidFill>
                      <a:prstDash val="solid"/>
                    </a:lnT>
                    <a:lnB w="9525">
                      <a:solidFill>
                        <a:srgbClr val="CAD4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221944" y="4821302"/>
            <a:ext cx="8699500" cy="287020"/>
            <a:chOff x="221944" y="4821302"/>
            <a:chExt cx="8699500" cy="287020"/>
          </a:xfrm>
        </p:grpSpPr>
        <p:sp>
          <p:nvSpPr>
            <p:cNvPr id="10" name="object 10"/>
            <p:cNvSpPr/>
            <p:nvPr/>
          </p:nvSpPr>
          <p:spPr>
            <a:xfrm>
              <a:off x="228244" y="4827602"/>
              <a:ext cx="8686800" cy="274320"/>
            </a:xfrm>
            <a:custGeom>
              <a:avLst/>
              <a:gdLst/>
              <a:ahLst/>
              <a:cxnLst/>
              <a:rect l="l" t="t" r="r" b="b"/>
              <a:pathLst>
                <a:path w="8686800" h="274320">
                  <a:moveTo>
                    <a:pt x="8686431" y="0"/>
                  </a:moveTo>
                  <a:lnTo>
                    <a:pt x="0" y="0"/>
                  </a:lnTo>
                  <a:lnTo>
                    <a:pt x="0" y="273964"/>
                  </a:lnTo>
                  <a:lnTo>
                    <a:pt x="4343400" y="273964"/>
                  </a:lnTo>
                  <a:lnTo>
                    <a:pt x="8686431" y="273964"/>
                  </a:lnTo>
                  <a:lnTo>
                    <a:pt x="8686431" y="0"/>
                  </a:lnTo>
                  <a:close/>
                </a:path>
              </a:pathLst>
            </a:custGeom>
            <a:solidFill>
              <a:srgbClr val="0C1A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8244" y="4827602"/>
              <a:ext cx="8686800" cy="274320"/>
            </a:xfrm>
            <a:custGeom>
              <a:avLst/>
              <a:gdLst/>
              <a:ahLst/>
              <a:cxnLst/>
              <a:rect l="l" t="t" r="r" b="b"/>
              <a:pathLst>
                <a:path w="8686800" h="274320">
                  <a:moveTo>
                    <a:pt x="4343400" y="273964"/>
                  </a:moveTo>
                  <a:lnTo>
                    <a:pt x="0" y="273964"/>
                  </a:lnTo>
                  <a:lnTo>
                    <a:pt x="0" y="0"/>
                  </a:lnTo>
                  <a:lnTo>
                    <a:pt x="8686431" y="0"/>
                  </a:lnTo>
                  <a:lnTo>
                    <a:pt x="8686431" y="273964"/>
                  </a:lnTo>
                  <a:lnTo>
                    <a:pt x="4343400" y="273964"/>
                  </a:lnTo>
                  <a:close/>
                </a:path>
              </a:pathLst>
            </a:custGeom>
            <a:ln w="12599">
              <a:solidFill>
                <a:srgbClr val="0C1A2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09676" y="4818508"/>
            <a:ext cx="820356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00C1CA"/>
                </a:solidFill>
                <a:latin typeface="Calibri"/>
                <a:cs typeface="Calibri"/>
              </a:rPr>
              <a:t>Selection</a:t>
            </a:r>
            <a:r>
              <a:rPr sz="900" b="1" spc="-10" dirty="0">
                <a:solidFill>
                  <a:srgbClr val="00C1CA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00C1CA"/>
                </a:solidFill>
                <a:latin typeface="Calibri"/>
                <a:cs typeface="Calibri"/>
              </a:rPr>
              <a:t>Heuristic:</a:t>
            </a:r>
            <a:r>
              <a:rPr sz="900" b="1" spc="180" dirty="0">
                <a:solidFill>
                  <a:srgbClr val="00C1CA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CAD4E0"/>
                </a:solidFill>
                <a:latin typeface="Calibri"/>
                <a:cs typeface="Calibri"/>
              </a:rPr>
              <a:t>White-</a:t>
            </a:r>
            <a:r>
              <a:rPr sz="850" dirty="0">
                <a:solidFill>
                  <a:srgbClr val="CAD4E0"/>
                </a:solidFill>
                <a:latin typeface="Calibri"/>
                <a:cs typeface="Calibri"/>
              </a:rPr>
              <a:t>box</a:t>
            </a:r>
            <a:r>
              <a:rPr sz="850" spc="-1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CAD4E0"/>
                </a:solidFill>
                <a:latin typeface="Calibri"/>
                <a:cs typeface="Calibri"/>
              </a:rPr>
              <a:t>+</a:t>
            </a:r>
            <a:r>
              <a:rPr sz="85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CAD4E0"/>
                </a:solidFill>
                <a:latin typeface="Calibri"/>
                <a:cs typeface="Calibri"/>
              </a:rPr>
              <a:t>reasoning</a:t>
            </a:r>
            <a:r>
              <a:rPr sz="85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CAD4E0"/>
                </a:solidFill>
                <a:latin typeface="Calibri"/>
                <a:cs typeface="Calibri"/>
              </a:rPr>
              <a:t>-</a:t>
            </a:r>
            <a:r>
              <a:rPr sz="850" spc="-10" dirty="0">
                <a:solidFill>
                  <a:srgbClr val="CAD4E0"/>
                </a:solidFill>
                <a:latin typeface="Calibri"/>
                <a:cs typeface="Calibri"/>
              </a:rPr>
              <a:t>-</a:t>
            </a:r>
            <a:r>
              <a:rPr sz="850" dirty="0">
                <a:solidFill>
                  <a:srgbClr val="CAD4E0"/>
                </a:solidFill>
                <a:latin typeface="Calibri"/>
                <a:cs typeface="Calibri"/>
              </a:rPr>
              <a:t>&gt;</a:t>
            </a:r>
            <a:r>
              <a:rPr sz="85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CAD4E0"/>
                </a:solidFill>
                <a:latin typeface="Calibri"/>
                <a:cs typeface="Calibri"/>
              </a:rPr>
              <a:t>CoT+RLKD (DeepSeek-</a:t>
            </a:r>
            <a:r>
              <a:rPr sz="850" dirty="0">
                <a:solidFill>
                  <a:srgbClr val="CAD4E0"/>
                </a:solidFill>
                <a:latin typeface="Calibri"/>
                <a:cs typeface="Calibri"/>
              </a:rPr>
              <a:t>R1</a:t>
            </a:r>
            <a:r>
              <a:rPr sz="85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CAD4E0"/>
                </a:solidFill>
                <a:latin typeface="Calibri"/>
                <a:cs typeface="Calibri"/>
              </a:rPr>
              <a:t>style)</a:t>
            </a:r>
            <a:r>
              <a:rPr sz="850" spc="15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CAD4E0"/>
                </a:solidFill>
                <a:latin typeface="Calibri"/>
                <a:cs typeface="Calibri"/>
              </a:rPr>
              <a:t>|</a:t>
            </a:r>
            <a:r>
              <a:rPr sz="850" spc="17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CAD4E0"/>
                </a:solidFill>
                <a:latin typeface="Calibri"/>
                <a:cs typeface="Calibri"/>
              </a:rPr>
              <a:t>White-</a:t>
            </a:r>
            <a:r>
              <a:rPr sz="850" dirty="0">
                <a:solidFill>
                  <a:srgbClr val="CAD4E0"/>
                </a:solidFill>
                <a:latin typeface="Calibri"/>
                <a:cs typeface="Calibri"/>
              </a:rPr>
              <a:t>box</a:t>
            </a:r>
            <a:r>
              <a:rPr sz="850" spc="-1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CAD4E0"/>
                </a:solidFill>
                <a:latin typeface="Calibri"/>
                <a:cs typeface="Calibri"/>
              </a:rPr>
              <a:t>+</a:t>
            </a:r>
            <a:r>
              <a:rPr sz="85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CAD4E0"/>
                </a:solidFill>
                <a:latin typeface="Calibri"/>
                <a:cs typeface="Calibri"/>
              </a:rPr>
              <a:t>encoder</a:t>
            </a:r>
            <a:r>
              <a:rPr sz="850" spc="-2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CAD4E0"/>
                </a:solidFill>
                <a:latin typeface="Calibri"/>
                <a:cs typeface="Calibri"/>
              </a:rPr>
              <a:t>--</a:t>
            </a:r>
            <a:r>
              <a:rPr sz="850" dirty="0">
                <a:solidFill>
                  <a:srgbClr val="CAD4E0"/>
                </a:solidFill>
                <a:latin typeface="Calibri"/>
                <a:cs typeface="Calibri"/>
              </a:rPr>
              <a:t>&gt;</a:t>
            </a:r>
            <a:r>
              <a:rPr sz="85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CAD4E0"/>
                </a:solidFill>
                <a:latin typeface="Calibri"/>
                <a:cs typeface="Calibri"/>
              </a:rPr>
              <a:t>Feature</a:t>
            </a:r>
            <a:r>
              <a:rPr sz="85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CAD4E0"/>
                </a:solidFill>
                <a:latin typeface="Calibri"/>
                <a:cs typeface="Calibri"/>
              </a:rPr>
              <a:t>KD</a:t>
            </a:r>
            <a:r>
              <a:rPr sz="850" spc="-1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CAD4E0"/>
                </a:solidFill>
                <a:latin typeface="Calibri"/>
                <a:cs typeface="Calibri"/>
              </a:rPr>
              <a:t>(TinyBERT)</a:t>
            </a:r>
            <a:r>
              <a:rPr sz="850" spc="15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CAD4E0"/>
                </a:solidFill>
                <a:latin typeface="Calibri"/>
                <a:cs typeface="Calibri"/>
              </a:rPr>
              <a:t>|</a:t>
            </a:r>
            <a:r>
              <a:rPr sz="850" spc="17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CAD4E0"/>
                </a:solidFill>
                <a:latin typeface="Calibri"/>
                <a:cs typeface="Calibri"/>
              </a:rPr>
              <a:t>API</a:t>
            </a:r>
            <a:r>
              <a:rPr sz="850" spc="-1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CAD4E0"/>
                </a:solidFill>
                <a:latin typeface="Calibri"/>
                <a:cs typeface="Calibri"/>
              </a:rPr>
              <a:t>only</a:t>
            </a:r>
            <a:r>
              <a:rPr sz="850" spc="-10" dirty="0">
                <a:solidFill>
                  <a:srgbClr val="CAD4E0"/>
                </a:solidFill>
                <a:latin typeface="Calibri"/>
                <a:cs typeface="Calibri"/>
              </a:rPr>
              <a:t> --</a:t>
            </a:r>
            <a:r>
              <a:rPr sz="850" dirty="0">
                <a:solidFill>
                  <a:srgbClr val="CAD4E0"/>
                </a:solidFill>
                <a:latin typeface="Calibri"/>
                <a:cs typeface="Calibri"/>
              </a:rPr>
              <a:t>&gt;</a:t>
            </a:r>
            <a:r>
              <a:rPr sz="85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CAD4E0"/>
                </a:solidFill>
                <a:latin typeface="Calibri"/>
                <a:cs typeface="Calibri"/>
              </a:rPr>
              <a:t>Black-</a:t>
            </a:r>
            <a:r>
              <a:rPr sz="850" dirty="0">
                <a:solidFill>
                  <a:srgbClr val="CAD4E0"/>
                </a:solidFill>
                <a:latin typeface="Calibri"/>
                <a:cs typeface="Calibri"/>
              </a:rPr>
              <a:t>box</a:t>
            </a:r>
            <a:r>
              <a:rPr sz="850" spc="-1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CAD4E0"/>
                </a:solidFill>
                <a:latin typeface="Calibri"/>
                <a:cs typeface="Calibri"/>
              </a:rPr>
              <a:t>CoT</a:t>
            </a:r>
            <a:r>
              <a:rPr sz="850" spc="-2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CAD4E0"/>
                </a:solidFill>
                <a:latin typeface="Calibri"/>
                <a:cs typeface="Calibri"/>
              </a:rPr>
              <a:t>(Orca)</a:t>
            </a:r>
            <a:r>
              <a:rPr sz="850" spc="17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CAD4E0"/>
                </a:solidFill>
                <a:latin typeface="Calibri"/>
                <a:cs typeface="Calibri"/>
              </a:rPr>
              <a:t>|</a:t>
            </a:r>
            <a:r>
              <a:rPr sz="850" spc="16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CAD4E0"/>
                </a:solidFill>
                <a:latin typeface="Calibri"/>
                <a:cs typeface="Calibri"/>
              </a:rPr>
              <a:t>Need</a:t>
            </a:r>
            <a:r>
              <a:rPr sz="85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CAD4E0"/>
                </a:solidFill>
                <a:latin typeface="Calibri"/>
                <a:cs typeface="Calibri"/>
              </a:rPr>
              <a:t>speedup</a:t>
            </a:r>
            <a:r>
              <a:rPr sz="850" spc="-10" dirty="0">
                <a:solidFill>
                  <a:srgbClr val="CAD4E0"/>
                </a:solidFill>
                <a:latin typeface="Calibri"/>
                <a:cs typeface="Calibri"/>
              </a:rPr>
              <a:t> --</a:t>
            </a:r>
            <a:r>
              <a:rPr sz="850" spc="-50" dirty="0">
                <a:solidFill>
                  <a:srgbClr val="CAD4E0"/>
                </a:solidFill>
                <a:latin typeface="Calibri"/>
                <a:cs typeface="Calibri"/>
              </a:rPr>
              <a:t>&gt;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8564" y="4907777"/>
            <a:ext cx="271716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800" spc="-180" dirty="0">
                <a:solidFill>
                  <a:srgbClr val="CAD4E0"/>
                </a:solidFill>
                <a:latin typeface="Calibri"/>
                <a:cs typeface="Calibri"/>
              </a:rPr>
              <a:t>Kno</a:t>
            </a:r>
            <a:r>
              <a:rPr sz="1275" spc="-270" baseline="-26143" dirty="0">
                <a:solidFill>
                  <a:srgbClr val="CAD4E0"/>
                </a:solidFill>
                <a:latin typeface="Calibri"/>
                <a:cs typeface="Calibri"/>
              </a:rPr>
              <a:t>S</a:t>
            </a:r>
            <a:r>
              <a:rPr sz="800" spc="-180" dirty="0">
                <a:solidFill>
                  <a:srgbClr val="CAD4E0"/>
                </a:solidFill>
                <a:latin typeface="Calibri"/>
                <a:cs typeface="Calibri"/>
              </a:rPr>
              <a:t>w</a:t>
            </a:r>
            <a:r>
              <a:rPr sz="1275" spc="-270" baseline="-26143" dirty="0">
                <a:solidFill>
                  <a:srgbClr val="CAD4E0"/>
                </a:solidFill>
                <a:latin typeface="Calibri"/>
                <a:cs typeface="Calibri"/>
              </a:rPr>
              <a:t>p</a:t>
            </a:r>
            <a:r>
              <a:rPr sz="800" spc="-180" dirty="0">
                <a:solidFill>
                  <a:srgbClr val="CAD4E0"/>
                </a:solidFill>
                <a:latin typeface="Calibri"/>
                <a:cs typeface="Calibri"/>
              </a:rPr>
              <a:t>l</a:t>
            </a:r>
            <a:r>
              <a:rPr sz="1275" spc="-270" baseline="-26143" dirty="0">
                <a:solidFill>
                  <a:srgbClr val="CAD4E0"/>
                </a:solidFill>
                <a:latin typeface="Calibri"/>
                <a:cs typeface="Calibri"/>
              </a:rPr>
              <a:t>e</a:t>
            </a:r>
            <a:r>
              <a:rPr sz="800" spc="-180" dirty="0">
                <a:solidFill>
                  <a:srgbClr val="CAD4E0"/>
                </a:solidFill>
                <a:latin typeface="Calibri"/>
                <a:cs typeface="Calibri"/>
              </a:rPr>
              <a:t>e</a:t>
            </a:r>
            <a:r>
              <a:rPr sz="1275" spc="-270" baseline="-26143" dirty="0">
                <a:solidFill>
                  <a:srgbClr val="CAD4E0"/>
                </a:solidFill>
                <a:latin typeface="Calibri"/>
                <a:cs typeface="Calibri"/>
              </a:rPr>
              <a:t>c</a:t>
            </a:r>
            <a:r>
              <a:rPr sz="800" spc="-180" dirty="0">
                <a:solidFill>
                  <a:srgbClr val="CAD4E0"/>
                </a:solidFill>
                <a:latin typeface="Calibri"/>
                <a:cs typeface="Calibri"/>
              </a:rPr>
              <a:t>d</a:t>
            </a:r>
            <a:r>
              <a:rPr sz="1275" spc="-270" baseline="-26143" dirty="0">
                <a:solidFill>
                  <a:srgbClr val="CAD4E0"/>
                </a:solidFill>
                <a:latin typeface="Calibri"/>
                <a:cs typeface="Calibri"/>
              </a:rPr>
              <a:t>u</a:t>
            </a:r>
            <a:r>
              <a:rPr sz="800" spc="-180" dirty="0">
                <a:solidFill>
                  <a:srgbClr val="CAD4E0"/>
                </a:solidFill>
                <a:latin typeface="Calibri"/>
                <a:cs typeface="Calibri"/>
              </a:rPr>
              <a:t>g</a:t>
            </a:r>
            <a:r>
              <a:rPr sz="1275" spc="-270" baseline="-26143" dirty="0">
                <a:solidFill>
                  <a:srgbClr val="CAD4E0"/>
                </a:solidFill>
                <a:latin typeface="Calibri"/>
                <a:cs typeface="Calibri"/>
              </a:rPr>
              <a:t>l</a:t>
            </a:r>
            <a:r>
              <a:rPr sz="800" spc="-180" dirty="0">
                <a:solidFill>
                  <a:srgbClr val="CAD4E0"/>
                </a:solidFill>
                <a:latin typeface="Calibri"/>
                <a:cs typeface="Calibri"/>
              </a:rPr>
              <a:t>e</a:t>
            </a:r>
            <a:r>
              <a:rPr sz="1275" spc="-270" baseline="-26143" dirty="0">
                <a:solidFill>
                  <a:srgbClr val="CAD4E0"/>
                </a:solidFill>
                <a:latin typeface="Calibri"/>
                <a:cs typeface="Calibri"/>
              </a:rPr>
              <a:t>ati</a:t>
            </a:r>
            <a:r>
              <a:rPr sz="800" spc="-180" dirty="0">
                <a:solidFill>
                  <a:srgbClr val="CAD4E0"/>
                </a:solidFill>
                <a:latin typeface="Calibri"/>
                <a:cs typeface="Calibri"/>
              </a:rPr>
              <a:t>D</a:t>
            </a:r>
            <a:r>
              <a:rPr sz="1275" spc="-270" baseline="-26143" dirty="0">
                <a:solidFill>
                  <a:srgbClr val="CAD4E0"/>
                </a:solidFill>
                <a:latin typeface="Calibri"/>
                <a:cs typeface="Calibri"/>
              </a:rPr>
              <a:t>v</a:t>
            </a:r>
            <a:r>
              <a:rPr sz="800" spc="-180" dirty="0">
                <a:solidFill>
                  <a:srgbClr val="CAD4E0"/>
                </a:solidFill>
                <a:latin typeface="Calibri"/>
                <a:cs typeface="Calibri"/>
              </a:rPr>
              <a:t>is</a:t>
            </a:r>
            <a:r>
              <a:rPr sz="1275" spc="-270" baseline="-26143" dirty="0">
                <a:solidFill>
                  <a:srgbClr val="CAD4E0"/>
                </a:solidFill>
                <a:latin typeface="Calibri"/>
                <a:cs typeface="Calibri"/>
              </a:rPr>
              <a:t>e</a:t>
            </a:r>
            <a:r>
              <a:rPr sz="800" spc="-180" dirty="0">
                <a:solidFill>
                  <a:srgbClr val="CAD4E0"/>
                </a:solidFill>
                <a:latin typeface="Calibri"/>
                <a:cs typeface="Calibri"/>
              </a:rPr>
              <a:t>til</a:t>
            </a:r>
            <a:r>
              <a:rPr sz="1275" spc="-270" baseline="-26143" dirty="0">
                <a:solidFill>
                  <a:srgbClr val="CAD4E0"/>
                </a:solidFill>
                <a:latin typeface="Calibri"/>
                <a:cs typeface="Calibri"/>
              </a:rPr>
              <a:t>D</a:t>
            </a:r>
            <a:r>
              <a:rPr sz="800" spc="-180" dirty="0">
                <a:solidFill>
                  <a:srgbClr val="CAD4E0"/>
                </a:solidFill>
                <a:latin typeface="Calibri"/>
                <a:cs typeface="Calibri"/>
              </a:rPr>
              <a:t>la</a:t>
            </a:r>
            <a:r>
              <a:rPr sz="1275" spc="-270" baseline="-26143" dirty="0">
                <a:solidFill>
                  <a:srgbClr val="CAD4E0"/>
                </a:solidFill>
                <a:latin typeface="Calibri"/>
                <a:cs typeface="Calibri"/>
              </a:rPr>
              <a:t>e</a:t>
            </a:r>
            <a:r>
              <a:rPr sz="800" spc="-180" dirty="0">
                <a:solidFill>
                  <a:srgbClr val="CAD4E0"/>
                </a:solidFill>
                <a:latin typeface="Calibri"/>
                <a:cs typeface="Calibri"/>
              </a:rPr>
              <a:t>ti</a:t>
            </a:r>
            <a:r>
              <a:rPr sz="1275" spc="-270" baseline="-26143" dirty="0">
                <a:solidFill>
                  <a:srgbClr val="CAD4E0"/>
                </a:solidFill>
                <a:latin typeface="Calibri"/>
                <a:cs typeface="Calibri"/>
              </a:rPr>
              <a:t>c</a:t>
            </a:r>
            <a:r>
              <a:rPr sz="800" spc="-180" dirty="0">
                <a:solidFill>
                  <a:srgbClr val="CAD4E0"/>
                </a:solidFill>
                <a:latin typeface="Calibri"/>
                <a:cs typeface="Calibri"/>
              </a:rPr>
              <a:t>o</a:t>
            </a:r>
            <a:r>
              <a:rPr sz="1275" spc="-270" baseline="-26143" dirty="0">
                <a:solidFill>
                  <a:srgbClr val="CAD4E0"/>
                </a:solidFill>
                <a:latin typeface="Calibri"/>
                <a:cs typeface="Calibri"/>
              </a:rPr>
              <a:t>o</a:t>
            </a:r>
            <a:r>
              <a:rPr sz="800" spc="-180" dirty="0">
                <a:solidFill>
                  <a:srgbClr val="CAD4E0"/>
                </a:solidFill>
                <a:latin typeface="Calibri"/>
                <a:cs typeface="Calibri"/>
              </a:rPr>
              <a:t>n</a:t>
            </a:r>
            <a:r>
              <a:rPr sz="1275" spc="-270" baseline="-26143" dirty="0">
                <a:solidFill>
                  <a:srgbClr val="CAD4E0"/>
                </a:solidFill>
                <a:latin typeface="Calibri"/>
                <a:cs typeface="Calibri"/>
              </a:rPr>
              <a:t>di</a:t>
            </a:r>
            <a:r>
              <a:rPr sz="800" spc="-180" dirty="0">
                <a:solidFill>
                  <a:srgbClr val="CAD4E0"/>
                </a:solidFill>
                <a:latin typeface="Calibri"/>
                <a:cs typeface="Calibri"/>
              </a:rPr>
              <a:t>f</a:t>
            </a:r>
            <a:r>
              <a:rPr sz="1275" spc="-270" baseline="-26143" dirty="0">
                <a:solidFill>
                  <a:srgbClr val="CAD4E0"/>
                </a:solidFill>
                <a:latin typeface="Calibri"/>
                <a:cs typeface="Calibri"/>
              </a:rPr>
              <a:t>n</a:t>
            </a:r>
            <a:r>
              <a:rPr sz="800" spc="-180" dirty="0">
                <a:solidFill>
                  <a:srgbClr val="CAD4E0"/>
                </a:solidFill>
                <a:latin typeface="Calibri"/>
                <a:cs typeface="Calibri"/>
              </a:rPr>
              <a:t>o</a:t>
            </a:r>
            <a:r>
              <a:rPr sz="1275" spc="-270" baseline="-26143" dirty="0">
                <a:solidFill>
                  <a:srgbClr val="CAD4E0"/>
                </a:solidFill>
                <a:latin typeface="Calibri"/>
                <a:cs typeface="Calibri"/>
              </a:rPr>
              <a:t>g</a:t>
            </a:r>
            <a:r>
              <a:rPr sz="800" spc="-180" dirty="0">
                <a:solidFill>
                  <a:srgbClr val="CAD4E0"/>
                </a:solidFill>
                <a:latin typeface="Calibri"/>
                <a:cs typeface="Calibri"/>
              </a:rPr>
              <a:t>r</a:t>
            </a:r>
            <a:r>
              <a:rPr sz="800" spc="3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CAD4E0"/>
                </a:solidFill>
                <a:latin typeface="Calibri"/>
                <a:cs typeface="Calibri"/>
              </a:rPr>
              <a:t>LLMs</a:t>
            </a:r>
            <a:r>
              <a:rPr sz="800" spc="254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CAD4E0"/>
                </a:solidFill>
                <a:latin typeface="Calibri"/>
                <a:cs typeface="Calibri"/>
              </a:rPr>
              <a:t>|</a:t>
            </a:r>
            <a:r>
              <a:rPr sz="800" spc="26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CAD4E0"/>
                </a:solidFill>
                <a:latin typeface="Calibri"/>
                <a:cs typeface="Calibri"/>
              </a:rPr>
              <a:t>Manisa</a:t>
            </a:r>
            <a:r>
              <a:rPr sz="800" spc="3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CAD4E0"/>
                </a:solidFill>
                <a:latin typeface="Calibri"/>
                <a:cs typeface="Calibri"/>
              </a:rPr>
              <a:t>Celal</a:t>
            </a:r>
            <a:r>
              <a:rPr sz="800" spc="5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CAD4E0"/>
                </a:solidFill>
                <a:latin typeface="Calibri"/>
                <a:cs typeface="Calibri"/>
              </a:rPr>
              <a:t>Bayar</a:t>
            </a:r>
            <a:r>
              <a:rPr sz="800" spc="3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CAD4E0"/>
                </a:solidFill>
                <a:latin typeface="Calibri"/>
                <a:cs typeface="Calibri"/>
              </a:rPr>
              <a:t>University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0C1A2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6655" y="-6653"/>
            <a:ext cx="9156700" cy="5156835"/>
            <a:chOff x="-6655" y="-6653"/>
            <a:chExt cx="9156700" cy="5156835"/>
          </a:xfrm>
        </p:grpSpPr>
        <p:sp>
          <p:nvSpPr>
            <p:cNvPr id="4" name="object 4"/>
            <p:cNvSpPr/>
            <p:nvPr/>
          </p:nvSpPr>
          <p:spPr>
            <a:xfrm>
              <a:off x="0" y="-353"/>
              <a:ext cx="164465" cy="5143500"/>
            </a:xfrm>
            <a:custGeom>
              <a:avLst/>
              <a:gdLst/>
              <a:ahLst/>
              <a:cxnLst/>
              <a:rect l="l" t="t" r="r" b="b"/>
              <a:pathLst>
                <a:path w="164465" h="5143500">
                  <a:moveTo>
                    <a:pt x="164160" y="0"/>
                  </a:moveTo>
                  <a:lnTo>
                    <a:pt x="0" y="0"/>
                  </a:lnTo>
                  <a:lnTo>
                    <a:pt x="0" y="5143309"/>
                  </a:lnTo>
                  <a:lnTo>
                    <a:pt x="82080" y="5143309"/>
                  </a:lnTo>
                  <a:lnTo>
                    <a:pt x="164160" y="5143309"/>
                  </a:lnTo>
                  <a:lnTo>
                    <a:pt x="164160" y="0"/>
                  </a:lnTo>
                  <a:close/>
                </a:path>
              </a:pathLst>
            </a:custGeom>
            <a:solidFill>
              <a:srgbClr val="00C1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353"/>
              <a:ext cx="164465" cy="5143500"/>
            </a:xfrm>
            <a:custGeom>
              <a:avLst/>
              <a:gdLst/>
              <a:ahLst/>
              <a:cxnLst/>
              <a:rect l="l" t="t" r="r" b="b"/>
              <a:pathLst>
                <a:path w="164465" h="5143500">
                  <a:moveTo>
                    <a:pt x="82080" y="5143309"/>
                  </a:moveTo>
                  <a:lnTo>
                    <a:pt x="0" y="5143309"/>
                  </a:lnTo>
                  <a:lnTo>
                    <a:pt x="0" y="0"/>
                  </a:lnTo>
                  <a:lnTo>
                    <a:pt x="164160" y="0"/>
                  </a:lnTo>
                  <a:lnTo>
                    <a:pt x="164160" y="5143309"/>
                  </a:lnTo>
                  <a:lnTo>
                    <a:pt x="82080" y="5143309"/>
                  </a:lnTo>
                  <a:close/>
                </a:path>
              </a:pathLst>
            </a:custGeom>
            <a:ln w="12599">
              <a:solidFill>
                <a:srgbClr val="00C1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4160" y="-353"/>
              <a:ext cx="54610" cy="5143500"/>
            </a:xfrm>
            <a:custGeom>
              <a:avLst/>
              <a:gdLst/>
              <a:ahLst/>
              <a:cxnLst/>
              <a:rect l="l" t="t" r="r" b="b"/>
              <a:pathLst>
                <a:path w="54610" h="5143500">
                  <a:moveTo>
                    <a:pt x="54355" y="0"/>
                  </a:moveTo>
                  <a:lnTo>
                    <a:pt x="0" y="0"/>
                  </a:lnTo>
                  <a:lnTo>
                    <a:pt x="0" y="5143309"/>
                  </a:lnTo>
                  <a:lnTo>
                    <a:pt x="27355" y="5143309"/>
                  </a:lnTo>
                  <a:lnTo>
                    <a:pt x="54355" y="5143309"/>
                  </a:lnTo>
                  <a:lnTo>
                    <a:pt x="54355" y="0"/>
                  </a:lnTo>
                  <a:close/>
                </a:path>
              </a:pathLst>
            </a:custGeom>
            <a:solidFill>
              <a:srgbClr val="F3A1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4160" y="-353"/>
              <a:ext cx="54610" cy="5143500"/>
            </a:xfrm>
            <a:custGeom>
              <a:avLst/>
              <a:gdLst/>
              <a:ahLst/>
              <a:cxnLst/>
              <a:rect l="l" t="t" r="r" b="b"/>
              <a:pathLst>
                <a:path w="54610" h="5143500">
                  <a:moveTo>
                    <a:pt x="27355" y="5143309"/>
                  </a:moveTo>
                  <a:lnTo>
                    <a:pt x="0" y="5143309"/>
                  </a:lnTo>
                  <a:lnTo>
                    <a:pt x="0" y="0"/>
                  </a:lnTo>
                  <a:lnTo>
                    <a:pt x="54355" y="0"/>
                  </a:lnTo>
                  <a:lnTo>
                    <a:pt x="54355" y="5143309"/>
                  </a:lnTo>
                  <a:lnTo>
                    <a:pt x="27355" y="5143309"/>
                  </a:lnTo>
                  <a:close/>
                </a:path>
              </a:pathLst>
            </a:custGeom>
            <a:ln w="12599">
              <a:solidFill>
                <a:srgbClr val="F3A1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-355" y="4654437"/>
              <a:ext cx="9144000" cy="488950"/>
            </a:xfrm>
            <a:custGeom>
              <a:avLst/>
              <a:gdLst/>
              <a:ahLst/>
              <a:cxnLst/>
              <a:rect l="l" t="t" r="r" b="b"/>
              <a:pathLst>
                <a:path w="9144000" h="488950">
                  <a:moveTo>
                    <a:pt x="9143631" y="0"/>
                  </a:moveTo>
                  <a:lnTo>
                    <a:pt x="0" y="0"/>
                  </a:lnTo>
                  <a:lnTo>
                    <a:pt x="0" y="488886"/>
                  </a:lnTo>
                  <a:lnTo>
                    <a:pt x="4572000" y="488886"/>
                  </a:lnTo>
                  <a:lnTo>
                    <a:pt x="9143631" y="488886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1A39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-355" y="4654437"/>
              <a:ext cx="9144000" cy="488950"/>
            </a:xfrm>
            <a:custGeom>
              <a:avLst/>
              <a:gdLst/>
              <a:ahLst/>
              <a:cxnLst/>
              <a:rect l="l" t="t" r="r" b="b"/>
              <a:pathLst>
                <a:path w="9144000" h="488950">
                  <a:moveTo>
                    <a:pt x="4572000" y="488886"/>
                  </a:moveTo>
                  <a:lnTo>
                    <a:pt x="0" y="488886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488886"/>
                  </a:lnTo>
                  <a:lnTo>
                    <a:pt x="4572000" y="488886"/>
                  </a:lnTo>
                  <a:close/>
                </a:path>
              </a:pathLst>
            </a:custGeom>
            <a:ln w="12599">
              <a:solidFill>
                <a:srgbClr val="1A39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269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C</a:t>
            </a:r>
            <a:r>
              <a:rPr spc="-170" dirty="0"/>
              <a:t> </a:t>
            </a:r>
            <a:r>
              <a:rPr spc="-25" dirty="0"/>
              <a:t>O</a:t>
            </a:r>
            <a:r>
              <a:rPr spc="-145" dirty="0"/>
              <a:t> </a:t>
            </a:r>
            <a:r>
              <a:rPr dirty="0"/>
              <a:t>N</a:t>
            </a:r>
            <a:r>
              <a:rPr spc="-140" dirty="0"/>
              <a:t> </a:t>
            </a:r>
            <a:r>
              <a:rPr spc="-20" dirty="0"/>
              <a:t>C</a:t>
            </a:r>
            <a:r>
              <a:rPr spc="-140" dirty="0"/>
              <a:t> </a:t>
            </a:r>
            <a:r>
              <a:rPr dirty="0"/>
              <a:t>L</a:t>
            </a:r>
            <a:r>
              <a:rPr spc="-210" dirty="0"/>
              <a:t> </a:t>
            </a:r>
            <a:r>
              <a:rPr dirty="0"/>
              <a:t>U</a:t>
            </a:r>
            <a:r>
              <a:rPr spc="-140" dirty="0"/>
              <a:t> </a:t>
            </a:r>
            <a:r>
              <a:rPr spc="-20" dirty="0"/>
              <a:t>S</a:t>
            </a:r>
            <a:r>
              <a:rPr spc="-140" dirty="0"/>
              <a:t> </a:t>
            </a:r>
            <a:r>
              <a:rPr dirty="0"/>
              <a:t>I</a:t>
            </a:r>
            <a:r>
              <a:rPr spc="-145" dirty="0"/>
              <a:t> </a:t>
            </a:r>
            <a:r>
              <a:rPr spc="-25" dirty="0"/>
              <a:t>O</a:t>
            </a:r>
            <a:r>
              <a:rPr spc="-145" dirty="0"/>
              <a:t> </a:t>
            </a:r>
            <a:r>
              <a:rPr spc="-50" dirty="0"/>
              <a:t>N</a:t>
            </a:r>
          </a:p>
        </p:txBody>
      </p:sp>
      <p:sp>
        <p:nvSpPr>
          <p:cNvPr id="11" name="object 11"/>
          <p:cNvSpPr/>
          <p:nvPr/>
        </p:nvSpPr>
        <p:spPr>
          <a:xfrm>
            <a:off x="411480" y="658077"/>
            <a:ext cx="8321040" cy="635"/>
          </a:xfrm>
          <a:custGeom>
            <a:avLst/>
            <a:gdLst/>
            <a:ahLst/>
            <a:cxnLst/>
            <a:rect l="l" t="t" r="r" b="b"/>
            <a:pathLst>
              <a:path w="8321040" h="634">
                <a:moveTo>
                  <a:pt x="0" y="0"/>
                </a:moveTo>
                <a:lnTo>
                  <a:pt x="8321040" y="368"/>
                </a:lnTo>
              </a:path>
            </a:pathLst>
          </a:custGeom>
          <a:ln w="15119">
            <a:solidFill>
              <a:srgbClr val="00C1CA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404824" y="797942"/>
            <a:ext cx="287020" cy="287020"/>
            <a:chOff x="404824" y="797942"/>
            <a:chExt cx="287020" cy="287020"/>
          </a:xfrm>
        </p:grpSpPr>
        <p:sp>
          <p:nvSpPr>
            <p:cNvPr id="13" name="object 13"/>
            <p:cNvSpPr/>
            <p:nvPr/>
          </p:nvSpPr>
          <p:spPr>
            <a:xfrm>
              <a:off x="411124" y="804242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137159" y="0"/>
                  </a:moveTo>
                  <a:lnTo>
                    <a:pt x="84555" y="10479"/>
                  </a:lnTo>
                  <a:lnTo>
                    <a:pt x="40136" y="40184"/>
                  </a:lnTo>
                  <a:lnTo>
                    <a:pt x="10474" y="84712"/>
                  </a:lnTo>
                  <a:lnTo>
                    <a:pt x="0" y="137160"/>
                  </a:lnTo>
                  <a:lnTo>
                    <a:pt x="1197" y="155141"/>
                  </a:lnTo>
                  <a:lnTo>
                    <a:pt x="18351" y="205917"/>
                  </a:lnTo>
                  <a:lnTo>
                    <a:pt x="53745" y="246013"/>
                  </a:lnTo>
                  <a:lnTo>
                    <a:pt x="101606" y="269595"/>
                  </a:lnTo>
                  <a:lnTo>
                    <a:pt x="137159" y="274319"/>
                  </a:lnTo>
                  <a:lnTo>
                    <a:pt x="155141" y="273122"/>
                  </a:lnTo>
                  <a:lnTo>
                    <a:pt x="205917" y="255955"/>
                  </a:lnTo>
                  <a:lnTo>
                    <a:pt x="246013" y="220724"/>
                  </a:lnTo>
                  <a:lnTo>
                    <a:pt x="269590" y="172753"/>
                  </a:lnTo>
                  <a:lnTo>
                    <a:pt x="274320" y="137160"/>
                  </a:lnTo>
                  <a:lnTo>
                    <a:pt x="273120" y="119183"/>
                  </a:lnTo>
                  <a:lnTo>
                    <a:pt x="255955" y="68757"/>
                  </a:lnTo>
                  <a:lnTo>
                    <a:pt x="220724" y="28311"/>
                  </a:lnTo>
                  <a:lnTo>
                    <a:pt x="172753" y="4724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00C1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1124" y="804242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0" y="137160"/>
                  </a:moveTo>
                  <a:lnTo>
                    <a:pt x="1197" y="119183"/>
                  </a:lnTo>
                  <a:lnTo>
                    <a:pt x="4722" y="101611"/>
                  </a:lnTo>
                  <a:lnTo>
                    <a:pt x="28300" y="53745"/>
                  </a:lnTo>
                  <a:lnTo>
                    <a:pt x="68389" y="18364"/>
                  </a:lnTo>
                  <a:lnTo>
                    <a:pt x="119172" y="1197"/>
                  </a:lnTo>
                  <a:lnTo>
                    <a:pt x="137159" y="0"/>
                  </a:lnTo>
                  <a:lnTo>
                    <a:pt x="189757" y="10479"/>
                  </a:lnTo>
                  <a:lnTo>
                    <a:pt x="234180" y="40184"/>
                  </a:lnTo>
                  <a:lnTo>
                    <a:pt x="263834" y="84712"/>
                  </a:lnTo>
                  <a:lnTo>
                    <a:pt x="274320" y="137160"/>
                  </a:lnTo>
                  <a:lnTo>
                    <a:pt x="273120" y="155141"/>
                  </a:lnTo>
                  <a:lnTo>
                    <a:pt x="269590" y="172753"/>
                  </a:lnTo>
                  <a:lnTo>
                    <a:pt x="246013" y="220724"/>
                  </a:lnTo>
                  <a:lnTo>
                    <a:pt x="205917" y="255955"/>
                  </a:lnTo>
                  <a:lnTo>
                    <a:pt x="155141" y="273122"/>
                  </a:lnTo>
                  <a:lnTo>
                    <a:pt x="137159" y="274319"/>
                  </a:lnTo>
                  <a:lnTo>
                    <a:pt x="84710" y="263840"/>
                  </a:lnTo>
                  <a:lnTo>
                    <a:pt x="40182" y="234180"/>
                  </a:lnTo>
                  <a:lnTo>
                    <a:pt x="10474" y="189757"/>
                  </a:lnTo>
                  <a:lnTo>
                    <a:pt x="1197" y="155141"/>
                  </a:lnTo>
                  <a:lnTo>
                    <a:pt x="0" y="137160"/>
                  </a:lnTo>
                  <a:close/>
                </a:path>
              </a:pathLst>
            </a:custGeom>
            <a:ln w="12599">
              <a:solidFill>
                <a:srgbClr val="00C1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03173" y="852388"/>
            <a:ext cx="7903209" cy="459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0C1A29"/>
                </a:solidFill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  <a:p>
            <a:pPr marL="273685" marR="5080">
              <a:lnSpc>
                <a:spcPct val="100000"/>
              </a:lnSpc>
              <a:spcBef>
                <a:spcPts val="45"/>
              </a:spcBef>
            </a:pP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KD</a:t>
            </a:r>
            <a:r>
              <a:rPr sz="900" spc="1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has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evolved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 over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three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generations: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output-level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(Hinton,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2015)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-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-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&gt;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feature-level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CAD4E0"/>
                </a:solidFill>
                <a:latin typeface="Calibri"/>
                <a:cs typeface="Calibri"/>
              </a:rPr>
              <a:t>(TinyBERT,</a:t>
            </a:r>
            <a:r>
              <a:rPr sz="900" spc="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2019) --&gt;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reasoning-level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 (CoT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/</a:t>
            </a:r>
            <a:r>
              <a:rPr sz="900" spc="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DeepSeek-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R1,</a:t>
            </a:r>
            <a:r>
              <a:rPr sz="900" spc="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2025).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Each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generation</a:t>
            </a:r>
            <a:r>
              <a:rPr sz="900" spc="50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addresses</a:t>
            </a:r>
            <a:r>
              <a:rPr sz="900" spc="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predecessor</a:t>
            </a:r>
            <a:r>
              <a:rPr sz="900" spc="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limitations</a:t>
            </a:r>
            <a:r>
              <a:rPr sz="900" spc="1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while</a:t>
            </a:r>
            <a:r>
              <a:rPr sz="900" spc="2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introducing</a:t>
            </a:r>
            <a:r>
              <a:rPr sz="900" spc="2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new</a:t>
            </a:r>
            <a:r>
              <a:rPr sz="900" spc="2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challenges.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04824" y="1602538"/>
            <a:ext cx="287020" cy="287020"/>
            <a:chOff x="404824" y="1602538"/>
            <a:chExt cx="287020" cy="287020"/>
          </a:xfrm>
        </p:grpSpPr>
        <p:sp>
          <p:nvSpPr>
            <p:cNvPr id="17" name="object 17"/>
            <p:cNvSpPr/>
            <p:nvPr/>
          </p:nvSpPr>
          <p:spPr>
            <a:xfrm>
              <a:off x="411124" y="1608838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137159" y="0"/>
                  </a:moveTo>
                  <a:lnTo>
                    <a:pt x="84555" y="10485"/>
                  </a:lnTo>
                  <a:lnTo>
                    <a:pt x="40136" y="40139"/>
                  </a:lnTo>
                  <a:lnTo>
                    <a:pt x="10474" y="84562"/>
                  </a:lnTo>
                  <a:lnTo>
                    <a:pt x="0" y="137160"/>
                  </a:lnTo>
                  <a:lnTo>
                    <a:pt x="1197" y="155141"/>
                  </a:lnTo>
                  <a:lnTo>
                    <a:pt x="18351" y="205562"/>
                  </a:lnTo>
                  <a:lnTo>
                    <a:pt x="53745" y="246013"/>
                  </a:lnTo>
                  <a:lnTo>
                    <a:pt x="101606" y="269597"/>
                  </a:lnTo>
                  <a:lnTo>
                    <a:pt x="137159" y="274320"/>
                  </a:lnTo>
                  <a:lnTo>
                    <a:pt x="155141" y="273122"/>
                  </a:lnTo>
                  <a:lnTo>
                    <a:pt x="205917" y="255968"/>
                  </a:lnTo>
                  <a:lnTo>
                    <a:pt x="246013" y="220574"/>
                  </a:lnTo>
                  <a:lnTo>
                    <a:pt x="269590" y="172713"/>
                  </a:lnTo>
                  <a:lnTo>
                    <a:pt x="274320" y="137160"/>
                  </a:lnTo>
                  <a:lnTo>
                    <a:pt x="273120" y="119178"/>
                  </a:lnTo>
                  <a:lnTo>
                    <a:pt x="255955" y="68402"/>
                  </a:lnTo>
                  <a:lnTo>
                    <a:pt x="220724" y="28306"/>
                  </a:lnTo>
                  <a:lnTo>
                    <a:pt x="172753" y="4729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F3A1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1124" y="1608838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0" y="137160"/>
                  </a:moveTo>
                  <a:lnTo>
                    <a:pt x="1197" y="119178"/>
                  </a:lnTo>
                  <a:lnTo>
                    <a:pt x="4722" y="101566"/>
                  </a:lnTo>
                  <a:lnTo>
                    <a:pt x="28300" y="53595"/>
                  </a:lnTo>
                  <a:lnTo>
                    <a:pt x="68389" y="18364"/>
                  </a:lnTo>
                  <a:lnTo>
                    <a:pt x="119172" y="1199"/>
                  </a:lnTo>
                  <a:lnTo>
                    <a:pt x="137159" y="0"/>
                  </a:lnTo>
                  <a:lnTo>
                    <a:pt x="189757" y="10485"/>
                  </a:lnTo>
                  <a:lnTo>
                    <a:pt x="234180" y="40139"/>
                  </a:lnTo>
                  <a:lnTo>
                    <a:pt x="263834" y="84562"/>
                  </a:lnTo>
                  <a:lnTo>
                    <a:pt x="274320" y="137160"/>
                  </a:lnTo>
                  <a:lnTo>
                    <a:pt x="273120" y="155141"/>
                  </a:lnTo>
                  <a:lnTo>
                    <a:pt x="269590" y="172713"/>
                  </a:lnTo>
                  <a:lnTo>
                    <a:pt x="246013" y="220574"/>
                  </a:lnTo>
                  <a:lnTo>
                    <a:pt x="205917" y="255968"/>
                  </a:lnTo>
                  <a:lnTo>
                    <a:pt x="155141" y="273122"/>
                  </a:lnTo>
                  <a:lnTo>
                    <a:pt x="137159" y="274320"/>
                  </a:lnTo>
                  <a:lnTo>
                    <a:pt x="84710" y="263845"/>
                  </a:lnTo>
                  <a:lnTo>
                    <a:pt x="40182" y="234137"/>
                  </a:lnTo>
                  <a:lnTo>
                    <a:pt x="10474" y="189609"/>
                  </a:lnTo>
                  <a:lnTo>
                    <a:pt x="1197" y="155141"/>
                  </a:lnTo>
                  <a:lnTo>
                    <a:pt x="0" y="137160"/>
                  </a:lnTo>
                  <a:close/>
                </a:path>
              </a:pathLst>
            </a:custGeom>
            <a:ln w="12599">
              <a:solidFill>
                <a:srgbClr val="F3A1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03173" y="1656983"/>
            <a:ext cx="8099425" cy="459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0C1A29"/>
                </a:solidFill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  <a:p>
            <a:pPr marL="273685" marR="5080">
              <a:lnSpc>
                <a:spcPct val="100000"/>
              </a:lnSpc>
              <a:spcBef>
                <a:spcPts val="45"/>
              </a:spcBef>
            </a:pP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Mathematical framework: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L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=</a:t>
            </a:r>
            <a:r>
              <a:rPr sz="900" spc="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alpha*L_CE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+</a:t>
            </a:r>
            <a:r>
              <a:rPr sz="900" spc="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(1-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alpha)*T^2*L_KL with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temperature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T in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[3,5]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and</a:t>
            </a:r>
            <a:r>
              <a:rPr sz="900" spc="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alpha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in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[0.5, 0.7]. These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empirical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guidelines provide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actionable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starting</a:t>
            </a:r>
            <a:r>
              <a:rPr sz="900" spc="50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points</a:t>
            </a:r>
            <a:r>
              <a:rPr sz="90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for</a:t>
            </a:r>
            <a:r>
              <a:rPr sz="900" spc="-2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practitioners</a:t>
            </a:r>
            <a:r>
              <a:rPr sz="900" spc="-2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designing</a:t>
            </a:r>
            <a:r>
              <a:rPr sz="900" spc="-2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KD</a:t>
            </a:r>
            <a:r>
              <a:rPr sz="900" spc="-2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pipelines.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04824" y="2407502"/>
            <a:ext cx="287020" cy="287020"/>
            <a:chOff x="404824" y="2407502"/>
            <a:chExt cx="287020" cy="287020"/>
          </a:xfrm>
        </p:grpSpPr>
        <p:sp>
          <p:nvSpPr>
            <p:cNvPr id="21" name="object 21"/>
            <p:cNvSpPr/>
            <p:nvPr/>
          </p:nvSpPr>
          <p:spPr>
            <a:xfrm>
              <a:off x="411124" y="2413802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137159" y="0"/>
                  </a:moveTo>
                  <a:lnTo>
                    <a:pt x="84555" y="10479"/>
                  </a:lnTo>
                  <a:lnTo>
                    <a:pt x="40136" y="40139"/>
                  </a:lnTo>
                  <a:lnTo>
                    <a:pt x="10474" y="84562"/>
                  </a:lnTo>
                  <a:lnTo>
                    <a:pt x="0" y="137159"/>
                  </a:lnTo>
                  <a:lnTo>
                    <a:pt x="1197" y="155136"/>
                  </a:lnTo>
                  <a:lnTo>
                    <a:pt x="18351" y="205562"/>
                  </a:lnTo>
                  <a:lnTo>
                    <a:pt x="53745" y="246008"/>
                  </a:lnTo>
                  <a:lnTo>
                    <a:pt x="101606" y="269595"/>
                  </a:lnTo>
                  <a:lnTo>
                    <a:pt x="137159" y="274319"/>
                  </a:lnTo>
                  <a:lnTo>
                    <a:pt x="155141" y="273122"/>
                  </a:lnTo>
                  <a:lnTo>
                    <a:pt x="205917" y="255955"/>
                  </a:lnTo>
                  <a:lnTo>
                    <a:pt x="246013" y="220574"/>
                  </a:lnTo>
                  <a:lnTo>
                    <a:pt x="269590" y="172708"/>
                  </a:lnTo>
                  <a:lnTo>
                    <a:pt x="274320" y="137159"/>
                  </a:lnTo>
                  <a:lnTo>
                    <a:pt x="273120" y="119178"/>
                  </a:lnTo>
                  <a:lnTo>
                    <a:pt x="255955" y="68402"/>
                  </a:lnTo>
                  <a:lnTo>
                    <a:pt x="220724" y="28306"/>
                  </a:lnTo>
                  <a:lnTo>
                    <a:pt x="172753" y="4724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21C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11124" y="2413802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0" y="137159"/>
                  </a:moveTo>
                  <a:lnTo>
                    <a:pt x="1197" y="119178"/>
                  </a:lnTo>
                  <a:lnTo>
                    <a:pt x="4722" y="101566"/>
                  </a:lnTo>
                  <a:lnTo>
                    <a:pt x="28300" y="53595"/>
                  </a:lnTo>
                  <a:lnTo>
                    <a:pt x="68389" y="18364"/>
                  </a:lnTo>
                  <a:lnTo>
                    <a:pt x="119172" y="1197"/>
                  </a:lnTo>
                  <a:lnTo>
                    <a:pt x="137159" y="0"/>
                  </a:lnTo>
                  <a:lnTo>
                    <a:pt x="189757" y="10479"/>
                  </a:lnTo>
                  <a:lnTo>
                    <a:pt x="234180" y="40139"/>
                  </a:lnTo>
                  <a:lnTo>
                    <a:pt x="263834" y="84562"/>
                  </a:lnTo>
                  <a:lnTo>
                    <a:pt x="274320" y="137159"/>
                  </a:lnTo>
                  <a:lnTo>
                    <a:pt x="273120" y="155136"/>
                  </a:lnTo>
                  <a:lnTo>
                    <a:pt x="269590" y="172708"/>
                  </a:lnTo>
                  <a:lnTo>
                    <a:pt x="246013" y="220574"/>
                  </a:lnTo>
                  <a:lnTo>
                    <a:pt x="205917" y="255955"/>
                  </a:lnTo>
                  <a:lnTo>
                    <a:pt x="155141" y="273122"/>
                  </a:lnTo>
                  <a:lnTo>
                    <a:pt x="137159" y="274319"/>
                  </a:lnTo>
                  <a:lnTo>
                    <a:pt x="84710" y="263840"/>
                  </a:lnTo>
                  <a:lnTo>
                    <a:pt x="40182" y="234135"/>
                  </a:lnTo>
                  <a:lnTo>
                    <a:pt x="10474" y="189607"/>
                  </a:lnTo>
                  <a:lnTo>
                    <a:pt x="1197" y="155136"/>
                  </a:lnTo>
                  <a:lnTo>
                    <a:pt x="0" y="137159"/>
                  </a:lnTo>
                  <a:close/>
                </a:path>
              </a:pathLst>
            </a:custGeom>
            <a:ln w="12599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03173" y="2461947"/>
            <a:ext cx="7874634" cy="459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0C1A29"/>
                </a:solidFill>
                <a:latin typeface="Calibri"/>
                <a:cs typeface="Calibri"/>
              </a:rPr>
              <a:t>3</a:t>
            </a:r>
            <a:endParaRPr sz="1000">
              <a:latin typeface="Calibri"/>
              <a:cs typeface="Calibri"/>
            </a:endParaRPr>
          </a:p>
          <a:p>
            <a:pPr marL="273685" marR="5080">
              <a:lnSpc>
                <a:spcPct val="100000"/>
              </a:lnSpc>
              <a:spcBef>
                <a:spcPts val="45"/>
              </a:spcBef>
            </a:pP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Headline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result: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A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7B-parameter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 student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(DeepSeek-R1-Distill)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trained on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800K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CoT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traces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achieves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near-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parity with</a:t>
            </a:r>
            <a:r>
              <a:rPr sz="900" spc="1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25" dirty="0">
                <a:solidFill>
                  <a:srgbClr val="CAD4E0"/>
                </a:solidFill>
                <a:latin typeface="Calibri"/>
                <a:cs typeface="Calibri"/>
              </a:rPr>
              <a:t>GPT-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4o on</a:t>
            </a:r>
            <a:r>
              <a:rPr sz="900" spc="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AIME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2024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mathematical</a:t>
            </a:r>
            <a:r>
              <a:rPr sz="900" spc="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reasoning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50" dirty="0">
                <a:solidFill>
                  <a:srgbClr val="CAD4E0"/>
                </a:solidFill>
                <a:latin typeface="Calibri"/>
                <a:cs typeface="Calibri"/>
              </a:rPr>
              <a:t>-</a:t>
            </a:r>
            <a:r>
              <a:rPr sz="900" spc="50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representing</a:t>
            </a:r>
            <a:r>
              <a:rPr sz="900" spc="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approximately</a:t>
            </a:r>
            <a:r>
              <a:rPr sz="900" spc="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a</a:t>
            </a:r>
            <a:r>
              <a:rPr sz="900" spc="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96:1</a:t>
            </a:r>
            <a:r>
              <a:rPr sz="900" spc="1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compression</a:t>
            </a:r>
            <a:r>
              <a:rPr sz="900" spc="1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ratio.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04824" y="3212098"/>
            <a:ext cx="287020" cy="287020"/>
            <a:chOff x="404824" y="3212098"/>
            <a:chExt cx="287020" cy="287020"/>
          </a:xfrm>
        </p:grpSpPr>
        <p:sp>
          <p:nvSpPr>
            <p:cNvPr id="25" name="object 25"/>
            <p:cNvSpPr/>
            <p:nvPr/>
          </p:nvSpPr>
          <p:spPr>
            <a:xfrm>
              <a:off x="411124" y="3218398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20">
                  <a:moveTo>
                    <a:pt x="137159" y="0"/>
                  </a:moveTo>
                  <a:lnTo>
                    <a:pt x="84555" y="10485"/>
                  </a:lnTo>
                  <a:lnTo>
                    <a:pt x="40136" y="40184"/>
                  </a:lnTo>
                  <a:lnTo>
                    <a:pt x="10474" y="84712"/>
                  </a:lnTo>
                  <a:lnTo>
                    <a:pt x="0" y="137160"/>
                  </a:lnTo>
                  <a:lnTo>
                    <a:pt x="1197" y="155147"/>
                  </a:lnTo>
                  <a:lnTo>
                    <a:pt x="18351" y="205917"/>
                  </a:lnTo>
                  <a:lnTo>
                    <a:pt x="53745" y="246019"/>
                  </a:lnTo>
                  <a:lnTo>
                    <a:pt x="101606" y="269597"/>
                  </a:lnTo>
                  <a:lnTo>
                    <a:pt x="137159" y="274319"/>
                  </a:lnTo>
                  <a:lnTo>
                    <a:pt x="155141" y="273122"/>
                  </a:lnTo>
                  <a:lnTo>
                    <a:pt x="205917" y="255968"/>
                  </a:lnTo>
                  <a:lnTo>
                    <a:pt x="246013" y="220724"/>
                  </a:lnTo>
                  <a:lnTo>
                    <a:pt x="269590" y="172758"/>
                  </a:lnTo>
                  <a:lnTo>
                    <a:pt x="274320" y="137160"/>
                  </a:lnTo>
                  <a:lnTo>
                    <a:pt x="273120" y="119183"/>
                  </a:lnTo>
                  <a:lnTo>
                    <a:pt x="255955" y="68757"/>
                  </a:lnTo>
                  <a:lnTo>
                    <a:pt x="220724" y="28311"/>
                  </a:lnTo>
                  <a:lnTo>
                    <a:pt x="172753" y="4729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EE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11124" y="3218398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20">
                  <a:moveTo>
                    <a:pt x="0" y="137160"/>
                  </a:moveTo>
                  <a:lnTo>
                    <a:pt x="1197" y="119183"/>
                  </a:lnTo>
                  <a:lnTo>
                    <a:pt x="4722" y="101611"/>
                  </a:lnTo>
                  <a:lnTo>
                    <a:pt x="28300" y="53745"/>
                  </a:lnTo>
                  <a:lnTo>
                    <a:pt x="68389" y="18364"/>
                  </a:lnTo>
                  <a:lnTo>
                    <a:pt x="119172" y="1199"/>
                  </a:lnTo>
                  <a:lnTo>
                    <a:pt x="137159" y="0"/>
                  </a:lnTo>
                  <a:lnTo>
                    <a:pt x="189757" y="10485"/>
                  </a:lnTo>
                  <a:lnTo>
                    <a:pt x="234180" y="40184"/>
                  </a:lnTo>
                  <a:lnTo>
                    <a:pt x="263834" y="84712"/>
                  </a:lnTo>
                  <a:lnTo>
                    <a:pt x="274320" y="137160"/>
                  </a:lnTo>
                  <a:lnTo>
                    <a:pt x="273120" y="155147"/>
                  </a:lnTo>
                  <a:lnTo>
                    <a:pt x="269590" y="172758"/>
                  </a:lnTo>
                  <a:lnTo>
                    <a:pt x="246013" y="220724"/>
                  </a:lnTo>
                  <a:lnTo>
                    <a:pt x="205917" y="255968"/>
                  </a:lnTo>
                  <a:lnTo>
                    <a:pt x="155141" y="273122"/>
                  </a:lnTo>
                  <a:lnTo>
                    <a:pt x="137159" y="274319"/>
                  </a:lnTo>
                  <a:lnTo>
                    <a:pt x="84710" y="263845"/>
                  </a:lnTo>
                  <a:lnTo>
                    <a:pt x="40182" y="234181"/>
                  </a:lnTo>
                  <a:lnTo>
                    <a:pt x="10474" y="189759"/>
                  </a:lnTo>
                  <a:lnTo>
                    <a:pt x="1197" y="155147"/>
                  </a:lnTo>
                  <a:lnTo>
                    <a:pt x="0" y="137160"/>
                  </a:lnTo>
                  <a:close/>
                </a:path>
              </a:pathLst>
            </a:custGeom>
            <a:ln w="12599">
              <a:solidFill>
                <a:srgbClr val="EE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03173" y="3266543"/>
            <a:ext cx="8251190" cy="459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0C1A29"/>
                </a:solidFill>
                <a:latin typeface="Calibri"/>
                <a:cs typeface="Calibri"/>
              </a:rPr>
              <a:t>4</a:t>
            </a:r>
            <a:endParaRPr sz="1000">
              <a:latin typeface="Calibri"/>
              <a:cs typeface="Calibri"/>
            </a:endParaRPr>
          </a:p>
          <a:p>
            <a:pPr marL="273685" marR="5080">
              <a:lnSpc>
                <a:spcPct val="100000"/>
              </a:lnSpc>
              <a:spcBef>
                <a:spcPts val="45"/>
              </a:spcBef>
            </a:pP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Critical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open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challenges: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capacity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gap</a:t>
            </a:r>
            <a:r>
              <a:rPr sz="90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(&gt;10x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 ratio</a:t>
            </a:r>
            <a:r>
              <a:rPr sz="90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degrades</a:t>
            </a:r>
            <a:r>
              <a:rPr sz="900" spc="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performance),</a:t>
            </a:r>
            <a:r>
              <a:rPr sz="90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hallucination</a:t>
            </a:r>
            <a:r>
              <a:rPr sz="900" spc="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inheritance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from flawed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teacher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traces,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alignment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degradation,</a:t>
            </a:r>
            <a:r>
              <a:rPr sz="90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and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CAD4E0"/>
                </a:solidFill>
                <a:latin typeface="Calibri"/>
                <a:cs typeface="Calibri"/>
              </a:rPr>
              <a:t>Terms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 of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Service</a:t>
            </a:r>
            <a:r>
              <a:rPr sz="900" spc="50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constraints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on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black-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box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API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distillation.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04824" y="4016706"/>
            <a:ext cx="287020" cy="287020"/>
            <a:chOff x="404824" y="4016706"/>
            <a:chExt cx="287020" cy="287020"/>
          </a:xfrm>
        </p:grpSpPr>
        <p:sp>
          <p:nvSpPr>
            <p:cNvPr id="29" name="object 29"/>
            <p:cNvSpPr/>
            <p:nvPr/>
          </p:nvSpPr>
          <p:spPr>
            <a:xfrm>
              <a:off x="411124" y="4023006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20">
                  <a:moveTo>
                    <a:pt x="137159" y="0"/>
                  </a:moveTo>
                  <a:lnTo>
                    <a:pt x="84555" y="10474"/>
                  </a:lnTo>
                  <a:lnTo>
                    <a:pt x="40136" y="40136"/>
                  </a:lnTo>
                  <a:lnTo>
                    <a:pt x="10474" y="84555"/>
                  </a:lnTo>
                  <a:lnTo>
                    <a:pt x="0" y="137160"/>
                  </a:lnTo>
                  <a:lnTo>
                    <a:pt x="1197" y="155136"/>
                  </a:lnTo>
                  <a:lnTo>
                    <a:pt x="18351" y="205549"/>
                  </a:lnTo>
                  <a:lnTo>
                    <a:pt x="53745" y="246008"/>
                  </a:lnTo>
                  <a:lnTo>
                    <a:pt x="101606" y="269590"/>
                  </a:lnTo>
                  <a:lnTo>
                    <a:pt x="137159" y="274320"/>
                  </a:lnTo>
                  <a:lnTo>
                    <a:pt x="155141" y="273120"/>
                  </a:lnTo>
                  <a:lnTo>
                    <a:pt x="205917" y="255955"/>
                  </a:lnTo>
                  <a:lnTo>
                    <a:pt x="246013" y="220569"/>
                  </a:lnTo>
                  <a:lnTo>
                    <a:pt x="269590" y="172707"/>
                  </a:lnTo>
                  <a:lnTo>
                    <a:pt x="274320" y="137160"/>
                  </a:lnTo>
                  <a:lnTo>
                    <a:pt x="273120" y="119172"/>
                  </a:lnTo>
                  <a:lnTo>
                    <a:pt x="255955" y="68389"/>
                  </a:lnTo>
                  <a:lnTo>
                    <a:pt x="220724" y="28300"/>
                  </a:lnTo>
                  <a:lnTo>
                    <a:pt x="172753" y="4722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8A5B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11124" y="4023006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20">
                  <a:moveTo>
                    <a:pt x="0" y="137160"/>
                  </a:moveTo>
                  <a:lnTo>
                    <a:pt x="1197" y="119172"/>
                  </a:lnTo>
                  <a:lnTo>
                    <a:pt x="4722" y="101560"/>
                  </a:lnTo>
                  <a:lnTo>
                    <a:pt x="28300" y="53589"/>
                  </a:lnTo>
                  <a:lnTo>
                    <a:pt x="68389" y="18351"/>
                  </a:lnTo>
                  <a:lnTo>
                    <a:pt x="119172" y="1197"/>
                  </a:lnTo>
                  <a:lnTo>
                    <a:pt x="137159" y="0"/>
                  </a:lnTo>
                  <a:lnTo>
                    <a:pt x="189757" y="10474"/>
                  </a:lnTo>
                  <a:lnTo>
                    <a:pt x="234180" y="40136"/>
                  </a:lnTo>
                  <a:lnTo>
                    <a:pt x="263834" y="84555"/>
                  </a:lnTo>
                  <a:lnTo>
                    <a:pt x="274320" y="137160"/>
                  </a:lnTo>
                  <a:lnTo>
                    <a:pt x="273120" y="155136"/>
                  </a:lnTo>
                  <a:lnTo>
                    <a:pt x="269590" y="172707"/>
                  </a:lnTo>
                  <a:lnTo>
                    <a:pt x="246013" y="220569"/>
                  </a:lnTo>
                  <a:lnTo>
                    <a:pt x="205917" y="255955"/>
                  </a:lnTo>
                  <a:lnTo>
                    <a:pt x="155141" y="273120"/>
                  </a:lnTo>
                  <a:lnTo>
                    <a:pt x="137159" y="274320"/>
                  </a:lnTo>
                  <a:lnTo>
                    <a:pt x="84710" y="263834"/>
                  </a:lnTo>
                  <a:lnTo>
                    <a:pt x="40182" y="234134"/>
                  </a:lnTo>
                  <a:lnTo>
                    <a:pt x="10474" y="189602"/>
                  </a:lnTo>
                  <a:lnTo>
                    <a:pt x="1197" y="155136"/>
                  </a:lnTo>
                  <a:lnTo>
                    <a:pt x="0" y="137160"/>
                  </a:lnTo>
                  <a:close/>
                </a:path>
              </a:pathLst>
            </a:custGeom>
            <a:ln w="12599">
              <a:solidFill>
                <a:srgbClr val="8A5B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03173" y="4071152"/>
            <a:ext cx="82296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0C1A29"/>
                </a:solidFill>
                <a:latin typeface="Calibri"/>
                <a:cs typeface="Calibri"/>
              </a:rPr>
              <a:t>5</a:t>
            </a:r>
            <a:endParaRPr sz="1000">
              <a:latin typeface="Calibri"/>
              <a:cs typeface="Calibri"/>
            </a:endParaRPr>
          </a:p>
          <a:p>
            <a:pPr marL="273685" marR="5080">
              <a:lnSpc>
                <a:spcPct val="100000"/>
              </a:lnSpc>
              <a:spcBef>
                <a:spcPts val="45"/>
              </a:spcBef>
            </a:pP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Promising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future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 directions: alignment-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aware KD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(preserving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RLHF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properties), multi-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teacher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MoE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 distillation, hardware-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aware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co-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design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for</a:t>
            </a:r>
            <a:r>
              <a:rPr sz="90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edge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deployment, </a:t>
            </a:r>
            <a:r>
              <a:rPr sz="900" dirty="0">
                <a:solidFill>
                  <a:srgbClr val="CAD4E0"/>
                </a:solidFill>
                <a:latin typeface="Calibri"/>
                <a:cs typeface="Calibri"/>
              </a:rPr>
              <a:t>and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privacy-preserving</a:t>
            </a:r>
            <a:r>
              <a:rPr sz="900" spc="1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federated</a:t>
            </a:r>
            <a:r>
              <a:rPr sz="900" spc="1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CAD4E0"/>
                </a:solidFill>
                <a:latin typeface="Calibri"/>
                <a:cs typeface="Calibri"/>
              </a:rPr>
              <a:t>distillation.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900">
              <a:latin typeface="Calibri"/>
              <a:cs typeface="Calibri"/>
            </a:endParaRPr>
          </a:p>
          <a:p>
            <a:pPr marR="88900" algn="ctr">
              <a:lnSpc>
                <a:spcPct val="100000"/>
              </a:lnSpc>
            </a:pPr>
            <a:r>
              <a:rPr sz="850" spc="-10" dirty="0">
                <a:solidFill>
                  <a:srgbClr val="CAD4E0"/>
                </a:solidFill>
                <a:latin typeface="Calibri"/>
                <a:cs typeface="Calibri"/>
              </a:rPr>
              <a:t>Knowledge</a:t>
            </a:r>
            <a:r>
              <a:rPr sz="85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CAD4E0"/>
                </a:solidFill>
                <a:latin typeface="Calibri"/>
                <a:cs typeface="Calibri"/>
              </a:rPr>
              <a:t>Distillation</a:t>
            </a:r>
            <a:r>
              <a:rPr sz="85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CAD4E0"/>
                </a:solidFill>
                <a:latin typeface="Calibri"/>
                <a:cs typeface="Calibri"/>
              </a:rPr>
              <a:t>for</a:t>
            </a:r>
            <a:r>
              <a:rPr sz="850" spc="-1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CAD4E0"/>
                </a:solidFill>
                <a:latin typeface="Calibri"/>
                <a:cs typeface="Calibri"/>
              </a:rPr>
              <a:t>LLMs</a:t>
            </a:r>
            <a:r>
              <a:rPr sz="850" spc="17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CAD4E0"/>
                </a:solidFill>
                <a:latin typeface="Calibri"/>
                <a:cs typeface="Calibri"/>
              </a:rPr>
              <a:t>|</a:t>
            </a:r>
            <a:r>
              <a:rPr sz="850" spc="17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CAD4E0"/>
                </a:solidFill>
                <a:latin typeface="Calibri"/>
                <a:cs typeface="Calibri"/>
              </a:rPr>
              <a:t>Manisa </a:t>
            </a:r>
            <a:r>
              <a:rPr sz="850" dirty="0">
                <a:solidFill>
                  <a:srgbClr val="CAD4E0"/>
                </a:solidFill>
                <a:latin typeface="Calibri"/>
                <a:cs typeface="Calibri"/>
              </a:rPr>
              <a:t>Celal</a:t>
            </a:r>
            <a:r>
              <a:rPr sz="850" spc="-1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CAD4E0"/>
                </a:solidFill>
                <a:latin typeface="Calibri"/>
                <a:cs typeface="Calibri"/>
              </a:rPr>
              <a:t>Bayar </a:t>
            </a:r>
            <a:r>
              <a:rPr sz="850" dirty="0">
                <a:solidFill>
                  <a:srgbClr val="CAD4E0"/>
                </a:solidFill>
                <a:latin typeface="Calibri"/>
                <a:cs typeface="Calibri"/>
              </a:rPr>
              <a:t>University</a:t>
            </a:r>
            <a:r>
              <a:rPr sz="850" spc="17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CAD4E0"/>
                </a:solidFill>
                <a:latin typeface="Calibri"/>
                <a:cs typeface="Calibri"/>
              </a:rPr>
              <a:t>|</a:t>
            </a:r>
            <a:r>
              <a:rPr sz="850" spc="16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CAD4E0"/>
                </a:solidFill>
                <a:latin typeface="Calibri"/>
                <a:cs typeface="Calibri"/>
              </a:rPr>
              <a:t>Department </a:t>
            </a:r>
            <a:r>
              <a:rPr sz="850" dirty="0">
                <a:solidFill>
                  <a:srgbClr val="CAD4E0"/>
                </a:solidFill>
                <a:latin typeface="Calibri"/>
                <a:cs typeface="Calibri"/>
              </a:rPr>
              <a:t>of</a:t>
            </a:r>
            <a:r>
              <a:rPr sz="850" spc="-10" dirty="0">
                <a:solidFill>
                  <a:srgbClr val="CAD4E0"/>
                </a:solidFill>
                <a:latin typeface="Calibri"/>
                <a:cs typeface="Calibri"/>
              </a:rPr>
              <a:t> Computer</a:t>
            </a:r>
            <a:r>
              <a:rPr sz="850" spc="-5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CAD4E0"/>
                </a:solidFill>
                <a:latin typeface="Calibri"/>
                <a:cs typeface="Calibri"/>
              </a:rPr>
              <a:t>Engineering</a:t>
            </a:r>
            <a:r>
              <a:rPr sz="850" spc="16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CAD4E0"/>
                </a:solidFill>
                <a:latin typeface="Calibri"/>
                <a:cs typeface="Calibri"/>
              </a:rPr>
              <a:t>|</a:t>
            </a:r>
            <a:r>
              <a:rPr sz="850" spc="170" dirty="0">
                <a:solidFill>
                  <a:srgbClr val="CAD4E0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CAD4E0"/>
                </a:solidFill>
                <a:latin typeface="Calibri"/>
                <a:cs typeface="Calibri"/>
              </a:rPr>
              <a:t>2025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Words>3738</Words>
  <Application>Microsoft Office PowerPoint</Application>
  <PresentationFormat>Özel</PresentationFormat>
  <Paragraphs>670</Paragraphs>
  <Slides>16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22" baseType="lpstr">
      <vt:lpstr>Arial</vt:lpstr>
      <vt:lpstr>Arial MT</vt:lpstr>
      <vt:lpstr>Calibri</vt:lpstr>
      <vt:lpstr>Courier New</vt:lpstr>
      <vt:lpstr>Times New Roman</vt:lpstr>
      <vt:lpstr>Office Theme</vt:lpstr>
      <vt:lpstr>KNOWLEDGE DISTILLATION TECHNIQUES FOR LLMs</vt:lpstr>
      <vt:lpstr>Table of Contents</vt:lpstr>
      <vt:lpstr>Introduction &amp; Motivation</vt:lpstr>
      <vt:lpstr>Theoretical Framework</vt:lpstr>
      <vt:lpstr>Three Types of Knowledge Distillation</vt:lpstr>
      <vt:lpstr>Chain-of-Thought (CoT) Distillation</vt:lpstr>
      <vt:lpstr>RLKD &amp; Speculative Decoding</vt:lpstr>
      <vt:lpstr>Distillation Scaling Laws &amp; Capacity Gap</vt:lpstr>
      <vt:lpstr>Case Study - DeepSeek-R1 Distillation</vt:lpstr>
      <vt:lpstr>Black-Box &amp; API-Based Distillation</vt:lpstr>
      <vt:lpstr>Loss Functions in Knowledge Distillation</vt:lpstr>
      <vt:lpstr>Literature Review - Key Works Summary</vt:lpstr>
      <vt:lpstr>Benefits, Challenges &amp; Limitations</vt:lpstr>
      <vt:lpstr>Future Research Directions</vt:lpstr>
      <vt:lpstr>Comprehensive Technique Comparison</vt:lpstr>
      <vt:lpstr>C O N C L U S I O 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Distillation Techniques for LLMs</dc:title>
  <dc:subject>PptxGenJS Presentation</dc:subject>
  <dc:creator>PptxGenJS</dc:creator>
  <cp:lastModifiedBy>FERHAT K. 200316040</cp:lastModifiedBy>
  <cp:revision>1</cp:revision>
  <dcterms:created xsi:type="dcterms:W3CDTF">2026-05-15T06:01:44Z</dcterms:created>
  <dcterms:modified xsi:type="dcterms:W3CDTF">2026-05-17T12:47:31Z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2026-05-15T00:00:00Z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24.2</vt:lpwstr>
  </property>
  <property fmtid="{D5CDD505-2E9C-101B-9397-08002B2CF9AE}" pid="6" name="LastSaved">
    <vt:filetime>2026-05-15T00:00:00Z</vt:filetime>
  </property>
</Properties>
</file>